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6"/>
  </p:notesMasterIdLst>
  <p:handoutMasterIdLst>
    <p:handoutMasterId r:id="rId7"/>
  </p:handoutMasterIdLst>
  <p:sldIdLst>
    <p:sldId id="256" r:id="rId5"/>
  </p:sldIdLst>
  <p:sldSz cx="43891200" cy="32918400"/>
  <p:notesSz cx="9296400" cy="7010400"/>
  <p:defaultTextStyle>
    <a:defPPr>
      <a:defRPr lang="en-US"/>
    </a:defPPr>
    <a:lvl1pPr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1pPr>
    <a:lvl2pPr marL="4572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2pPr>
    <a:lvl3pPr marL="9144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3pPr>
    <a:lvl4pPr marL="13716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4pPr>
    <a:lvl5pPr marL="18288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5pPr>
    <a:lvl6pPr marL="2286000" algn="l" defTabSz="914400" rtl="0" eaLnBrk="1" latinLnBrk="0" hangingPunct="1">
      <a:defRPr sz="5400" b="1" kern="1200">
        <a:solidFill>
          <a:schemeClr val="tx1"/>
        </a:solidFill>
        <a:latin typeface="Times New Roman" pitchFamily="18" charset="0"/>
        <a:ea typeface="+mn-ea"/>
        <a:cs typeface="+mn-cs"/>
      </a:defRPr>
    </a:lvl6pPr>
    <a:lvl7pPr marL="2743200" algn="l" defTabSz="914400" rtl="0" eaLnBrk="1" latinLnBrk="0" hangingPunct="1">
      <a:defRPr sz="5400" b="1" kern="1200">
        <a:solidFill>
          <a:schemeClr val="tx1"/>
        </a:solidFill>
        <a:latin typeface="Times New Roman" pitchFamily="18" charset="0"/>
        <a:ea typeface="+mn-ea"/>
        <a:cs typeface="+mn-cs"/>
      </a:defRPr>
    </a:lvl7pPr>
    <a:lvl8pPr marL="3200400" algn="l" defTabSz="914400" rtl="0" eaLnBrk="1" latinLnBrk="0" hangingPunct="1">
      <a:defRPr sz="5400" b="1" kern="1200">
        <a:solidFill>
          <a:schemeClr val="tx1"/>
        </a:solidFill>
        <a:latin typeface="Times New Roman" pitchFamily="18" charset="0"/>
        <a:ea typeface="+mn-ea"/>
        <a:cs typeface="+mn-cs"/>
      </a:defRPr>
    </a:lvl8pPr>
    <a:lvl9pPr marL="3657600" algn="l" defTabSz="914400" rtl="0" eaLnBrk="1" latinLnBrk="0" hangingPunct="1">
      <a:defRPr sz="54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3888">
          <p15:clr>
            <a:srgbClr val="A4A3A4"/>
          </p15:clr>
        </p15:guide>
        <p15:guide id="2" pos="1387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0536C2D-8877-F9C6-5A75-EFF0BBF5DCAD}" name="Lauren Matheny" initials="LM" userId="S::lmathen1@kennesaw.edu::2d8532c9-1721-443d-8685-b20706d5becd" providerId="AD"/>
  <p188:author id="{60436F5A-93E6-DE68-33E8-DE6A0C2D90F8}" name="Andy Lewis" initials="AL" userId="S::alewi240@students.kennesaw.edu::2870392d-809e-40ef-a133-06dfff2bcc93" providerId="AD"/>
  <p188:author id="{41E481AC-610B-D6A0-B72F-EE74DBAC2C92}" name="Amanda Giddings" initials="AG" userId="S::agidding@kennesaw.edu::697b275a-923c-4cb7-9b25-628991ebde8d" providerId="AD"/>
  <p188:author id="{430B72E7-9E53-4A62-5E92-8097EA0E7DBD}" name="An Truong" initials="" userId="S::ntruong6@students.kennesaw.edu::2ac3cafc-59b0-4a22-a1c0-c252711fba3f" providerId="AD"/>
  <p188:author id="{51064CED-7427-418A-FC1F-F3F4BA671198}" name="Amanda Giddings" initials="AG" userId="c6c6568466513696"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manda Nicole Ferguson" initials="ANF" lastIdx="8" clrIdx="0"/>
  <p:cmAuthor id="2" name="Abigail King" initials="AK"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D977"/>
    <a:srgbClr val="F0F0F0"/>
    <a:srgbClr val="6EC1E4"/>
    <a:srgbClr val="FEDD00"/>
    <a:srgbClr val="D60093"/>
    <a:srgbClr val="F5CB2E"/>
    <a:srgbClr val="E3B32B"/>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12" autoAdjust="0"/>
    <p:restoredTop sz="96327" autoAdjust="0"/>
  </p:normalViewPr>
  <p:slideViewPr>
    <p:cSldViewPr snapToGrid="0">
      <p:cViewPr>
        <p:scale>
          <a:sx n="30" d="100"/>
          <a:sy n="30" d="100"/>
        </p:scale>
        <p:origin x="-397541" y="-401880"/>
      </p:cViewPr>
      <p:guideLst>
        <p:guide orient="horz" pos="3888"/>
        <p:guide pos="138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Giddings" userId="c6c6568466513696" providerId="LiveId" clId="{B591E657-6832-4993-A639-1B098FB62D86}"/>
    <pc:docChg chg="modSld">
      <pc:chgData name="Amanda Giddings" userId="c6c6568466513696" providerId="LiveId" clId="{B591E657-6832-4993-A639-1B098FB62D86}" dt="2025-11-20T03:24:34.121" v="0" actId="1037"/>
      <pc:docMkLst>
        <pc:docMk/>
      </pc:docMkLst>
      <pc:sldChg chg="modSp mod">
        <pc:chgData name="Amanda Giddings" userId="c6c6568466513696" providerId="LiveId" clId="{B591E657-6832-4993-A639-1B098FB62D86}" dt="2025-11-20T03:24:34.121" v="0" actId="1037"/>
        <pc:sldMkLst>
          <pc:docMk/>
          <pc:sldMk cId="0" sldId="256"/>
        </pc:sldMkLst>
        <pc:spChg chg="mod">
          <ac:chgData name="Amanda Giddings" userId="c6c6568466513696" providerId="LiveId" clId="{B591E657-6832-4993-A639-1B098FB62D86}" dt="2025-11-20T03:24:34.121" v="0" actId="1037"/>
          <ac:spMkLst>
            <pc:docMk/>
            <pc:sldMk cId="0" sldId="256"/>
            <ac:spMk id="1033" creationId="{00000000-0000-0000-0000-000000000000}"/>
          </ac:spMkLst>
        </pc:spChg>
      </pc:sldChg>
    </pc:docChg>
  </pc:docChgLst>
</pc:chgInfo>
</file>

<file path=ppt/comments/modernComment_100_0.xml><?xml version="1.0" encoding="utf-8"?>
<p188:cmLst xmlns:a="http://schemas.openxmlformats.org/drawingml/2006/main" xmlns:r="http://schemas.openxmlformats.org/officeDocument/2006/relationships" xmlns:p188="http://schemas.microsoft.com/office/powerpoint/2018/8/main">
  <p188:cm id="{C3E5058B-C11E-4FC8-B9B7-AC7F35ADF248}" authorId="{F0536C2D-8877-F9C6-5A75-EFF0BBF5DCAD}" status="resolved" created="2025-11-07T19:39:20.039" complete="100000">
    <ac:txMkLst xmlns:ac="http://schemas.microsoft.com/office/drawing/2013/main/command">
      <pc:docMk xmlns:pc="http://schemas.microsoft.com/office/powerpoint/2013/main/command"/>
      <pc:sldMk xmlns:pc="http://schemas.microsoft.com/office/powerpoint/2013/main/command" cId="0" sldId="256"/>
      <ac:spMk id="1027" creationId="{00000000-0000-0000-0000-000000000000}"/>
      <ac:txMk cp="8" len="18">
        <ac:context len="41" hash="3122658472"/>
      </ac:txMk>
    </ac:txMkLst>
    <p188:pos x="6674600" y="936255"/>
    <p188:txBody>
      <a:bodyPr/>
      <a:lstStyle/>
      <a:p>
        <a:r>
          <a:rPr lang="en-US"/>
          <a:t>Please add my first name ☺️</a:t>
        </a:r>
      </a:p>
    </p188:txBody>
    <p188:extLst>
      <p:ext xmlns:p="http://schemas.openxmlformats.org/presentationml/2006/main" uri="{57CB4572-C831-44C2-8A1C-0ADB6CCDFE69}">
        <p223:reactions xmlns:p223="http://schemas.microsoft.com/office/powerpoint/2022/03/main">
          <p223:rxn type="👍">
            <p223:instance time="2025-11-08T20:12:32.210" authorId="{430B72E7-9E53-4A62-5E92-8097EA0E7DBD}"/>
          </p223:rxn>
        </p223:reactions>
      </p:ext>
    </p188:extLst>
  </p188:cm>
  <p188:cm id="{FEE083B4-EFC2-48D0-B2FE-7960D4D12080}" authorId="{F0536C2D-8877-F9C6-5A75-EFF0BBF5DCAD}" created="2025-11-07T19:39:41.085">
    <ac:txMkLst xmlns:ac="http://schemas.microsoft.com/office/drawing/2013/main/command">
      <pc:docMk xmlns:pc="http://schemas.microsoft.com/office/powerpoint/2013/main/command"/>
      <pc:sldMk xmlns:pc="http://schemas.microsoft.com/office/powerpoint/2013/main/command" cId="0" sldId="256"/>
      <ac:spMk id="48" creationId="{00000000-0000-0000-0000-000000000000}"/>
      <ac:txMk cp="0" len="348">
        <ac:context len="479" hash="3088376096"/>
      </ac:txMk>
    </ac:txMkLst>
    <p188:pos x="11269364" y="894312"/>
    <p188:txBody>
      <a:bodyPr/>
      <a:lstStyle/>
      <a:p>
        <a:r>
          <a:rPr lang="en-US"/>
          <a:t>Concise and good rationale.</a:t>
        </a:r>
      </a:p>
    </p188:txBody>
  </p188:cm>
  <p188:cm id="{96C555FD-C90B-4E58-A06C-D7E697F0B0BF}" authorId="{F0536C2D-8877-F9C6-5A75-EFF0BBF5DCAD}" status="resolved" created="2025-11-07T19:39:59.742" complete="100000">
    <ac:txMkLst xmlns:ac="http://schemas.microsoft.com/office/drawing/2013/main/command">
      <pc:docMk xmlns:pc="http://schemas.microsoft.com/office/powerpoint/2013/main/command"/>
      <pc:sldMk xmlns:pc="http://schemas.microsoft.com/office/powerpoint/2013/main/command" cId="0" sldId="256"/>
      <ac:spMk id="28" creationId="{00000000-0000-0000-0000-000000000000}"/>
      <ac:txMk cp="170" len="118">
        <ac:context len="1777" hash="3580909694"/>
      </ac:txMk>
    </ac:txMkLst>
    <p188:pos x="9573413" y="1993521"/>
    <p188:txBody>
      <a:bodyPr/>
      <a:lstStyle/>
      <a:p>
        <a:r>
          <a:rPr lang="en-US"/>
          <a:t>Spell out at first instance on in-text citation</a:t>
        </a:r>
      </a:p>
    </p188:txBody>
  </p188:cm>
  <p188:cm id="{5F2CCA8D-1CC5-4ECE-A525-069A1E3CBEF4}" authorId="{F0536C2D-8877-F9C6-5A75-EFF0BBF5DCAD}" created="2025-11-07T19:41:09.606">
    <ac:txMkLst xmlns:ac="http://schemas.microsoft.com/office/drawing/2013/main/command">
      <pc:docMk xmlns:pc="http://schemas.microsoft.com/office/powerpoint/2013/main/command"/>
      <pc:sldMk xmlns:pc="http://schemas.microsoft.com/office/powerpoint/2013/main/command" cId="0" sldId="256"/>
      <ac:spMk id="28" creationId="{00000000-0000-0000-0000-000000000000}"/>
      <ac:txMk cp="898" len="35">
        <ac:context len="1777" hash="3580909694"/>
      </ac:txMk>
    </ac:txMkLst>
    <p188:pos x="7041228" y="8851521"/>
    <p188:txBody>
      <a:bodyPr/>
      <a:lstStyle/>
      <a:p>
        <a:r>
          <a:rPr lang="en-US"/>
          <a:t>Were descriptives performed?</a:t>
        </a:r>
      </a:p>
    </p188:txBody>
  </p188:cm>
  <p188:cm id="{73FCB66A-872C-47F3-B78F-9DF2B44DCBAC}" authorId="{F0536C2D-8877-F9C6-5A75-EFF0BBF5DCAD}" created="2025-11-07T19:41:48.168">
    <ac:deMkLst xmlns:ac="http://schemas.microsoft.com/office/drawing/2013/main/command">
      <pc:docMk xmlns:pc="http://schemas.microsoft.com/office/powerpoint/2013/main/command"/>
      <pc:sldMk xmlns:pc="http://schemas.microsoft.com/office/powerpoint/2013/main/command" cId="0" sldId="256"/>
      <ac:picMk id="34" creationId="{F7DF7E0F-3E5E-BB7F-3523-D13B830169BA}"/>
    </ac:deMkLst>
    <p188:txBody>
      <a:bodyPr/>
      <a:lstStyle/>
      <a:p>
        <a:r>
          <a:rPr lang="en-US"/>
          <a:t>The font is WAY too small on these figures. </a:t>
        </a:r>
      </a:p>
    </p188:txBody>
  </p188:cm>
  <p188:cm id="{19DFC0B4-1476-4AFA-8DE2-FFB68961EB8B}" authorId="{F0536C2D-8877-F9C6-5A75-EFF0BBF5DCAD}" created="2025-11-07T19:42:11.601">
    <ac:deMkLst xmlns:ac="http://schemas.microsoft.com/office/drawing/2013/main/command">
      <pc:docMk xmlns:pc="http://schemas.microsoft.com/office/powerpoint/2013/main/command"/>
      <pc:sldMk xmlns:pc="http://schemas.microsoft.com/office/powerpoint/2013/main/command" cId="0" sldId="256"/>
      <ac:picMk id="39" creationId="{8DB00491-A807-57EB-95EE-E65094B4F2B4}"/>
    </ac:deMkLst>
    <p188:replyLst>
      <p188:reply id="{11704AD5-FECA-4803-9479-1E8FC88B1A03}" authorId="{430B72E7-9E53-4A62-5E92-8097EA0E7DBD}" created="2025-11-09T13:33:19.328">
        <p188:txBody>
          <a:bodyPr/>
          <a:lstStyle/>
          <a:p>
            <a:r>
              <a:rPr lang="en-US"/>
              <a:t>Figure 5 provides unstandardized coefficient. I changed the visual plot to get better font size, but information remains the same. </a:t>
            </a:r>
          </a:p>
        </p188:txBody>
      </p188:reply>
    </p188:replyLst>
    <p188:txBody>
      <a:bodyPr/>
      <a:lstStyle/>
      <a:p>
        <a:r>
          <a:rPr lang="en-US"/>
          <a:t>Are these standardized coefficients? I can barely read this. The font is tiny.</a:t>
        </a:r>
      </a:p>
    </p188:txBody>
  </p188:cm>
  <p188:cm id="{4623FF86-0269-468C-8F78-0B0A161BDBA2}" authorId="{F0536C2D-8877-F9C6-5A75-EFF0BBF5DCAD}" status="resolved" created="2025-11-07T19:43:20.668" complete="100000">
    <ac:txMkLst xmlns:ac="http://schemas.microsoft.com/office/drawing/2013/main/command">
      <pc:docMk xmlns:pc="http://schemas.microsoft.com/office/powerpoint/2013/main/command"/>
      <pc:sldMk xmlns:pc="http://schemas.microsoft.com/office/powerpoint/2013/main/command" cId="0" sldId="256"/>
      <ac:spMk id="27" creationId="{00000000-0000-0000-0000-000000000000}"/>
      <ac:txMk cp="0" len="1">
        <ac:context len="8" hash="546558143"/>
      </ac:txMk>
    </ac:txMkLst>
    <p188:pos x="7543075" y="723725"/>
    <p188:txBody>
      <a:bodyPr/>
      <a:lstStyle/>
      <a:p>
        <a:r>
          <a:rPr lang="en-US"/>
          <a:t>This should be results!</a:t>
        </a:r>
      </a:p>
    </p188:txBody>
  </p188:cm>
  <p188:cm id="{B9138FA7-4C66-4B4D-A562-D138B0FEA8E1}" authorId="{F0536C2D-8877-F9C6-5A75-EFF0BBF5DCAD}" status="resolved" created="2025-11-07T19:43:38.301" complete="100000">
    <ac:txMkLst xmlns:ac="http://schemas.microsoft.com/office/drawing/2013/main/command">
      <pc:docMk xmlns:pc="http://schemas.microsoft.com/office/powerpoint/2013/main/command"/>
      <pc:sldMk xmlns:pc="http://schemas.microsoft.com/office/powerpoint/2013/main/command" cId="0" sldId="256"/>
      <ac:spMk id="15" creationId="{8D871874-F27F-C06F-940E-05FB6E934735}"/>
      <ac:txMk cp="0" len="11">
        <ac:context len="12" hash="162981562"/>
      </ac:txMk>
    </ac:txMkLst>
    <p188:pos x="7584835" y="728714"/>
    <p188:txBody>
      <a:bodyPr/>
      <a:lstStyle/>
      <a:p>
        <a:r>
          <a:rPr lang="en-US"/>
          <a:t>This comes after results. Shorten this up a bit.</a:t>
        </a:r>
      </a:p>
    </p188:txBody>
  </p188:cm>
  <p188:cm id="{383B07EE-07EA-4663-822B-6AD64CA067DC}" authorId="{F0536C2D-8877-F9C6-5A75-EFF0BBF5DCAD}" status="resolved" created="2025-11-07T19:44:09.868" complete="100000">
    <ac:txMkLst xmlns:ac="http://schemas.microsoft.com/office/drawing/2013/main/command">
      <pc:docMk xmlns:pc="http://schemas.microsoft.com/office/powerpoint/2013/main/command"/>
      <pc:sldMk xmlns:pc="http://schemas.microsoft.com/office/powerpoint/2013/main/command" cId="0" sldId="256"/>
      <ac:spMk id="3" creationId="{94C35C99-C9FE-321A-227D-BA517D3A8906}"/>
      <ac:txMk cp="0" len="523">
        <ac:context len="638" hash="2584056136"/>
      </ac:txMk>
    </ac:txMkLst>
    <p188:pos x="10937636" y="12615949"/>
    <p188:txBody>
      <a:bodyPr/>
      <a:lstStyle/>
      <a:p>
        <a:r>
          <a:rPr lang="en-US"/>
          <a:t>This is your conclusion. Need to add a sentence in that relates back to your original hypothesis,</a:t>
        </a:r>
      </a:p>
    </p188:txBody>
  </p188:cm>
  <p188:cm id="{20245DDF-4DA6-429E-91B0-E6DF64A287B9}" authorId="{F0536C2D-8877-F9C6-5A75-EFF0BBF5DCAD}" created="2025-11-07T19:44:21.414">
    <ac:deMkLst xmlns:ac="http://schemas.microsoft.com/office/drawing/2013/main/command">
      <pc:docMk xmlns:pc="http://schemas.microsoft.com/office/powerpoint/2013/main/command"/>
      <pc:sldMk xmlns:pc="http://schemas.microsoft.com/office/powerpoint/2013/main/command" cId="0" sldId="256"/>
      <ac:picMk id="21" creationId="{7572D9C8-1BF6-C515-3A0D-CAF16AC3766F}"/>
    </ac:deMkLst>
    <p188:txBody>
      <a:bodyPr/>
      <a:lstStyle/>
      <a:p>
        <a:r>
          <a:rPr lang="en-US"/>
          <a:t>Cool figure!!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027488" cy="350838"/>
          </a:xfrm>
          <a:prstGeom prst="rect">
            <a:avLst/>
          </a:prstGeom>
          <a:noFill/>
          <a:ln w="9525">
            <a:noFill/>
            <a:miter lim="800000"/>
            <a:headEnd/>
            <a:tailEnd/>
          </a:ln>
          <a:effectLst/>
        </p:spPr>
        <p:txBody>
          <a:bodyPr vert="horz" wrap="square" lIns="93160" tIns="46580" rIns="93160" bIns="46580" numCol="1" anchor="t" anchorCtr="0" compatLnSpc="1">
            <a:prstTxWarp prst="textNoShape">
              <a:avLst/>
            </a:prstTxWarp>
          </a:bodyPr>
          <a:lstStyle>
            <a:lvl1pPr algn="l" defTabSz="931696">
              <a:lnSpc>
                <a:spcPct val="100000"/>
              </a:lnSpc>
              <a:spcBef>
                <a:spcPct val="0"/>
              </a:spcBef>
              <a:defRPr sz="1200" b="0"/>
            </a:lvl1pPr>
          </a:lstStyle>
          <a:p>
            <a:pPr>
              <a:defRPr/>
            </a:pPr>
            <a:endParaRPr lang="en-US"/>
          </a:p>
        </p:txBody>
      </p:sp>
      <p:sp>
        <p:nvSpPr>
          <p:cNvPr id="4099" name="Rectangle 3"/>
          <p:cNvSpPr>
            <a:spLocks noGrp="1" noChangeArrowheads="1"/>
          </p:cNvSpPr>
          <p:nvPr>
            <p:ph type="dt" sz="quarter" idx="1"/>
          </p:nvPr>
        </p:nvSpPr>
        <p:spPr bwMode="auto">
          <a:xfrm>
            <a:off x="5268913" y="0"/>
            <a:ext cx="4027487" cy="350838"/>
          </a:xfrm>
          <a:prstGeom prst="rect">
            <a:avLst/>
          </a:prstGeom>
          <a:noFill/>
          <a:ln w="9525">
            <a:noFill/>
            <a:miter lim="800000"/>
            <a:headEnd/>
            <a:tailEnd/>
          </a:ln>
          <a:effectLst/>
        </p:spPr>
        <p:txBody>
          <a:bodyPr vert="horz" wrap="square" lIns="93160" tIns="46580" rIns="93160" bIns="46580" numCol="1" anchor="t" anchorCtr="0" compatLnSpc="1">
            <a:prstTxWarp prst="textNoShape">
              <a:avLst/>
            </a:prstTxWarp>
          </a:bodyPr>
          <a:lstStyle>
            <a:lvl1pPr algn="r" defTabSz="931696">
              <a:lnSpc>
                <a:spcPct val="100000"/>
              </a:lnSpc>
              <a:spcBef>
                <a:spcPct val="0"/>
              </a:spcBef>
              <a:defRPr sz="1200" b="0"/>
            </a:lvl1pPr>
          </a:lstStyle>
          <a:p>
            <a:pPr>
              <a:defRPr/>
            </a:pPr>
            <a:endParaRPr lang="en-US"/>
          </a:p>
        </p:txBody>
      </p:sp>
      <p:sp>
        <p:nvSpPr>
          <p:cNvPr id="4100" name="Rectangle 4"/>
          <p:cNvSpPr>
            <a:spLocks noGrp="1" noChangeArrowheads="1"/>
          </p:cNvSpPr>
          <p:nvPr>
            <p:ph type="ftr" sz="quarter" idx="2"/>
          </p:nvPr>
        </p:nvSpPr>
        <p:spPr bwMode="auto">
          <a:xfrm>
            <a:off x="0" y="6659563"/>
            <a:ext cx="4027488" cy="350837"/>
          </a:xfrm>
          <a:prstGeom prst="rect">
            <a:avLst/>
          </a:prstGeom>
          <a:noFill/>
          <a:ln w="9525">
            <a:noFill/>
            <a:miter lim="800000"/>
            <a:headEnd/>
            <a:tailEnd/>
          </a:ln>
          <a:effectLst/>
        </p:spPr>
        <p:txBody>
          <a:bodyPr vert="horz" wrap="square" lIns="93160" tIns="46580" rIns="93160" bIns="46580" numCol="1" anchor="b" anchorCtr="0" compatLnSpc="1">
            <a:prstTxWarp prst="textNoShape">
              <a:avLst/>
            </a:prstTxWarp>
          </a:bodyPr>
          <a:lstStyle>
            <a:lvl1pPr algn="l" defTabSz="931696">
              <a:lnSpc>
                <a:spcPct val="100000"/>
              </a:lnSpc>
              <a:spcBef>
                <a:spcPct val="0"/>
              </a:spcBef>
              <a:defRPr sz="1200" b="0"/>
            </a:lvl1pPr>
          </a:lstStyle>
          <a:p>
            <a:pPr>
              <a:defRPr/>
            </a:pPr>
            <a:endParaRPr lang="en-US"/>
          </a:p>
        </p:txBody>
      </p:sp>
      <p:sp>
        <p:nvSpPr>
          <p:cNvPr id="4101" name="Rectangle 5"/>
          <p:cNvSpPr>
            <a:spLocks noGrp="1" noChangeArrowheads="1"/>
          </p:cNvSpPr>
          <p:nvPr>
            <p:ph type="sldNum" sz="quarter" idx="3"/>
          </p:nvPr>
        </p:nvSpPr>
        <p:spPr bwMode="auto">
          <a:xfrm>
            <a:off x="5268913" y="6659563"/>
            <a:ext cx="4027487" cy="350837"/>
          </a:xfrm>
          <a:prstGeom prst="rect">
            <a:avLst/>
          </a:prstGeom>
          <a:noFill/>
          <a:ln w="9525">
            <a:noFill/>
            <a:miter lim="800000"/>
            <a:headEnd/>
            <a:tailEnd/>
          </a:ln>
          <a:effectLst/>
        </p:spPr>
        <p:txBody>
          <a:bodyPr vert="horz" wrap="square" lIns="93160" tIns="46580" rIns="93160" bIns="46580" numCol="1" anchor="b" anchorCtr="0" compatLnSpc="1">
            <a:prstTxWarp prst="textNoShape">
              <a:avLst/>
            </a:prstTxWarp>
          </a:bodyPr>
          <a:lstStyle>
            <a:lvl1pPr algn="r" defTabSz="931696">
              <a:lnSpc>
                <a:spcPct val="100000"/>
              </a:lnSpc>
              <a:spcBef>
                <a:spcPct val="0"/>
              </a:spcBef>
              <a:defRPr sz="1200" b="0"/>
            </a:lvl1pPr>
          </a:lstStyle>
          <a:p>
            <a:pPr>
              <a:defRPr/>
            </a:pPr>
            <a:fld id="{51BFBB92-9EAF-4A98-AC69-D6A49C72F0D0}" type="slidenum">
              <a:rPr lang="en-US"/>
              <a:pPr>
                <a:defRPr/>
              </a:pPr>
              <a:t>‹#›</a:t>
            </a:fld>
            <a:endParaRPr lang="en-US"/>
          </a:p>
        </p:txBody>
      </p:sp>
    </p:spTree>
    <p:extLst>
      <p:ext uri="{BB962C8B-B14F-4D97-AF65-F5344CB8AC3E}">
        <p14:creationId xmlns:p14="http://schemas.microsoft.com/office/powerpoint/2010/main" val="38683431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7488" cy="350838"/>
          </a:xfrm>
          <a:prstGeom prst="rect">
            <a:avLst/>
          </a:prstGeom>
        </p:spPr>
        <p:txBody>
          <a:bodyPr vert="horz" lIns="20062" tIns="10031" rIns="20062" bIns="10031" rtlCol="0"/>
          <a:lstStyle>
            <a:lvl1pPr algn="l">
              <a:defRPr sz="300"/>
            </a:lvl1pPr>
          </a:lstStyle>
          <a:p>
            <a:pPr>
              <a:defRPr/>
            </a:pPr>
            <a:endParaRPr lang="en-US"/>
          </a:p>
        </p:txBody>
      </p:sp>
      <p:sp>
        <p:nvSpPr>
          <p:cNvPr id="3" name="Date Placeholder 2"/>
          <p:cNvSpPr>
            <a:spLocks noGrp="1"/>
          </p:cNvSpPr>
          <p:nvPr>
            <p:ph type="dt" idx="1"/>
          </p:nvPr>
        </p:nvSpPr>
        <p:spPr>
          <a:xfrm>
            <a:off x="5265738" y="0"/>
            <a:ext cx="4027487" cy="350838"/>
          </a:xfrm>
          <a:prstGeom prst="rect">
            <a:avLst/>
          </a:prstGeom>
        </p:spPr>
        <p:txBody>
          <a:bodyPr vert="horz" lIns="20062" tIns="10031" rIns="20062" bIns="10031" rtlCol="0"/>
          <a:lstStyle>
            <a:lvl1pPr algn="r">
              <a:defRPr sz="300"/>
            </a:lvl1pPr>
          </a:lstStyle>
          <a:p>
            <a:pPr>
              <a:defRPr/>
            </a:pPr>
            <a:fld id="{5CC69237-968C-4809-BBBD-9304D521757D}" type="datetimeFigureOut">
              <a:rPr lang="en-US"/>
              <a:pPr>
                <a:defRPr/>
              </a:pPr>
              <a:t>11/19/2025</a:t>
            </a:fld>
            <a:endParaRPr lang="en-US"/>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20062" tIns="10031" rIns="20062" bIns="10031" rtlCol="0" anchor="ctr"/>
          <a:lstStyle/>
          <a:p>
            <a:pPr lvl="0"/>
            <a:endParaRPr lang="en-US" noProof="0"/>
          </a:p>
        </p:txBody>
      </p:sp>
      <p:sp>
        <p:nvSpPr>
          <p:cNvPr id="5" name="Notes Placeholder 4"/>
          <p:cNvSpPr>
            <a:spLocks noGrp="1"/>
          </p:cNvSpPr>
          <p:nvPr>
            <p:ph type="body" sz="quarter" idx="3"/>
          </p:nvPr>
        </p:nvSpPr>
        <p:spPr>
          <a:xfrm>
            <a:off x="930275" y="3328988"/>
            <a:ext cx="7435850" cy="3155950"/>
          </a:xfrm>
          <a:prstGeom prst="rect">
            <a:avLst/>
          </a:prstGeom>
        </p:spPr>
        <p:txBody>
          <a:bodyPr vert="horz" lIns="20062" tIns="10031" rIns="20062" bIns="100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659563"/>
            <a:ext cx="4027488" cy="349250"/>
          </a:xfrm>
          <a:prstGeom prst="rect">
            <a:avLst/>
          </a:prstGeom>
        </p:spPr>
        <p:txBody>
          <a:bodyPr vert="horz" lIns="20062" tIns="10031" rIns="20062" bIns="10031" rtlCol="0" anchor="b"/>
          <a:lstStyle>
            <a:lvl1pPr algn="l">
              <a:defRPr sz="300"/>
            </a:lvl1pPr>
          </a:lstStyle>
          <a:p>
            <a:pPr>
              <a:defRPr/>
            </a:pPr>
            <a:endParaRPr lang="en-US"/>
          </a:p>
        </p:txBody>
      </p:sp>
      <p:sp>
        <p:nvSpPr>
          <p:cNvPr id="7" name="Slide Number Placeholder 6"/>
          <p:cNvSpPr>
            <a:spLocks noGrp="1"/>
          </p:cNvSpPr>
          <p:nvPr>
            <p:ph type="sldNum" sz="quarter" idx="5"/>
          </p:nvPr>
        </p:nvSpPr>
        <p:spPr>
          <a:xfrm>
            <a:off x="5265738" y="6659563"/>
            <a:ext cx="4027487" cy="349250"/>
          </a:xfrm>
          <a:prstGeom prst="rect">
            <a:avLst/>
          </a:prstGeom>
        </p:spPr>
        <p:txBody>
          <a:bodyPr vert="horz" lIns="20062" tIns="10031" rIns="20062" bIns="10031" rtlCol="0" anchor="b"/>
          <a:lstStyle>
            <a:lvl1pPr algn="r">
              <a:defRPr sz="300"/>
            </a:lvl1pPr>
          </a:lstStyle>
          <a:p>
            <a:pPr>
              <a:defRPr/>
            </a:pPr>
            <a:fld id="{B4C89677-0636-4F7D-8E45-6997A3D61870}" type="slidenum">
              <a:rPr lang="en-US"/>
              <a:pPr>
                <a:defRPr/>
              </a:pPr>
              <a:t>‹#›</a:t>
            </a:fld>
            <a:endParaRPr lang="en-US"/>
          </a:p>
        </p:txBody>
      </p:sp>
    </p:spTree>
    <p:extLst>
      <p:ext uri="{BB962C8B-B14F-4D97-AF65-F5344CB8AC3E}">
        <p14:creationId xmlns:p14="http://schemas.microsoft.com/office/powerpoint/2010/main" val="2538732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409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normAutofit fontScale="47500" lnSpcReduction="20000"/>
          </a:bodyPr>
          <a:lstStyle/>
          <a:p>
            <a:pPr algn="l">
              <a:lnSpc>
                <a:spcPct val="100000"/>
              </a:lnSpc>
              <a:spcBef>
                <a:spcPts val="0"/>
              </a:spcBef>
            </a:pPr>
            <a:r>
              <a:rPr lang="en-US" sz="1200" b="0">
                <a:latin typeface="Times New Roman"/>
                <a:cs typeface="Times New Roman"/>
              </a:rPr>
              <a:t>We first gathered our data from a few different sources, primarily from the national weather thing and from the national farm thing. These two sites provided us with several different datasets. We began with:</a:t>
            </a:r>
            <a:endParaRPr lang="en-US" sz="1200" u="sng">
              <a:latin typeface="Times New Roman"/>
              <a:cs typeface="Times New Roman"/>
            </a:endParaRPr>
          </a:p>
          <a:p>
            <a:pPr marL="457200" indent="-457200" algn="l">
              <a:lnSpc>
                <a:spcPct val="100000"/>
              </a:lnSpc>
              <a:spcBef>
                <a:spcPts val="0"/>
              </a:spcBef>
              <a:buFont typeface="Arial"/>
              <a:buChar char="•"/>
            </a:pPr>
            <a:r>
              <a:rPr lang="en-US" sz="1200" b="0">
                <a:latin typeface="Times New Roman"/>
                <a:cs typeface="Times New Roman"/>
              </a:rPr>
              <a:t>17  variables</a:t>
            </a:r>
            <a:endParaRPr lang="en-US">
              <a:cs typeface="Times New Roman" pitchFamily="18" charset="0"/>
            </a:endParaRPr>
          </a:p>
          <a:p>
            <a:pPr marL="457200" indent="-457200" algn="l">
              <a:lnSpc>
                <a:spcPct val="100000"/>
              </a:lnSpc>
              <a:spcBef>
                <a:spcPts val="0"/>
              </a:spcBef>
              <a:buFont typeface="Arial"/>
              <a:buChar char="•"/>
            </a:pPr>
            <a:r>
              <a:rPr lang="en-US" sz="1200" b="0">
                <a:latin typeface="Times New Roman"/>
                <a:cs typeface="Times New Roman"/>
              </a:rPr>
              <a:t>1, 423 counties</a:t>
            </a:r>
          </a:p>
          <a:p>
            <a:pPr marL="457200" indent="-457200" algn="l">
              <a:lnSpc>
                <a:spcPct val="100000"/>
              </a:lnSpc>
              <a:spcBef>
                <a:spcPts val="0"/>
              </a:spcBef>
              <a:buFont typeface="Arial"/>
              <a:buChar char="•"/>
            </a:pPr>
            <a:r>
              <a:rPr lang="en-US" sz="1200" b="0">
                <a:latin typeface="Times New Roman"/>
                <a:cs typeface="Times New Roman"/>
              </a:rPr>
              <a:t>114 climate divisions</a:t>
            </a:r>
          </a:p>
          <a:p>
            <a:pPr algn="l">
              <a:lnSpc>
                <a:spcPct val="100000"/>
              </a:lnSpc>
              <a:spcBef>
                <a:spcPts val="0"/>
              </a:spcBef>
            </a:pPr>
            <a:r>
              <a:rPr lang="en-US" sz="1200" b="0">
                <a:latin typeface="Times New Roman"/>
                <a:cs typeface="Times New Roman"/>
              </a:rPr>
              <a:t>Each state had 3-9 climate divisions which acted as our ID level for our data</a:t>
            </a:r>
          </a:p>
          <a:p>
            <a:pPr eaLnBrk="1" hangingPunct="1">
              <a:spcBef>
                <a:spcPct val="0"/>
              </a:spcBef>
            </a:pPr>
            <a:endParaRPr lang="en-US"/>
          </a:p>
          <a:p>
            <a:pPr algn="l">
              <a:lnSpc>
                <a:spcPct val="100000"/>
              </a:lnSpc>
              <a:spcBef>
                <a:spcPts val="0"/>
              </a:spcBef>
            </a:pPr>
            <a:r>
              <a:rPr lang="en-US" sz="2800" b="0">
                <a:latin typeface="Times New Roman"/>
                <a:cs typeface="Times New Roman"/>
              </a:rPr>
              <a:t>We then ran our tests of regression and determined if we had any significant outliers in our production specifically– and we did have 8 that we determined were influential and then removed. From there, we ended up transforming our data to test whether our tests were significant.</a:t>
            </a:r>
          </a:p>
          <a:p>
            <a:pPr marL="457200" indent="-457200" algn="l">
              <a:lnSpc>
                <a:spcPct val="100000"/>
              </a:lnSpc>
              <a:spcBef>
                <a:spcPts val="0"/>
              </a:spcBef>
              <a:buFont typeface="Arial"/>
              <a:buChar char="•"/>
            </a:pPr>
            <a:r>
              <a:rPr lang="en-US" sz="2800" b="0">
                <a:latin typeface="Times New Roman"/>
                <a:cs typeface="Times New Roman"/>
              </a:rPr>
              <a:t>5 different linear models</a:t>
            </a:r>
          </a:p>
          <a:p>
            <a:pPr marL="914400" lvl="1" indent="-457200" algn="l">
              <a:lnSpc>
                <a:spcPct val="100000"/>
              </a:lnSpc>
              <a:spcBef>
                <a:spcPts val="0"/>
              </a:spcBef>
              <a:buFont typeface="Courier New"/>
              <a:buChar char="o"/>
            </a:pPr>
            <a:r>
              <a:rPr lang="en-US" sz="2800" b="0">
                <a:latin typeface="Times New Roman"/>
                <a:cs typeface="Times New Roman"/>
              </a:rPr>
              <a:t>List of types</a:t>
            </a:r>
          </a:p>
          <a:p>
            <a:pPr marL="457200" indent="-457200" algn="l">
              <a:lnSpc>
                <a:spcPct val="100000"/>
              </a:lnSpc>
              <a:spcBef>
                <a:spcPts val="0"/>
              </a:spcBef>
              <a:buFont typeface="Arial"/>
              <a:buChar char="•"/>
            </a:pPr>
            <a:r>
              <a:rPr lang="en-US" sz="2800" b="0">
                <a:latin typeface="Times New Roman"/>
                <a:cs typeface="Times New Roman"/>
              </a:rPr>
              <a:t>4 BP tests for each independent variable used for our final analysis</a:t>
            </a:r>
          </a:p>
          <a:p>
            <a:pPr marL="457200" indent="-457200" algn="l">
              <a:lnSpc>
                <a:spcPct val="100000"/>
              </a:lnSpc>
              <a:spcBef>
                <a:spcPts val="0"/>
              </a:spcBef>
              <a:buFont typeface="Arial"/>
              <a:buChar char="•"/>
            </a:pPr>
            <a:r>
              <a:rPr lang="en-US" sz="2800" b="0" err="1">
                <a:latin typeface="Times New Roman"/>
                <a:cs typeface="Times New Roman"/>
              </a:rPr>
              <a:t>clubSandwich</a:t>
            </a:r>
            <a:r>
              <a:rPr lang="en-US" sz="2800" b="0">
                <a:latin typeface="Times New Roman"/>
                <a:cs typeface="Times New Roman"/>
              </a:rPr>
              <a:t> package for clustering</a:t>
            </a:r>
          </a:p>
          <a:p>
            <a:pPr eaLnBrk="1" hangingPunct="1">
              <a:spcBef>
                <a:spcPct val="0"/>
              </a:spcBef>
            </a:pPr>
            <a:endParaRPr lang="en-US"/>
          </a:p>
          <a:p>
            <a:pPr eaLnBrk="1" hangingPunct="1">
              <a:spcBef>
                <a:spcPct val="0"/>
              </a:spcBef>
            </a:pPr>
            <a:endParaRPr lang="en-US"/>
          </a:p>
          <a:p>
            <a:pPr algn="l">
              <a:lnSpc>
                <a:spcPct val="100000"/>
              </a:lnSpc>
              <a:spcBef>
                <a:spcPts val="0"/>
              </a:spcBef>
            </a:pPr>
            <a:r>
              <a:rPr lang="en-US" sz="1200" b="0">
                <a:latin typeface="Times New Roman"/>
                <a:cs typeface="Times New Roman"/>
              </a:rPr>
              <a:t>For our data, we were working with more limited knowledge than some of our peers. We were not able to determine whether there was a relationship between our corn yield and time – as that bleeds into more longitudinal analyses than just regression. There was also an extensive amount of work that we had to do to make our data work as well. It was difficult determining what would be best for the corn dataset and determining which factors may be the most influential. Our initial plan was to </a:t>
            </a:r>
            <a:endParaRPr lang="en-US" sz="1200">
              <a:cs typeface="Times New Roman" pitchFamily="18" charset="0"/>
            </a:endParaRPr>
          </a:p>
          <a:p>
            <a:pPr algn="l">
              <a:lnSpc>
                <a:spcPct val="100000"/>
              </a:lnSpc>
              <a:spcBef>
                <a:spcPts val="0"/>
              </a:spcBef>
            </a:pPr>
            <a:r>
              <a:rPr lang="en-US" sz="1200" b="0">
                <a:latin typeface="Times New Roman"/>
                <a:cs typeface="Times New Roman"/>
              </a:rPr>
              <a:t>There were plenty of factors that may have played into the issues that we had in our model but more importantly were two items: 1) time and 2) lack of reporting of corn production at the county level. We found that some counties were not as open with their data as other and therefore it made our calculations more difficult/ Due to this, we did find some skews that would occur in our raw data such as in Figure 3 and that led to needing further correction later. </a:t>
            </a:r>
            <a:endParaRPr lang="en-US" sz="1200" b="0">
              <a:cs typeface="Times New Roman"/>
            </a:endParaRPr>
          </a:p>
          <a:p>
            <a:pPr eaLnBrk="1" hangingPunct="1">
              <a:spcBef>
                <a:spcPct val="0"/>
              </a:spcBef>
            </a:pPr>
            <a:endParaRPr lang="en-US"/>
          </a:p>
          <a:p>
            <a:pPr eaLnBrk="1" hangingPunct="1">
              <a:spcBef>
                <a:spcPct val="0"/>
              </a:spcBef>
            </a:pPr>
            <a:endParaRPr lang="en-US"/>
          </a:p>
          <a:p>
            <a:pPr marL="457200" indent="-457200" algn="l">
              <a:lnSpc>
                <a:spcPct val="100000"/>
              </a:lnSpc>
              <a:spcBef>
                <a:spcPts val="0"/>
              </a:spcBef>
              <a:spcAft>
                <a:spcPts val="600"/>
              </a:spcAft>
              <a:buSzPct val="70000"/>
              <a:buFont typeface="Wingdings" panose="05000000000000000000" pitchFamily="2" charset="2"/>
              <a:buChar char="q"/>
            </a:pPr>
            <a:r>
              <a:rPr lang="en-US" sz="1200" b="0">
                <a:latin typeface="Times New Roman"/>
                <a:cs typeface="Times New Roman"/>
              </a:rPr>
              <a:t>The implemented </a:t>
            </a:r>
            <a:r>
              <a:rPr lang="en-US" sz="1200" b="0" err="1">
                <a:latin typeface="Times New Roman"/>
                <a:cs typeface="Times New Roman"/>
              </a:rPr>
              <a:t>clubSandwich</a:t>
            </a:r>
            <a:r>
              <a:rPr lang="en-US" sz="1200" b="0">
                <a:latin typeface="Times New Roman"/>
                <a:cs typeface="Times New Roman"/>
              </a:rPr>
              <a:t> CR2 estimator provides reasonable bias-reduced cluster-robust variance estimator suited for datasets with small number of clusters</a:t>
            </a:r>
          </a:p>
          <a:p>
            <a:pPr marL="457200" indent="-457200" algn="l">
              <a:lnSpc>
                <a:spcPct val="100000"/>
              </a:lnSpc>
              <a:spcBef>
                <a:spcPts val="0"/>
              </a:spcBef>
              <a:spcAft>
                <a:spcPts val="600"/>
              </a:spcAft>
              <a:buSzPct val="70000"/>
              <a:buFont typeface="Wingdings" panose="05000000000000000000" pitchFamily="2" charset="2"/>
              <a:buChar char="q"/>
            </a:pPr>
            <a:r>
              <a:rPr lang="en-US" sz="1200" b="0">
                <a:latin typeface="Times New Roman"/>
                <a:cs typeface="Times New Roman"/>
              </a:rPr>
              <a:t>In the future, it may be best to consider other crops instead of focusing on a singular one</a:t>
            </a:r>
          </a:p>
          <a:p>
            <a:pPr marL="457200" indent="-457200" algn="l">
              <a:lnSpc>
                <a:spcPct val="100000"/>
              </a:lnSpc>
              <a:spcBef>
                <a:spcPts val="0"/>
              </a:spcBef>
              <a:spcAft>
                <a:spcPts val="600"/>
              </a:spcAft>
              <a:buSzPct val="70000"/>
              <a:buFont typeface="Wingdings" panose="05000000000000000000" pitchFamily="2" charset="2"/>
              <a:buChar char="q"/>
            </a:pPr>
            <a:r>
              <a:rPr lang="en-US" sz="1200" b="0">
                <a:latin typeface="Times New Roman"/>
                <a:cs typeface="Times New Roman"/>
              </a:rPr>
              <a:t>This model could be utilized regionally for crops produced in a specific geographical area</a:t>
            </a:r>
          </a:p>
          <a:p>
            <a:pPr marL="457200" indent="-457200" algn="l">
              <a:lnSpc>
                <a:spcPct val="100000"/>
              </a:lnSpc>
              <a:spcBef>
                <a:spcPts val="0"/>
              </a:spcBef>
              <a:buSzPct val="70000"/>
              <a:buFont typeface="Wingdings" panose="05000000000000000000" pitchFamily="2" charset="2"/>
              <a:buChar char="q"/>
            </a:pPr>
            <a:r>
              <a:rPr lang="en-US" sz="1200" b="0">
                <a:latin typeface="Times New Roman"/>
                <a:cs typeface="Times New Roman"/>
              </a:rPr>
              <a:t>This analysis may be more beneficial if it could be run as a time series model to see whether the specific growing season is affected by these variables rather than the entire year</a:t>
            </a:r>
            <a:endParaRPr lang="en-US" sz="1200" b="0">
              <a:latin typeface="Arial" panose="020B0604020202020204" pitchFamily="34" charset="0"/>
              <a:cs typeface="Arial" panose="020B0604020202020204" pitchFamily="34" charset="0"/>
            </a:endParaRPr>
          </a:p>
          <a:p>
            <a:pPr eaLnBrk="1" hangingPunct="1">
              <a:spcBef>
                <a:spcPct val="0"/>
              </a:spcBef>
            </a:pPr>
            <a:endParaRPr lang="en-US"/>
          </a:p>
        </p:txBody>
      </p:sp>
      <p:sp>
        <p:nvSpPr>
          <p:cNvPr id="4100"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fld id="{7350F54E-324E-4420-A58C-1451A26E1E91}" type="slidenum">
              <a:rPr lang="en-US" sz="300" smtClean="0"/>
              <a:pPr/>
              <a:t>1</a:t>
            </a:fld>
            <a:endParaRPr lang="en-US" sz="300"/>
          </a:p>
        </p:txBody>
      </p:sp>
    </p:spTree>
    <p:extLst>
      <p:ext uri="{BB962C8B-B14F-4D97-AF65-F5344CB8AC3E}">
        <p14:creationId xmlns:p14="http://schemas.microsoft.com/office/powerpoint/2010/main" val="3565885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CE9746-3E67-4984-B2FE-1AF1BA16340E}" type="slidenum">
              <a:rPr lang="en-US"/>
              <a:pPr>
                <a:defRPr/>
              </a:pPr>
              <a:t>‹#›</a:t>
            </a:fld>
            <a:endParaRPr lang="en-US"/>
          </a:p>
        </p:txBody>
      </p:sp>
    </p:spTree>
    <p:extLst>
      <p:ext uri="{BB962C8B-B14F-4D97-AF65-F5344CB8AC3E}">
        <p14:creationId xmlns:p14="http://schemas.microsoft.com/office/powerpoint/2010/main" val="2938123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1E4A587-5FAF-42E6-BE45-17C25F99A991}" type="slidenum">
              <a:rPr lang="en-US"/>
              <a:pPr>
                <a:defRPr/>
              </a:pPr>
              <a:t>‹#›</a:t>
            </a:fld>
            <a:endParaRPr lang="en-US"/>
          </a:p>
        </p:txBody>
      </p:sp>
    </p:spTree>
    <p:extLst>
      <p:ext uri="{BB962C8B-B14F-4D97-AF65-F5344CB8AC3E}">
        <p14:creationId xmlns:p14="http://schemas.microsoft.com/office/powerpoint/2010/main" val="4036991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188EA6C-4A5C-449A-8168-A4D2F9419EE9}" type="slidenum">
              <a:rPr lang="en-US"/>
              <a:pPr>
                <a:defRPr/>
              </a:pPr>
              <a:t>‹#›</a:t>
            </a:fld>
            <a:endParaRPr lang="en-US"/>
          </a:p>
        </p:txBody>
      </p:sp>
    </p:spTree>
    <p:extLst>
      <p:ext uri="{BB962C8B-B14F-4D97-AF65-F5344CB8AC3E}">
        <p14:creationId xmlns:p14="http://schemas.microsoft.com/office/powerpoint/2010/main" val="342339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290888" y="9510713"/>
            <a:ext cx="18578512" cy="19750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0" y="9510713"/>
            <a:ext cx="18578513" cy="19750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EB4A3CC-8336-4978-A66C-FB77D18E1F46}" type="slidenum">
              <a:rPr lang="en-US"/>
              <a:pPr>
                <a:defRPr/>
              </a:pPr>
              <a:t>‹#›</a:t>
            </a:fld>
            <a:endParaRPr lang="en-US"/>
          </a:p>
        </p:txBody>
      </p:sp>
    </p:spTree>
    <p:extLst>
      <p:ext uri="{BB962C8B-B14F-4D97-AF65-F5344CB8AC3E}">
        <p14:creationId xmlns:p14="http://schemas.microsoft.com/office/powerpoint/2010/main" val="2745491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008A453-5BDB-4A82-A97B-AE3AC9DF93EA}" type="slidenum">
              <a:rPr lang="en-US"/>
              <a:pPr>
                <a:defRPr/>
              </a:pPr>
              <a:t>‹#›</a:t>
            </a:fld>
            <a:endParaRPr lang="en-US"/>
          </a:p>
        </p:txBody>
      </p:sp>
    </p:spTree>
    <p:extLst>
      <p:ext uri="{BB962C8B-B14F-4D97-AF65-F5344CB8AC3E}">
        <p14:creationId xmlns:p14="http://schemas.microsoft.com/office/powerpoint/2010/main" val="2159322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AE6625C-FC05-44C9-AD1B-5BE1C448AF41}" type="slidenum">
              <a:rPr lang="en-US"/>
              <a:pPr>
                <a:defRPr/>
              </a:pPr>
              <a:t>‹#›</a:t>
            </a:fld>
            <a:endParaRPr lang="en-US"/>
          </a:p>
        </p:txBody>
      </p:sp>
    </p:spTree>
    <p:extLst>
      <p:ext uri="{BB962C8B-B14F-4D97-AF65-F5344CB8AC3E}">
        <p14:creationId xmlns:p14="http://schemas.microsoft.com/office/powerpoint/2010/main" val="793692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D0A2B76-BBD0-4131-9F1A-F9B85BA33A5C}" type="slidenum">
              <a:rPr lang="en-US"/>
              <a:pPr>
                <a:defRPr/>
              </a:pPr>
              <a:t>‹#›</a:t>
            </a:fld>
            <a:endParaRPr lang="en-US"/>
          </a:p>
        </p:txBody>
      </p:sp>
    </p:spTree>
    <p:extLst>
      <p:ext uri="{BB962C8B-B14F-4D97-AF65-F5344CB8AC3E}">
        <p14:creationId xmlns:p14="http://schemas.microsoft.com/office/powerpoint/2010/main" val="269188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080D8EB-A991-429A-9F15-1E5050711380}" type="slidenum">
              <a:rPr lang="en-US"/>
              <a:pPr>
                <a:defRPr/>
              </a:pPr>
              <a:t>‹#›</a:t>
            </a:fld>
            <a:endParaRPr lang="en-US"/>
          </a:p>
        </p:txBody>
      </p:sp>
    </p:spTree>
    <p:extLst>
      <p:ext uri="{BB962C8B-B14F-4D97-AF65-F5344CB8AC3E}">
        <p14:creationId xmlns:p14="http://schemas.microsoft.com/office/powerpoint/2010/main" val="3625271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7" cy="3862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66D1F85-FC8E-4B63-A86C-FC56C2C366AD}" type="slidenum">
              <a:rPr lang="en-US"/>
              <a:pPr>
                <a:defRPr/>
              </a:pPr>
              <a:t>‹#›</a:t>
            </a:fld>
            <a:endParaRPr lang="en-US"/>
          </a:p>
        </p:txBody>
      </p:sp>
    </p:spTree>
    <p:extLst>
      <p:ext uri="{BB962C8B-B14F-4D97-AF65-F5344CB8AC3E}">
        <p14:creationId xmlns:p14="http://schemas.microsoft.com/office/powerpoint/2010/main" val="3024119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7F46AF8-960E-4160-8BB5-686F276EDF71}" type="slidenum">
              <a:rPr lang="en-US"/>
              <a:pPr>
                <a:defRPr/>
              </a:pPr>
              <a:t>‹#›</a:t>
            </a:fld>
            <a:endParaRPr lang="en-US"/>
          </a:p>
        </p:txBody>
      </p:sp>
    </p:spTree>
    <p:extLst>
      <p:ext uri="{BB962C8B-B14F-4D97-AF65-F5344CB8AC3E}">
        <p14:creationId xmlns:p14="http://schemas.microsoft.com/office/powerpoint/2010/main" val="3393104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3750" y="2924175"/>
            <a:ext cx="9326563" cy="263366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290888" y="2924175"/>
            <a:ext cx="27830462" cy="263366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2589B9D-719E-42D8-8020-085B69862EA7}" type="slidenum">
              <a:rPr lang="en-US"/>
              <a:pPr>
                <a:defRPr/>
              </a:pPr>
              <a:t>‹#›</a:t>
            </a:fld>
            <a:endParaRPr lang="en-US"/>
          </a:p>
        </p:txBody>
      </p:sp>
    </p:spTree>
    <p:extLst>
      <p:ext uri="{BB962C8B-B14F-4D97-AF65-F5344CB8AC3E}">
        <p14:creationId xmlns:p14="http://schemas.microsoft.com/office/powerpoint/2010/main" val="42882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3290888" y="2924175"/>
            <a:ext cx="37309425" cy="5486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438884" tIns="219442" rIns="438884" bIns="219442"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3290888" y="9510713"/>
            <a:ext cx="37309425" cy="1975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438884" tIns="219442" rIns="438884" bIns="21944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3290888" y="29994225"/>
            <a:ext cx="9144000"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l">
              <a:lnSpc>
                <a:spcPct val="100000"/>
              </a:lnSpc>
              <a:spcBef>
                <a:spcPct val="0"/>
              </a:spcBef>
              <a:defRPr sz="6700" b="0"/>
            </a:lvl1pPr>
          </a:lstStyle>
          <a:p>
            <a:pPr>
              <a:defRPr/>
            </a:pPr>
            <a:endParaRPr lang="en-US"/>
          </a:p>
        </p:txBody>
      </p:sp>
      <p:sp>
        <p:nvSpPr>
          <p:cNvPr id="1029" name="Rectangle 5"/>
          <p:cNvSpPr>
            <a:spLocks noGrp="1" noChangeArrowheads="1"/>
          </p:cNvSpPr>
          <p:nvPr>
            <p:ph type="ftr" sz="quarter" idx="3"/>
          </p:nvPr>
        </p:nvSpPr>
        <p:spPr bwMode="auto">
          <a:xfrm>
            <a:off x="14997113" y="29994225"/>
            <a:ext cx="13896975"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nSpc>
                <a:spcPct val="100000"/>
              </a:lnSpc>
              <a:spcBef>
                <a:spcPct val="0"/>
              </a:spcBef>
              <a:defRPr sz="6700" b="0"/>
            </a:lvl1pPr>
          </a:lstStyle>
          <a:p>
            <a:pPr>
              <a:defRPr/>
            </a:pPr>
            <a:endParaRPr lang="en-US"/>
          </a:p>
        </p:txBody>
      </p:sp>
      <p:sp>
        <p:nvSpPr>
          <p:cNvPr id="1030" name="Rectangle 6"/>
          <p:cNvSpPr>
            <a:spLocks noGrp="1" noChangeArrowheads="1"/>
          </p:cNvSpPr>
          <p:nvPr>
            <p:ph type="sldNum" sz="quarter" idx="4"/>
          </p:nvPr>
        </p:nvSpPr>
        <p:spPr bwMode="auto">
          <a:xfrm>
            <a:off x="31456313" y="29994225"/>
            <a:ext cx="9144000"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r">
              <a:lnSpc>
                <a:spcPct val="100000"/>
              </a:lnSpc>
              <a:spcBef>
                <a:spcPct val="0"/>
              </a:spcBef>
              <a:defRPr sz="6700" b="0"/>
            </a:lvl1pPr>
          </a:lstStyle>
          <a:p>
            <a:pPr>
              <a:defRPr/>
            </a:pPr>
            <a:fld id="{3288BF25-8EA1-41D0-B1F3-35292603751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7850" rtl="0" eaLnBrk="0" fontAlgn="base" hangingPunct="0">
        <a:spcBef>
          <a:spcPct val="0"/>
        </a:spcBef>
        <a:spcAft>
          <a:spcPct val="0"/>
        </a:spcAft>
        <a:defRPr sz="21000">
          <a:solidFill>
            <a:schemeClr val="tx2"/>
          </a:solidFill>
          <a:latin typeface="+mj-lt"/>
          <a:ea typeface="+mj-ea"/>
          <a:cs typeface="+mj-cs"/>
        </a:defRPr>
      </a:lvl1pPr>
      <a:lvl2pPr algn="ctr" defTabSz="4387850" rtl="0" eaLnBrk="0" fontAlgn="base" hangingPunct="0">
        <a:spcBef>
          <a:spcPct val="0"/>
        </a:spcBef>
        <a:spcAft>
          <a:spcPct val="0"/>
        </a:spcAft>
        <a:defRPr sz="21000">
          <a:solidFill>
            <a:schemeClr val="tx2"/>
          </a:solidFill>
          <a:latin typeface="Times New Roman" pitchFamily="18" charset="0"/>
        </a:defRPr>
      </a:lvl2pPr>
      <a:lvl3pPr algn="ctr" defTabSz="4387850" rtl="0" eaLnBrk="0" fontAlgn="base" hangingPunct="0">
        <a:spcBef>
          <a:spcPct val="0"/>
        </a:spcBef>
        <a:spcAft>
          <a:spcPct val="0"/>
        </a:spcAft>
        <a:defRPr sz="21000">
          <a:solidFill>
            <a:schemeClr val="tx2"/>
          </a:solidFill>
          <a:latin typeface="Times New Roman" pitchFamily="18" charset="0"/>
        </a:defRPr>
      </a:lvl3pPr>
      <a:lvl4pPr algn="ctr" defTabSz="4387850" rtl="0" eaLnBrk="0" fontAlgn="base" hangingPunct="0">
        <a:spcBef>
          <a:spcPct val="0"/>
        </a:spcBef>
        <a:spcAft>
          <a:spcPct val="0"/>
        </a:spcAft>
        <a:defRPr sz="21000">
          <a:solidFill>
            <a:schemeClr val="tx2"/>
          </a:solidFill>
          <a:latin typeface="Times New Roman" pitchFamily="18" charset="0"/>
        </a:defRPr>
      </a:lvl4pPr>
      <a:lvl5pPr algn="ctr" defTabSz="4387850" rtl="0" eaLnBrk="0" fontAlgn="base" hangingPunct="0">
        <a:spcBef>
          <a:spcPct val="0"/>
        </a:spcBef>
        <a:spcAft>
          <a:spcPct val="0"/>
        </a:spcAft>
        <a:defRPr sz="21000">
          <a:solidFill>
            <a:schemeClr val="tx2"/>
          </a:solidFill>
          <a:latin typeface="Times New Roman" pitchFamily="18" charset="0"/>
        </a:defRPr>
      </a:lvl5pPr>
      <a:lvl6pPr marL="457200" algn="ctr" defTabSz="4387850" rtl="0" eaLnBrk="0" fontAlgn="base" hangingPunct="0">
        <a:spcBef>
          <a:spcPct val="0"/>
        </a:spcBef>
        <a:spcAft>
          <a:spcPct val="0"/>
        </a:spcAft>
        <a:defRPr sz="21000">
          <a:solidFill>
            <a:schemeClr val="tx2"/>
          </a:solidFill>
          <a:latin typeface="Times New Roman" pitchFamily="18" charset="0"/>
        </a:defRPr>
      </a:lvl6pPr>
      <a:lvl7pPr marL="914400" algn="ctr" defTabSz="4387850" rtl="0" eaLnBrk="0" fontAlgn="base" hangingPunct="0">
        <a:spcBef>
          <a:spcPct val="0"/>
        </a:spcBef>
        <a:spcAft>
          <a:spcPct val="0"/>
        </a:spcAft>
        <a:defRPr sz="21000">
          <a:solidFill>
            <a:schemeClr val="tx2"/>
          </a:solidFill>
          <a:latin typeface="Times New Roman" pitchFamily="18" charset="0"/>
        </a:defRPr>
      </a:lvl7pPr>
      <a:lvl8pPr marL="1371600" algn="ctr" defTabSz="4387850" rtl="0" eaLnBrk="0" fontAlgn="base" hangingPunct="0">
        <a:spcBef>
          <a:spcPct val="0"/>
        </a:spcBef>
        <a:spcAft>
          <a:spcPct val="0"/>
        </a:spcAft>
        <a:defRPr sz="21000">
          <a:solidFill>
            <a:schemeClr val="tx2"/>
          </a:solidFill>
          <a:latin typeface="Times New Roman" pitchFamily="18" charset="0"/>
        </a:defRPr>
      </a:lvl8pPr>
      <a:lvl9pPr marL="1828800" algn="ctr" defTabSz="4387850" rtl="0" eaLnBrk="0" fontAlgn="base" hangingPunct="0">
        <a:spcBef>
          <a:spcPct val="0"/>
        </a:spcBef>
        <a:spcAft>
          <a:spcPct val="0"/>
        </a:spcAft>
        <a:defRPr sz="21000">
          <a:solidFill>
            <a:schemeClr val="tx2"/>
          </a:solidFill>
          <a:latin typeface="Times New Roman" pitchFamily="18" charset="0"/>
        </a:defRPr>
      </a:lvl9pPr>
    </p:titleStyle>
    <p:bodyStyle>
      <a:lvl1pPr marL="1647825" indent="-1647825" algn="l" defTabSz="4387850" rtl="0" eaLnBrk="0" fontAlgn="base" hangingPunct="0">
        <a:spcBef>
          <a:spcPct val="20000"/>
        </a:spcBef>
        <a:spcAft>
          <a:spcPct val="0"/>
        </a:spcAft>
        <a:buChar char="•"/>
        <a:defRPr sz="15300">
          <a:solidFill>
            <a:schemeClr val="tx1"/>
          </a:solidFill>
          <a:latin typeface="+mn-lt"/>
          <a:ea typeface="+mn-ea"/>
          <a:cs typeface="+mn-cs"/>
        </a:defRPr>
      </a:lvl1pPr>
      <a:lvl2pPr marL="3565525" indent="-1370013" algn="l" defTabSz="4387850" rtl="0" eaLnBrk="0" fontAlgn="base" hangingPunct="0">
        <a:spcBef>
          <a:spcPct val="20000"/>
        </a:spcBef>
        <a:spcAft>
          <a:spcPct val="0"/>
        </a:spcAft>
        <a:buChar char="–"/>
        <a:defRPr sz="13300">
          <a:solidFill>
            <a:schemeClr val="tx1"/>
          </a:solidFill>
          <a:latin typeface="+mn-lt"/>
        </a:defRPr>
      </a:lvl2pPr>
      <a:lvl3pPr marL="5486400" indent="-1098550" algn="l" defTabSz="4387850" rtl="0" eaLnBrk="0" fontAlgn="base" hangingPunct="0">
        <a:spcBef>
          <a:spcPct val="20000"/>
        </a:spcBef>
        <a:spcAft>
          <a:spcPct val="0"/>
        </a:spcAft>
        <a:buChar char="•"/>
        <a:defRPr sz="11600">
          <a:solidFill>
            <a:schemeClr val="tx1"/>
          </a:solidFill>
          <a:latin typeface="+mn-lt"/>
        </a:defRPr>
      </a:lvl3pPr>
      <a:lvl4pPr marL="7678738" indent="-1093788" algn="l" defTabSz="4387850" rtl="0" eaLnBrk="0" fontAlgn="base" hangingPunct="0">
        <a:spcBef>
          <a:spcPct val="20000"/>
        </a:spcBef>
        <a:spcAft>
          <a:spcPct val="0"/>
        </a:spcAft>
        <a:buChar char="–"/>
        <a:defRPr sz="9600">
          <a:solidFill>
            <a:schemeClr val="tx1"/>
          </a:solidFill>
          <a:latin typeface="+mn-lt"/>
        </a:defRPr>
      </a:lvl4pPr>
      <a:lvl5pPr marL="9875838" indent="-1098550" algn="l" defTabSz="4387850" rtl="0" eaLnBrk="0" fontAlgn="base" hangingPunct="0">
        <a:spcBef>
          <a:spcPct val="20000"/>
        </a:spcBef>
        <a:spcAft>
          <a:spcPct val="0"/>
        </a:spcAft>
        <a:buChar char="»"/>
        <a:defRPr sz="9600">
          <a:solidFill>
            <a:schemeClr val="tx1"/>
          </a:solidFill>
          <a:latin typeface="+mn-lt"/>
        </a:defRPr>
      </a:lvl5pPr>
      <a:lvl6pPr marL="10333038" indent="-1098550" algn="l" defTabSz="4387850" rtl="0" eaLnBrk="0" fontAlgn="base" hangingPunct="0">
        <a:spcBef>
          <a:spcPct val="20000"/>
        </a:spcBef>
        <a:spcAft>
          <a:spcPct val="0"/>
        </a:spcAft>
        <a:buChar char="»"/>
        <a:defRPr sz="9600">
          <a:solidFill>
            <a:schemeClr val="tx1"/>
          </a:solidFill>
          <a:latin typeface="+mn-lt"/>
        </a:defRPr>
      </a:lvl6pPr>
      <a:lvl7pPr marL="10790238" indent="-1098550" algn="l" defTabSz="4387850" rtl="0" eaLnBrk="0" fontAlgn="base" hangingPunct="0">
        <a:spcBef>
          <a:spcPct val="20000"/>
        </a:spcBef>
        <a:spcAft>
          <a:spcPct val="0"/>
        </a:spcAft>
        <a:buChar char="»"/>
        <a:defRPr sz="9600">
          <a:solidFill>
            <a:schemeClr val="tx1"/>
          </a:solidFill>
          <a:latin typeface="+mn-lt"/>
        </a:defRPr>
      </a:lvl7pPr>
      <a:lvl8pPr marL="11247438" indent="-1098550" algn="l" defTabSz="4387850" rtl="0" eaLnBrk="0" fontAlgn="base" hangingPunct="0">
        <a:spcBef>
          <a:spcPct val="20000"/>
        </a:spcBef>
        <a:spcAft>
          <a:spcPct val="0"/>
        </a:spcAft>
        <a:buChar char="»"/>
        <a:defRPr sz="9600">
          <a:solidFill>
            <a:schemeClr val="tx1"/>
          </a:solidFill>
          <a:latin typeface="+mn-lt"/>
        </a:defRPr>
      </a:lvl8pPr>
      <a:lvl9pPr marL="11704638" indent="-1098550" algn="l" defTabSz="4387850" rtl="0" eaLnBrk="0" fontAlgn="base" hangingPunct="0">
        <a:spcBef>
          <a:spcPct val="20000"/>
        </a:spcBef>
        <a:spcAft>
          <a:spcPct val="0"/>
        </a:spcAft>
        <a:buChar char="»"/>
        <a:defRPr sz="9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microsoft.com/office/2018/10/relationships/comments" Target="../comments/modernComment_100_0.xm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microsoft excel icon logo symbol 27179360 PNG">
            <a:extLst>
              <a:ext uri="{FF2B5EF4-FFF2-40B4-BE49-F238E27FC236}">
                <a16:creationId xmlns:a16="http://schemas.microsoft.com/office/drawing/2014/main" id="{BC741319-C538-4BFE-FEE6-D7E57E37830C}"/>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7157" t="20992" r="20358" b="17811"/>
          <a:stretch>
            <a:fillRect/>
          </a:stretch>
        </p:blipFill>
        <p:spPr bwMode="auto">
          <a:xfrm>
            <a:off x="41270759" y="573058"/>
            <a:ext cx="2487820" cy="2436514"/>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51"/>
          <p:cNvSpPr>
            <a:spLocks noChangeArrowheads="1"/>
          </p:cNvSpPr>
          <p:nvPr/>
        </p:nvSpPr>
        <p:spPr bwMode="auto">
          <a:xfrm>
            <a:off x="2147458247" y="2147483647"/>
            <a:ext cx="2147482688"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225903" tIns="112951" rIns="225903" bIns="112951">
            <a:spAutoFit/>
          </a:bodyPr>
          <a:lstStyle/>
          <a:p>
            <a:pPr algn="l" defTabSz="2259013">
              <a:lnSpc>
                <a:spcPct val="100000"/>
              </a:lnSpc>
              <a:spcBef>
                <a:spcPct val="0"/>
              </a:spcBef>
            </a:pPr>
            <a:r>
              <a:rPr lang="en-US" sz="7700" b="0"/>
              <a:t> </a:t>
            </a:r>
            <a:endParaRPr lang="en-US" sz="5900" b="0"/>
          </a:p>
        </p:txBody>
      </p:sp>
      <p:sp>
        <p:nvSpPr>
          <p:cNvPr id="1036" name="Text Box 89"/>
          <p:cNvSpPr txBox="1">
            <a:spLocks noChangeArrowheads="1"/>
          </p:cNvSpPr>
          <p:nvPr/>
        </p:nvSpPr>
        <p:spPr bwMode="auto">
          <a:xfrm>
            <a:off x="18619788" y="1143000"/>
            <a:ext cx="6318250" cy="760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225903" tIns="112951" rIns="225903" bIns="112951">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endParaRPr lang="en-US"/>
          </a:p>
        </p:txBody>
      </p:sp>
      <p:sp>
        <p:nvSpPr>
          <p:cNvPr id="1037" name="Rectangle 90"/>
          <p:cNvSpPr>
            <a:spLocks noChangeArrowheads="1"/>
          </p:cNvSpPr>
          <p:nvPr/>
        </p:nvSpPr>
        <p:spPr bwMode="auto">
          <a:xfrm>
            <a:off x="8500838" y="362921"/>
            <a:ext cx="27476892" cy="2436514"/>
          </a:xfrm>
          <a:prstGeom prst="rect">
            <a:avLst/>
          </a:prstGeom>
          <a:solidFill>
            <a:srgbClr val="92D05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225903" tIns="112951" rIns="225903" bIns="112951" anchor="ctr">
            <a:noAutofit/>
          </a:bodyPr>
          <a:lstStyle/>
          <a:p>
            <a:pPr defTabSz="2259013">
              <a:lnSpc>
                <a:spcPct val="100000"/>
              </a:lnSpc>
              <a:spcBef>
                <a:spcPts val="0"/>
              </a:spcBef>
            </a:pPr>
            <a:r>
              <a:rPr lang="en-US" sz="7000">
                <a:latin typeface="Times New Roman"/>
                <a:cs typeface="Times New Roman"/>
              </a:rPr>
              <a:t>Corn in Context: Linking Meteorology, Fertilizer, and Yield Outcomes</a:t>
            </a:r>
            <a:endParaRPr lang="en-US" sz="7000">
              <a:cs typeface="Times New Roman"/>
            </a:endParaRPr>
          </a:p>
          <a:p>
            <a:pPr defTabSz="2259013">
              <a:lnSpc>
                <a:spcPct val="150000"/>
              </a:lnSpc>
              <a:spcBef>
                <a:spcPts val="0"/>
              </a:spcBef>
            </a:pPr>
            <a:r>
              <a:rPr lang="en-US" b="0">
                <a:latin typeface="Times New Roman"/>
                <a:cs typeface="Times New Roman"/>
              </a:rPr>
              <a:t>Amanda Giddings and An Truong – Expected Graduation December 2026</a:t>
            </a:r>
          </a:p>
        </p:txBody>
      </p:sp>
      <p:sp>
        <p:nvSpPr>
          <p:cNvPr id="1039" name="Text Box 729"/>
          <p:cNvSpPr txBox="1">
            <a:spLocks noChangeArrowheads="1"/>
          </p:cNvSpPr>
          <p:nvPr/>
        </p:nvSpPr>
        <p:spPr bwMode="auto">
          <a:xfrm>
            <a:off x="15240000" y="8956118"/>
            <a:ext cx="2327275" cy="760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225903" tIns="112951" rIns="225903" bIns="112951">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gn="l"/>
            <a:endParaRPr lang="en-US"/>
          </a:p>
        </p:txBody>
      </p:sp>
      <p:grpSp>
        <p:nvGrpSpPr>
          <p:cNvPr id="13" name="Group 12"/>
          <p:cNvGrpSpPr/>
          <p:nvPr/>
        </p:nvGrpSpPr>
        <p:grpSpPr>
          <a:xfrm>
            <a:off x="160096" y="10763970"/>
            <a:ext cx="11195545" cy="22526354"/>
            <a:chOff x="378418" y="15487068"/>
            <a:chExt cx="10110847" cy="21716611"/>
          </a:xfrm>
        </p:grpSpPr>
        <p:sp>
          <p:nvSpPr>
            <p:cNvPr id="1031" name="Text Box 15"/>
            <p:cNvSpPr txBox="1">
              <a:spLocks noChangeArrowheads="1"/>
            </p:cNvSpPr>
            <p:nvPr/>
          </p:nvSpPr>
          <p:spPr bwMode="auto">
            <a:xfrm>
              <a:off x="378418" y="15487068"/>
              <a:ext cx="10068707" cy="952053"/>
            </a:xfrm>
            <a:prstGeom prst="rect">
              <a:avLst/>
            </a:prstGeom>
            <a:solidFill>
              <a:srgbClr val="92D05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dirty="0">
                  <a:latin typeface="Times New Roman"/>
                  <a:cs typeface="Times New Roman"/>
                </a:rPr>
                <a:t>Methods</a:t>
              </a:r>
              <a:endParaRPr lang="en-US" sz="5900" dirty="0"/>
            </a:p>
          </p:txBody>
        </p:sp>
        <p:sp>
          <p:nvSpPr>
            <p:cNvPr id="28" name="TextBox 27"/>
            <p:cNvSpPr txBox="1"/>
            <p:nvPr/>
          </p:nvSpPr>
          <p:spPr>
            <a:xfrm>
              <a:off x="420558" y="16359585"/>
              <a:ext cx="10068707" cy="20844094"/>
            </a:xfrm>
            <a:prstGeom prst="rect">
              <a:avLst/>
            </a:prstGeom>
            <a:noFill/>
          </p:spPr>
          <p:txBody>
            <a:bodyPr wrap="square" lIns="91440" tIns="45720" rIns="91440" bIns="45720" rtlCol="0" anchor="t">
              <a:spAutoFit/>
            </a:bodyPr>
            <a:lstStyle/>
            <a:p>
              <a:pPr algn="l">
                <a:lnSpc>
                  <a:spcPct val="100000"/>
                </a:lnSpc>
                <a:spcBef>
                  <a:spcPts val="0"/>
                </a:spcBef>
              </a:pPr>
              <a:r>
                <a:rPr lang="en-US" sz="3600" dirty="0">
                  <a:latin typeface="Times New Roman"/>
                  <a:cs typeface="Times New Roman"/>
                </a:rPr>
                <a:t>Data Wrangling:</a:t>
              </a:r>
            </a:p>
            <a:p>
              <a:pPr marL="457200" indent="-457200" algn="l">
                <a:lnSpc>
                  <a:spcPct val="100000"/>
                </a:lnSpc>
                <a:spcBef>
                  <a:spcPts val="0"/>
                </a:spcBef>
                <a:buSzPct val="70000"/>
                <a:buFont typeface="Wingdings" panose="05000000000000000000" pitchFamily="2" charset="2"/>
                <a:buChar char="q"/>
              </a:pPr>
              <a:r>
                <a:rPr lang="en-US" sz="3400" b="0" dirty="0">
                  <a:latin typeface="Times New Roman"/>
                  <a:cs typeface="Times New Roman"/>
                </a:rPr>
                <a:t>Our dataset was combined and gathered from two main sources including United States Department of Agriculture – National Agricultural Statistics Service (USDA-NASS) and National Oceanic and Atmospheric Association – National Center for Environmental Information (NOAA-NCEI)</a:t>
              </a:r>
            </a:p>
            <a:p>
              <a:pPr marL="457200" indent="-457200" algn="l">
                <a:lnSpc>
                  <a:spcPct val="100000"/>
                </a:lnSpc>
                <a:spcBef>
                  <a:spcPts val="0"/>
                </a:spcBef>
                <a:buSzPct val="70000"/>
                <a:buFont typeface="Wingdings" panose="05000000000000000000" pitchFamily="2" charset="2"/>
                <a:buChar char="q"/>
              </a:pPr>
              <a:r>
                <a:rPr lang="en-US" sz="3400" b="0" dirty="0">
                  <a:latin typeface="Times New Roman"/>
                  <a:cs typeface="Times New Roman"/>
                </a:rPr>
                <a:t>Non-disclosed values, notated by (D), were removed</a:t>
              </a:r>
            </a:p>
            <a:p>
              <a:pPr marL="457200" indent="-457200" algn="l">
                <a:lnSpc>
                  <a:spcPct val="100000"/>
                </a:lnSpc>
                <a:spcBef>
                  <a:spcPts val="0"/>
                </a:spcBef>
                <a:spcAft>
                  <a:spcPts val="0"/>
                </a:spcAft>
                <a:buSzPct val="70000"/>
                <a:buFont typeface="Wingdings" panose="05000000000000000000" pitchFamily="2" charset="2"/>
                <a:buChar char="q"/>
              </a:pPr>
              <a:r>
                <a:rPr lang="en-US" sz="3400" b="0" dirty="0">
                  <a:latin typeface="Times New Roman"/>
                  <a:cs typeface="Times New Roman"/>
                </a:rPr>
                <a:t>Data Mapping: 1,423 Counties </a:t>
              </a:r>
              <a:r>
                <a:rPr lang="en-US" sz="3400" b="0" dirty="0">
                  <a:latin typeface="Times New Roman"/>
                  <a:cs typeface="Times New Roman"/>
                  <a:sym typeface="Wingdings" panose="05000000000000000000" pitchFamily="2" charset="2"/>
                </a:rPr>
                <a:t> 114 Climate Divisions across 16 states including Alabama, Arkansas, Delaware, Florida, Georgia, Kentucky, Louisiana, Maryland, Mississippi, North Carolina, Oklahoma, South Carolina, Tennessee, Texas, Virginia, and West Virginia </a:t>
              </a:r>
              <a:endParaRPr lang="en-US" sz="3400" b="0" dirty="0">
                <a:latin typeface="Times New Roman"/>
                <a:cs typeface="Times New Roman"/>
              </a:endParaRPr>
            </a:p>
            <a:p>
              <a:pPr algn="l">
                <a:lnSpc>
                  <a:spcPct val="100000"/>
                </a:lnSpc>
                <a:spcBef>
                  <a:spcPts val="600"/>
                </a:spcBef>
              </a:pPr>
              <a:r>
                <a:rPr lang="en-US" sz="3600" dirty="0">
                  <a:latin typeface="Times New Roman"/>
                  <a:cs typeface="Times New Roman"/>
                </a:rPr>
                <a:t>Statistical Analysis:</a:t>
              </a:r>
            </a:p>
            <a:p>
              <a:pPr algn="l">
                <a:lnSpc>
                  <a:spcPct val="100000"/>
                </a:lnSpc>
                <a:spcBef>
                  <a:spcPts val="0"/>
                </a:spcBef>
              </a:pPr>
              <a:r>
                <a:rPr lang="en-US" sz="3400" dirty="0">
                  <a:latin typeface="Times New Roman"/>
                  <a:cs typeface="Times New Roman"/>
                </a:rPr>
                <a:t>Power Analysis</a:t>
              </a:r>
            </a:p>
            <a:p>
              <a:pPr marL="457200" indent="-457200" algn="l">
                <a:lnSpc>
                  <a:spcPct val="100000"/>
                </a:lnSpc>
                <a:spcBef>
                  <a:spcPts val="600"/>
                </a:spcBef>
                <a:buSzPct val="70000"/>
                <a:buFont typeface="Wingdings" panose="05000000000000000000" pitchFamily="2" charset="2"/>
                <a:buChar char="q"/>
              </a:pPr>
              <a:r>
                <a:rPr lang="en-US" sz="3400" b="0" dirty="0">
                  <a:latin typeface="Times New Roman"/>
                  <a:cs typeface="Times New Roman"/>
                </a:rPr>
                <a:t>A Power Analysis was assessed to determine the number of predictors that could be placed in the model without producing Type II error, based on available sample size</a:t>
              </a:r>
              <a:endParaRPr lang="en-US" sz="3400" dirty="0">
                <a:latin typeface="Times New Roman"/>
                <a:cs typeface="Times New Roman"/>
              </a:endParaRPr>
            </a:p>
            <a:p>
              <a:pPr algn="l">
                <a:lnSpc>
                  <a:spcPct val="100000"/>
                </a:lnSpc>
                <a:spcBef>
                  <a:spcPts val="0"/>
                </a:spcBef>
              </a:pPr>
              <a:r>
                <a:rPr lang="en-US" sz="3400" dirty="0">
                  <a:latin typeface="Times New Roman"/>
                  <a:cs typeface="Times New Roman"/>
                </a:rPr>
                <a:t>Exploratory Data Analysis</a:t>
              </a:r>
            </a:p>
            <a:p>
              <a:pPr marL="457200" marR="0" lvl="0" indent="-457200" algn="l" defTabSz="914400" rtl="0" eaLnBrk="0" fontAlgn="base" latinLnBrk="0" hangingPunct="0">
                <a:lnSpc>
                  <a:spcPct val="100000"/>
                </a:lnSpc>
                <a:spcBef>
                  <a:spcPts val="0"/>
                </a:spcBef>
                <a:spcAft>
                  <a:spcPct val="0"/>
                </a:spcAft>
                <a:buClrTx/>
                <a:buSzPct val="70000"/>
                <a:buFont typeface="Wingdings" panose="05000000000000000000" pitchFamily="2" charset="2"/>
                <a:buChar char="q"/>
                <a:tabLst/>
                <a:defRPr/>
              </a:pPr>
              <a:r>
                <a:rPr lang="en-US" sz="3400" b="0" dirty="0">
                  <a:solidFill>
                    <a:srgbClr val="000000"/>
                  </a:solidFill>
                  <a:latin typeface="Times New Roman"/>
                  <a:cs typeface="Times New Roman"/>
                </a:rPr>
                <a:t>EDA was performed to assess data quality and variable relationships</a:t>
              </a:r>
              <a:endParaRPr lang="en-US" sz="3400" dirty="0">
                <a:latin typeface="Times New Roman"/>
                <a:cs typeface="Times New Roman"/>
              </a:endParaRPr>
            </a:p>
            <a:p>
              <a:pPr algn="l">
                <a:lnSpc>
                  <a:spcPct val="100000"/>
                </a:lnSpc>
                <a:spcBef>
                  <a:spcPts val="0"/>
                </a:spcBef>
              </a:pPr>
              <a:r>
                <a:rPr lang="en-US" sz="3400" dirty="0">
                  <a:latin typeface="Times New Roman"/>
                  <a:cs typeface="Times New Roman"/>
                </a:rPr>
                <a:t>Multiple Linear Regression Analysis</a:t>
              </a:r>
            </a:p>
            <a:p>
              <a:pPr marL="457200" indent="-457200" algn="l">
                <a:lnSpc>
                  <a:spcPct val="100000"/>
                </a:lnSpc>
                <a:spcBef>
                  <a:spcPts val="600"/>
                </a:spcBef>
                <a:buSzPct val="70000"/>
                <a:buFont typeface="Wingdings" panose="05000000000000000000" pitchFamily="2" charset="2"/>
                <a:buChar char="q"/>
              </a:pPr>
              <a:r>
                <a:rPr lang="en-US" sz="3400" b="0" dirty="0">
                  <a:latin typeface="Times New Roman"/>
                  <a:cs typeface="Times New Roman"/>
                </a:rPr>
                <a:t>Six multiple linear regression models were assessed. The best model, based on R², applied to the analysis</a:t>
              </a:r>
            </a:p>
            <a:p>
              <a:pPr marL="457200" indent="-457200" algn="l">
                <a:lnSpc>
                  <a:spcPct val="100000"/>
                </a:lnSpc>
                <a:spcBef>
                  <a:spcPts val="0"/>
                </a:spcBef>
                <a:buSzPct val="70000"/>
                <a:buFont typeface="Wingdings" panose="05000000000000000000" pitchFamily="2" charset="2"/>
                <a:buChar char="q"/>
              </a:pPr>
              <a:r>
                <a:rPr lang="en-US" sz="3400" b="0" dirty="0">
                  <a:latin typeface="Times New Roman"/>
                  <a:cs typeface="Times New Roman"/>
                </a:rPr>
                <a:t>Model: Yield ~ Corn Fertilizer Expense + Average Cooling Temperature + Palmer Drought Severity Index Category + Precipitation</a:t>
              </a:r>
            </a:p>
            <a:p>
              <a:pPr marL="457200" indent="-457200" algn="l">
                <a:lnSpc>
                  <a:spcPct val="100000"/>
                </a:lnSpc>
                <a:spcBef>
                  <a:spcPts val="0"/>
                </a:spcBef>
                <a:buSzPct val="70000"/>
                <a:buFont typeface="Wingdings" panose="05000000000000000000" pitchFamily="2" charset="2"/>
                <a:buChar char="q"/>
              </a:pPr>
              <a:r>
                <a:rPr lang="en-US" sz="3400" b="0" dirty="0">
                  <a:latin typeface="Times New Roman"/>
                  <a:cs typeface="Times New Roman"/>
                </a:rPr>
                <a:t>Cook’s D, </a:t>
              </a:r>
              <a:r>
                <a:rPr lang="en-US" sz="3400" b="0" dirty="0" err="1">
                  <a:latin typeface="Times New Roman"/>
                  <a:cs typeface="Times New Roman"/>
                </a:rPr>
                <a:t>DFBetas</a:t>
              </a:r>
              <a:r>
                <a:rPr lang="en-US" sz="3400" b="0" dirty="0">
                  <a:latin typeface="Times New Roman"/>
                  <a:cs typeface="Times New Roman"/>
                </a:rPr>
                <a:t>, </a:t>
              </a:r>
              <a:r>
                <a:rPr lang="en-US" sz="3400" b="0" dirty="0" err="1">
                  <a:latin typeface="Times New Roman"/>
                  <a:cs typeface="Times New Roman"/>
                </a:rPr>
                <a:t>DFFits</a:t>
              </a:r>
              <a:r>
                <a:rPr lang="en-US" sz="3400" b="0" dirty="0">
                  <a:latin typeface="Times New Roman"/>
                  <a:cs typeface="Times New Roman"/>
                </a:rPr>
                <a:t>, Studentized Residuals were evaluated to check outliers, leverage, and influential observations</a:t>
              </a:r>
            </a:p>
            <a:p>
              <a:pPr marL="914400" lvl="1" indent="-457200" algn="l">
                <a:lnSpc>
                  <a:spcPct val="100000"/>
                </a:lnSpc>
                <a:spcBef>
                  <a:spcPts val="0"/>
                </a:spcBef>
                <a:buSzPct val="70000"/>
                <a:buFont typeface="Courier New" panose="02070309020205020404" pitchFamily="49" charset="0"/>
                <a:buChar char="o"/>
              </a:pPr>
              <a:r>
                <a:rPr lang="en-US" sz="3400" b="0" dirty="0">
                  <a:latin typeface="Times New Roman"/>
                  <a:cs typeface="Times New Roman"/>
                </a:rPr>
                <a:t>Removed Climate Division IDs: 308, 1608, 3801, 4106, 4004, and 803</a:t>
              </a:r>
            </a:p>
            <a:p>
              <a:pPr marL="457200" indent="-457200" algn="l">
                <a:lnSpc>
                  <a:spcPct val="100000"/>
                </a:lnSpc>
                <a:spcBef>
                  <a:spcPts val="0"/>
                </a:spcBef>
                <a:buSzPct val="70000"/>
                <a:buFont typeface="Wingdings" panose="05000000000000000000" pitchFamily="2" charset="2"/>
                <a:buChar char="q"/>
              </a:pPr>
              <a:r>
                <a:rPr lang="en-US" sz="3400" b="0" dirty="0">
                  <a:latin typeface="Times New Roman"/>
                  <a:cs typeface="Times New Roman"/>
                </a:rPr>
                <a:t>Assumption Check : Normality, Linearity, Homoscedasticity</a:t>
              </a:r>
            </a:p>
            <a:p>
              <a:pPr marL="914400" lvl="1" indent="-457200" algn="l">
                <a:lnSpc>
                  <a:spcPct val="100000"/>
                </a:lnSpc>
                <a:spcBef>
                  <a:spcPts val="0"/>
                </a:spcBef>
                <a:buSzPct val="70000"/>
                <a:buFont typeface="Courier New" panose="02070309020205020404" pitchFamily="49" charset="0"/>
                <a:buChar char="o"/>
              </a:pPr>
              <a:r>
                <a:rPr lang="en-US" sz="3400" b="0" dirty="0">
                  <a:latin typeface="Times New Roman"/>
                  <a:cs typeface="Times New Roman"/>
                </a:rPr>
                <a:t>Supported after outliers and influential treatment</a:t>
              </a:r>
            </a:p>
            <a:p>
              <a:pPr marL="457200" indent="-457200" algn="l">
                <a:lnSpc>
                  <a:spcPct val="100000"/>
                </a:lnSpc>
                <a:spcBef>
                  <a:spcPts val="0"/>
                </a:spcBef>
                <a:buSzPct val="70000"/>
                <a:buFont typeface="Wingdings" panose="05000000000000000000" pitchFamily="2" charset="2"/>
                <a:buChar char="q"/>
              </a:pPr>
              <a:r>
                <a:rPr lang="en-US" sz="3400" b="0" dirty="0">
                  <a:latin typeface="Times New Roman"/>
                  <a:cs typeface="Times New Roman"/>
                </a:rPr>
                <a:t>Cluster-Robust Variance Estimation (</a:t>
              </a:r>
              <a:r>
                <a:rPr lang="en-US" sz="3400" b="0" i="1" dirty="0" err="1">
                  <a:latin typeface="Times New Roman"/>
                  <a:cs typeface="Times New Roman"/>
                </a:rPr>
                <a:t>clubSandwich</a:t>
              </a:r>
              <a:r>
                <a:rPr lang="en-US" sz="3400" b="0" i="1" dirty="0">
                  <a:latin typeface="Times New Roman"/>
                  <a:cs typeface="Times New Roman"/>
                </a:rPr>
                <a:t> package</a:t>
              </a:r>
              <a:r>
                <a:rPr lang="en-US" sz="3400" b="0" dirty="0">
                  <a:latin typeface="Times New Roman"/>
                  <a:cs typeface="Times New Roman"/>
                </a:rPr>
                <a:t>) was applied, using CR2 estimator, to solve for clustering observations</a:t>
              </a:r>
            </a:p>
            <a:p>
              <a:pPr marL="457200" indent="-457200" algn="l">
                <a:lnSpc>
                  <a:spcPct val="100000"/>
                </a:lnSpc>
                <a:spcBef>
                  <a:spcPts val="0"/>
                </a:spcBef>
                <a:buSzPct val="70000"/>
                <a:buFont typeface="Wingdings" panose="05000000000000000000" pitchFamily="2" charset="2"/>
                <a:buChar char="q"/>
              </a:pPr>
              <a:r>
                <a:rPr lang="en-US" sz="3400" b="0" dirty="0">
                  <a:latin typeface="Times New Roman"/>
                  <a:cs typeface="Times New Roman"/>
                </a:rPr>
                <a:t>Multicollinearity was checked by assessing VIF</a:t>
              </a:r>
            </a:p>
            <a:p>
              <a:pPr marL="914400" lvl="1" indent="-457200" algn="l">
                <a:lnSpc>
                  <a:spcPct val="100000"/>
                </a:lnSpc>
                <a:spcBef>
                  <a:spcPts val="0"/>
                </a:spcBef>
                <a:buSzPct val="70000"/>
                <a:buFont typeface="Courier New" panose="02070309020205020404" pitchFamily="49" charset="0"/>
                <a:buChar char="o"/>
              </a:pPr>
              <a:r>
                <a:rPr lang="en-US" sz="3400" b="0" dirty="0">
                  <a:latin typeface="Times New Roman"/>
                  <a:cs typeface="Times New Roman"/>
                </a:rPr>
                <a:t>All predictors have VIF &lt; 2</a:t>
              </a:r>
            </a:p>
            <a:p>
              <a:pPr marL="457200" indent="-457200" algn="l">
                <a:lnSpc>
                  <a:spcPct val="100000"/>
                </a:lnSpc>
                <a:spcBef>
                  <a:spcPts val="0"/>
                </a:spcBef>
                <a:buSzPct val="70000"/>
                <a:buFont typeface="Wingdings" panose="05000000000000000000" pitchFamily="2" charset="2"/>
                <a:buChar char="q"/>
              </a:pPr>
              <a:r>
                <a:rPr lang="en-US" sz="3400" b="0" dirty="0">
                  <a:latin typeface="Times New Roman"/>
                  <a:cs typeface="Times New Roman"/>
                </a:rPr>
                <a:t>Partial F-Test was examined to </a:t>
              </a:r>
              <a:r>
                <a:rPr lang="en-US" sz="3400" b="0" dirty="0"/>
                <a:t>determine if a predictor variable significantly improved the regression model</a:t>
              </a:r>
              <a:endParaRPr lang="en-US" sz="3400" b="0" dirty="0">
                <a:latin typeface="Times New Roman"/>
                <a:cs typeface="Times New Roman"/>
              </a:endParaRPr>
            </a:p>
          </p:txBody>
        </p:sp>
      </p:grpSp>
      <p:grpSp>
        <p:nvGrpSpPr>
          <p:cNvPr id="12" name="Group 11"/>
          <p:cNvGrpSpPr/>
          <p:nvPr/>
        </p:nvGrpSpPr>
        <p:grpSpPr>
          <a:xfrm>
            <a:off x="291633" y="3032032"/>
            <a:ext cx="11160080" cy="7848006"/>
            <a:chOff x="381000" y="3815874"/>
            <a:chExt cx="9625643" cy="7848006"/>
          </a:xfrm>
        </p:grpSpPr>
        <p:sp>
          <p:nvSpPr>
            <p:cNvPr id="48" name="TextBox 47"/>
            <p:cNvSpPr txBox="1"/>
            <p:nvPr/>
          </p:nvSpPr>
          <p:spPr>
            <a:xfrm>
              <a:off x="388190" y="4708130"/>
              <a:ext cx="9618453" cy="6955750"/>
            </a:xfrm>
            <a:prstGeom prst="rect">
              <a:avLst/>
            </a:prstGeom>
            <a:noFill/>
          </p:spPr>
          <p:txBody>
            <a:bodyPr wrap="square" lIns="91440" tIns="45720" rIns="91440" bIns="45720" rtlCol="0" anchor="t">
              <a:spAutoFit/>
            </a:bodyPr>
            <a:lstStyle/>
            <a:p>
              <a:pPr algn="l">
                <a:lnSpc>
                  <a:spcPct val="100000"/>
                </a:lnSpc>
                <a:spcBef>
                  <a:spcPts val="0"/>
                </a:spcBef>
                <a:spcAft>
                  <a:spcPts val="0"/>
                </a:spcAft>
              </a:pPr>
              <a:r>
                <a:rPr lang="en-US" sz="3600" dirty="0">
                  <a:latin typeface="Times New Roman"/>
                  <a:cs typeface="Times New Roman"/>
                </a:rPr>
                <a:t>Background</a:t>
              </a:r>
            </a:p>
            <a:p>
              <a:pPr marL="457200" indent="-457200" algn="l">
                <a:lnSpc>
                  <a:spcPct val="100000"/>
                </a:lnSpc>
                <a:spcBef>
                  <a:spcPts val="0"/>
                </a:spcBef>
                <a:buSzPct val="70000"/>
                <a:buFont typeface="Wingdings"/>
                <a:buChar char="q"/>
              </a:pPr>
              <a:r>
                <a:rPr lang="en-US" sz="3400" b="0" dirty="0">
                  <a:latin typeface="Times New Roman"/>
                  <a:cs typeface="Times New Roman"/>
                </a:rPr>
                <a:t>Corn accounts for over 95% of animal feed grain and 10% of ethanol across the US</a:t>
              </a:r>
            </a:p>
            <a:p>
              <a:pPr marL="457200" indent="-457200" algn="l">
                <a:lnSpc>
                  <a:spcPct val="100000"/>
                </a:lnSpc>
                <a:spcBef>
                  <a:spcPts val="0"/>
                </a:spcBef>
                <a:buSzPct val="70000"/>
                <a:buFont typeface="Wingdings"/>
                <a:buChar char="q"/>
              </a:pPr>
              <a:r>
                <a:rPr lang="en-US" sz="3400" b="0" dirty="0">
                  <a:latin typeface="Times New Roman"/>
                  <a:cs typeface="Times New Roman"/>
                </a:rPr>
                <a:t>In 2019-2020, the US exported over 340,000 million metric tons of corn, leading it to be the number 1 corn exporter in the world</a:t>
              </a:r>
            </a:p>
            <a:p>
              <a:pPr marL="457200" indent="-457200" algn="l">
                <a:lnSpc>
                  <a:spcPct val="100000"/>
                </a:lnSpc>
                <a:spcBef>
                  <a:spcPts val="0"/>
                </a:spcBef>
                <a:spcAft>
                  <a:spcPts val="0"/>
                </a:spcAft>
                <a:buSzPct val="70000"/>
                <a:buFont typeface="Wingdings"/>
                <a:buChar char="q"/>
              </a:pPr>
              <a:r>
                <a:rPr lang="en-US" sz="3400" b="0" dirty="0">
                  <a:latin typeface="Times New Roman"/>
                  <a:cs typeface="Times New Roman"/>
                </a:rPr>
                <a:t>However, several environmental agencies have noted that corn yield has been heavily impacted by drought and heavy precipitation</a:t>
              </a:r>
            </a:p>
            <a:p>
              <a:pPr algn="l">
                <a:lnSpc>
                  <a:spcPct val="100000"/>
                </a:lnSpc>
                <a:spcBef>
                  <a:spcPts val="0"/>
                </a:spcBef>
                <a:spcAft>
                  <a:spcPts val="0"/>
                </a:spcAft>
                <a:buSzPct val="70000"/>
              </a:pPr>
              <a:r>
                <a:rPr lang="en-US" sz="3600" dirty="0">
                  <a:latin typeface="Times New Roman"/>
                  <a:cs typeface="Times New Roman"/>
                </a:rPr>
                <a:t>Purpose</a:t>
              </a:r>
              <a:endParaRPr lang="en-US" sz="3600" b="0" dirty="0">
                <a:latin typeface="Times New Roman"/>
                <a:cs typeface="Times New Roman"/>
              </a:endParaRPr>
            </a:p>
            <a:p>
              <a:pPr marL="457200" indent="-457200" algn="l">
                <a:lnSpc>
                  <a:spcPct val="100000"/>
                </a:lnSpc>
                <a:spcBef>
                  <a:spcPts val="0"/>
                </a:spcBef>
                <a:buSzPct val="70000"/>
                <a:buFont typeface="Wingdings"/>
                <a:buChar char="q"/>
              </a:pPr>
              <a:r>
                <a:rPr lang="en-US" sz="3400" dirty="0">
                  <a:latin typeface="Times New Roman"/>
                  <a:cs typeface="Times New Roman"/>
                </a:rPr>
                <a:t>To analyze whether environmental challenges and a selected agricultural measure can predict corn yield on an annual basis</a:t>
              </a:r>
            </a:p>
          </p:txBody>
        </p:sp>
        <p:sp>
          <p:nvSpPr>
            <p:cNvPr id="1030" name="Text Box 12"/>
            <p:cNvSpPr txBox="1">
              <a:spLocks noChangeArrowheads="1"/>
            </p:cNvSpPr>
            <p:nvPr/>
          </p:nvSpPr>
          <p:spPr bwMode="auto">
            <a:xfrm>
              <a:off x="381000" y="3815874"/>
              <a:ext cx="9601200" cy="984726"/>
            </a:xfrm>
            <a:prstGeom prst="rect">
              <a:avLst/>
            </a:prstGeom>
            <a:solidFill>
              <a:srgbClr val="92D05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a:latin typeface="Times New Roman"/>
                  <a:cs typeface="Times New Roman"/>
                </a:rPr>
                <a:t>Introduction</a:t>
              </a:r>
              <a:endParaRPr lang="en-US" sz="5900"/>
            </a:p>
          </p:txBody>
        </p:sp>
      </p:grpSp>
      <p:grpSp>
        <p:nvGrpSpPr>
          <p:cNvPr id="14" name="Group 13"/>
          <p:cNvGrpSpPr/>
          <p:nvPr/>
        </p:nvGrpSpPr>
        <p:grpSpPr>
          <a:xfrm>
            <a:off x="32707878" y="3134551"/>
            <a:ext cx="11183322" cy="13828877"/>
            <a:chOff x="407237" y="22156041"/>
            <a:chExt cx="11175708" cy="24300960"/>
          </a:xfrm>
        </p:grpSpPr>
        <p:sp>
          <p:nvSpPr>
            <p:cNvPr id="27" name="Text Box 18"/>
            <p:cNvSpPr txBox="1">
              <a:spLocks noChangeArrowheads="1"/>
            </p:cNvSpPr>
            <p:nvPr/>
          </p:nvSpPr>
          <p:spPr bwMode="auto">
            <a:xfrm>
              <a:off x="407237" y="22156041"/>
              <a:ext cx="10940160" cy="1677238"/>
            </a:xfrm>
            <a:prstGeom prst="rect">
              <a:avLst/>
            </a:prstGeom>
            <a:solidFill>
              <a:srgbClr val="92D05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a:latin typeface="Times New Roman"/>
                  <a:cs typeface="Times New Roman"/>
                </a:rPr>
                <a:t>Results</a:t>
              </a:r>
              <a:endParaRPr lang="en-US" sz="5900"/>
            </a:p>
          </p:txBody>
        </p:sp>
        <mc:AlternateContent xmlns:mc="http://schemas.openxmlformats.org/markup-compatibility/2006" xmlns:a14="http://schemas.microsoft.com/office/drawing/2010/main">
          <mc:Choice Requires="a14">
            <p:sp>
              <p:nvSpPr>
                <p:cNvPr id="2" name="TextBox 1"/>
                <p:cNvSpPr txBox="1"/>
                <p:nvPr/>
              </p:nvSpPr>
              <p:spPr>
                <a:xfrm>
                  <a:off x="441653" y="24111128"/>
                  <a:ext cx="11141292" cy="22345873"/>
                </a:xfrm>
                <a:prstGeom prst="rect">
                  <a:avLst/>
                </a:prstGeom>
                <a:noFill/>
              </p:spPr>
              <p:txBody>
                <a:bodyPr wrap="square" lIns="91440" tIns="45720" rIns="91440" bIns="45720" rtlCol="0" anchor="t">
                  <a:spAutoFit/>
                </a:bodyPr>
                <a:lstStyle/>
                <a:p>
                  <a:pPr lvl="1" indent="-457200" algn="l">
                    <a:lnSpc>
                      <a:spcPts val="2828"/>
                    </a:lnSpc>
                    <a:spcAft>
                      <a:spcPts val="1029"/>
                    </a:spcAft>
                    <a:buSzPct val="70000"/>
                    <a:buFont typeface="Wingdings" panose="05000000000000000000" pitchFamily="2" charset="2"/>
                    <a:buChar char="q"/>
                  </a:pPr>
                  <a:r>
                    <a:rPr lang="en-US" sz="3200" dirty="0">
                      <a:cs typeface="Times New Roman"/>
                    </a:rPr>
                    <a:t>Final Model:</a:t>
                  </a:r>
                  <a:endParaRPr lang="en-US" sz="3200" b="0" dirty="0">
                    <a:latin typeface="Arial" panose="020B0604020202020204" pitchFamily="34" charset="0"/>
                    <a:cs typeface="Arial" panose="020B0604020202020204" pitchFamily="34" charset="0"/>
                  </a:endParaRPr>
                </a:p>
                <a:p>
                  <a:pPr lvl="2" indent="-457200" algn="l">
                    <a:lnSpc>
                      <a:spcPct val="100000"/>
                    </a:lnSpc>
                    <a:spcBef>
                      <a:spcPts val="0"/>
                    </a:spcBef>
                    <a:spcAft>
                      <a:spcPts val="600"/>
                    </a:spcAft>
                    <a:buSzPct val="80000"/>
                    <a:buFont typeface="Courier New" panose="02070309020205020404" pitchFamily="49" charset="0"/>
                    <a:buChar char="o"/>
                  </a:pPr>
                  <a:r>
                    <a:rPr lang="en-US" sz="3400" b="0" dirty="0">
                      <a:cs typeface="Times New Roman" panose="02020603050405020304" pitchFamily="18" charset="0"/>
                    </a:rPr>
                    <a:t>Yield = β</a:t>
                  </a:r>
                  <a:r>
                    <a:rPr lang="en-US" sz="3400" b="0" baseline="-40000" dirty="0">
                      <a:cs typeface="Times New Roman" panose="02020603050405020304" pitchFamily="18" charset="0"/>
                    </a:rPr>
                    <a:t>0</a:t>
                  </a:r>
                  <a:r>
                    <a:rPr lang="en-US" sz="3400" b="0" dirty="0">
                      <a:cs typeface="Times New Roman" panose="02020603050405020304" pitchFamily="18" charset="0"/>
                    </a:rPr>
                    <a:t> + β</a:t>
                  </a:r>
                  <a:r>
                    <a:rPr lang="en-US" sz="3400" b="0" baseline="-40000" dirty="0">
                      <a:cs typeface="Times New Roman" panose="02020603050405020304" pitchFamily="18" charset="0"/>
                    </a:rPr>
                    <a:t>1</a:t>
                  </a:r>
                  <a:r>
                    <a:rPr lang="en-US" sz="3400" b="0" dirty="0">
                      <a:cs typeface="Times New Roman" panose="02020603050405020304" pitchFamily="18" charset="0"/>
                    </a:rPr>
                    <a:t>(Corn Fertilizer Expense) + β</a:t>
                  </a:r>
                  <a:r>
                    <a:rPr lang="en-US" sz="3400" b="0" baseline="-40000" dirty="0">
                      <a:cs typeface="Times New Roman" panose="02020603050405020304" pitchFamily="18" charset="0"/>
                    </a:rPr>
                    <a:t>2</a:t>
                  </a:r>
                  <a:r>
                    <a:rPr lang="en-US" sz="3400" b="0" dirty="0">
                      <a:cs typeface="Times New Roman" panose="02020603050405020304" pitchFamily="18" charset="0"/>
                    </a:rPr>
                    <a:t>( Average Cooling Temperature) + β</a:t>
                  </a:r>
                  <a:r>
                    <a:rPr lang="en-US" sz="3400" b="0" baseline="-40000" dirty="0">
                      <a:cs typeface="Times New Roman" panose="02020603050405020304" pitchFamily="18" charset="0"/>
                    </a:rPr>
                    <a:t>3</a:t>
                  </a:r>
                  <a:r>
                    <a:rPr lang="en-US" sz="3400" b="0" dirty="0">
                      <a:cs typeface="Times New Roman" panose="02020603050405020304" pitchFamily="18" charset="0"/>
                    </a:rPr>
                    <a:t>(Precipitation) + β</a:t>
                  </a:r>
                  <a:r>
                    <a:rPr lang="en-US" sz="3400" b="0" baseline="-40000" dirty="0">
                      <a:cs typeface="Times New Roman" panose="02020603050405020304" pitchFamily="18" charset="0"/>
                    </a:rPr>
                    <a:t>4</a:t>
                  </a:r>
                  <a:r>
                    <a:rPr lang="en-US" sz="3400" b="0" dirty="0">
                      <a:cs typeface="Times New Roman" panose="02020603050405020304" pitchFamily="18" charset="0"/>
                    </a:rPr>
                    <a:t>(PDSI Category) + </a:t>
                  </a:r>
                  <a14:m>
                    <m:oMath xmlns:m="http://schemas.openxmlformats.org/officeDocument/2006/math">
                      <m:r>
                        <a:rPr lang="en-US" sz="3400" b="0" i="1" smtClean="0">
                          <a:latin typeface="Cambria Math" panose="02040503050406030204" pitchFamily="18" charset="0"/>
                          <a:ea typeface="Cambria Math" panose="02040503050406030204" pitchFamily="18" charset="0"/>
                          <a:cs typeface="Arial" panose="020B0604020202020204" pitchFamily="34" charset="0"/>
                        </a:rPr>
                        <m:t>𝜀</m:t>
                      </m:r>
                    </m:oMath>
                  </a14:m>
                  <a:endParaRPr lang="en-US" sz="3400" b="0" dirty="0">
                    <a:cs typeface="Times New Roman" panose="02020603050405020304" pitchFamily="18" charset="0"/>
                  </a:endParaRPr>
                </a:p>
                <a:p>
                  <a:pPr lvl="2" indent="-457200" algn="l">
                    <a:lnSpc>
                      <a:spcPct val="100000"/>
                    </a:lnSpc>
                    <a:spcBef>
                      <a:spcPts val="0"/>
                    </a:spcBef>
                    <a:spcAft>
                      <a:spcPts val="600"/>
                    </a:spcAft>
                    <a:buSzPct val="80000"/>
                    <a:buFont typeface="Courier New" panose="02070309020205020404" pitchFamily="49" charset="0"/>
                    <a:buChar char="o"/>
                  </a:pPr>
                  <a:r>
                    <a:rPr lang="en-US" sz="3400" b="0" dirty="0">
                      <a:cs typeface="Times New Roman" panose="02020603050405020304" pitchFamily="18" charset="0"/>
                    </a:rPr>
                    <a:t>23.77% of the variance in Yield is explained by all four predictors, R</a:t>
                  </a:r>
                  <a:r>
                    <a:rPr lang="en-US" sz="3400" b="0" baseline="40000" dirty="0">
                      <a:cs typeface="Times New Roman" panose="02020603050405020304" pitchFamily="18" charset="0"/>
                    </a:rPr>
                    <a:t>2</a:t>
                  </a:r>
                  <a:r>
                    <a:rPr lang="en-US" sz="3400" b="0" dirty="0">
                      <a:cs typeface="Times New Roman" panose="02020603050405020304" pitchFamily="18" charset="0"/>
                    </a:rPr>
                    <a:t> = 0.2377, f(5, 102) = 7.672, p &lt;.001</a:t>
                  </a:r>
                </a:p>
                <a:p>
                  <a:pPr marL="457200" lvl="2" algn="l">
                    <a:lnSpc>
                      <a:spcPct val="100000"/>
                    </a:lnSpc>
                    <a:spcBef>
                      <a:spcPts val="0"/>
                    </a:spcBef>
                    <a:spcAft>
                      <a:spcPts val="600"/>
                    </a:spcAft>
                    <a:buSzPct val="80000"/>
                  </a:pPr>
                  <a:endParaRPr lang="en-US" sz="3200" b="0" dirty="0">
                    <a:latin typeface="Arial" panose="020B0604020202020204" pitchFamily="34" charset="0"/>
                    <a:cs typeface="Arial" panose="020B0604020202020204" pitchFamily="34" charset="0"/>
                  </a:endParaRPr>
                </a:p>
                <a:p>
                  <a:pPr lvl="2" indent="-457200" algn="l">
                    <a:lnSpc>
                      <a:spcPct val="100000"/>
                    </a:lnSpc>
                    <a:spcBef>
                      <a:spcPts val="0"/>
                    </a:spcBef>
                    <a:spcAft>
                      <a:spcPts val="600"/>
                    </a:spcAft>
                    <a:buSzPct val="80000"/>
                    <a:buFont typeface="Courier New" panose="02070309020205020404" pitchFamily="49" charset="0"/>
                    <a:buChar char="o"/>
                  </a:pPr>
                  <a:endParaRPr lang="en-US" sz="3200" b="0" dirty="0">
                    <a:latin typeface="Arial" panose="020B0604020202020204" pitchFamily="34" charset="0"/>
                    <a:cs typeface="Arial" panose="020B0604020202020204" pitchFamily="34" charset="0"/>
                  </a:endParaRPr>
                </a:p>
                <a:p>
                  <a:pPr lvl="2" indent="-457200" algn="l">
                    <a:lnSpc>
                      <a:spcPct val="100000"/>
                    </a:lnSpc>
                    <a:spcBef>
                      <a:spcPts val="0"/>
                    </a:spcBef>
                    <a:spcAft>
                      <a:spcPts val="600"/>
                    </a:spcAft>
                    <a:buSzPct val="80000"/>
                    <a:buFont typeface="Courier New" panose="02070309020205020404" pitchFamily="49" charset="0"/>
                    <a:buChar char="o"/>
                  </a:pPr>
                  <a:endParaRPr lang="en-US" sz="3200" b="0" dirty="0">
                    <a:latin typeface="Arial" panose="020B0604020202020204" pitchFamily="34" charset="0"/>
                    <a:cs typeface="Arial" panose="020B0604020202020204" pitchFamily="34" charset="0"/>
                  </a:endParaRPr>
                </a:p>
                <a:p>
                  <a:pPr lvl="2" indent="-457200" algn="l">
                    <a:lnSpc>
                      <a:spcPct val="100000"/>
                    </a:lnSpc>
                    <a:spcBef>
                      <a:spcPts val="0"/>
                    </a:spcBef>
                    <a:spcAft>
                      <a:spcPts val="600"/>
                    </a:spcAft>
                    <a:buSzPct val="80000"/>
                    <a:buFont typeface="Courier New" panose="02070309020205020404" pitchFamily="49" charset="0"/>
                    <a:buChar char="o"/>
                  </a:pPr>
                  <a:endParaRPr lang="en-US" sz="3200" b="0" dirty="0">
                    <a:latin typeface="Arial" panose="020B0604020202020204" pitchFamily="34" charset="0"/>
                    <a:cs typeface="Arial" panose="020B0604020202020204" pitchFamily="34" charset="0"/>
                  </a:endParaRPr>
                </a:p>
                <a:p>
                  <a:pPr lvl="2" indent="-457200" algn="l">
                    <a:lnSpc>
                      <a:spcPct val="100000"/>
                    </a:lnSpc>
                    <a:spcBef>
                      <a:spcPts val="0"/>
                    </a:spcBef>
                    <a:spcAft>
                      <a:spcPts val="600"/>
                    </a:spcAft>
                    <a:buSzPct val="80000"/>
                    <a:buFont typeface="Courier New" panose="02070309020205020404" pitchFamily="49" charset="0"/>
                    <a:buChar char="o"/>
                  </a:pPr>
                  <a:endParaRPr lang="en-US" sz="3200" b="0" dirty="0">
                    <a:latin typeface="Arial" panose="020B0604020202020204" pitchFamily="34" charset="0"/>
                    <a:cs typeface="Arial" panose="020B0604020202020204" pitchFamily="34" charset="0"/>
                  </a:endParaRPr>
                </a:p>
                <a:p>
                  <a:pPr lvl="2" indent="-457200" algn="l">
                    <a:lnSpc>
                      <a:spcPct val="100000"/>
                    </a:lnSpc>
                    <a:spcBef>
                      <a:spcPts val="0"/>
                    </a:spcBef>
                    <a:spcAft>
                      <a:spcPts val="600"/>
                    </a:spcAft>
                    <a:buSzPct val="80000"/>
                    <a:buFont typeface="Courier New" panose="02070309020205020404" pitchFamily="49" charset="0"/>
                    <a:buChar char="o"/>
                  </a:pPr>
                  <a:endParaRPr lang="en-US" sz="3200" b="0" dirty="0">
                    <a:latin typeface="Arial" panose="020B0604020202020204" pitchFamily="34" charset="0"/>
                    <a:cs typeface="Arial" panose="020B0604020202020204" pitchFamily="34" charset="0"/>
                  </a:endParaRPr>
                </a:p>
                <a:p>
                  <a:pPr lvl="2" indent="-457200" algn="l">
                    <a:lnSpc>
                      <a:spcPct val="100000"/>
                    </a:lnSpc>
                    <a:spcBef>
                      <a:spcPts val="0"/>
                    </a:spcBef>
                    <a:spcAft>
                      <a:spcPts val="600"/>
                    </a:spcAft>
                    <a:buSzPct val="80000"/>
                    <a:buFont typeface="Courier New" panose="02070309020205020404" pitchFamily="49" charset="0"/>
                    <a:buChar char="o"/>
                  </a:pPr>
                  <a:endParaRPr lang="en-US" sz="3200" b="0" dirty="0">
                    <a:latin typeface="Arial" panose="020B0604020202020204" pitchFamily="34" charset="0"/>
                    <a:cs typeface="Arial" panose="020B0604020202020204" pitchFamily="34" charset="0"/>
                  </a:endParaRPr>
                </a:p>
                <a:p>
                  <a:pPr lvl="2" indent="-457200" algn="l">
                    <a:lnSpc>
                      <a:spcPct val="100000"/>
                    </a:lnSpc>
                    <a:spcBef>
                      <a:spcPts val="0"/>
                    </a:spcBef>
                    <a:spcAft>
                      <a:spcPts val="600"/>
                    </a:spcAft>
                    <a:buSzPct val="80000"/>
                    <a:buFont typeface="Courier New" panose="02070309020205020404" pitchFamily="49" charset="0"/>
                    <a:buChar char="o"/>
                  </a:pPr>
                  <a:endParaRPr lang="en-US" sz="3200" b="0" dirty="0">
                    <a:latin typeface="Arial" panose="020B0604020202020204" pitchFamily="34" charset="0"/>
                    <a:cs typeface="Arial" panose="020B0604020202020204" pitchFamily="34" charset="0"/>
                  </a:endParaRPr>
                </a:p>
                <a:p>
                  <a:pPr lvl="2" indent="-457200" algn="l">
                    <a:lnSpc>
                      <a:spcPct val="100000"/>
                    </a:lnSpc>
                    <a:spcBef>
                      <a:spcPts val="0"/>
                    </a:spcBef>
                    <a:spcAft>
                      <a:spcPts val="600"/>
                    </a:spcAft>
                    <a:buSzPct val="80000"/>
                    <a:buFont typeface="Courier New" panose="02070309020205020404" pitchFamily="49" charset="0"/>
                    <a:buChar char="o"/>
                  </a:pPr>
                  <a:endParaRPr lang="en-US" sz="3200" b="0" dirty="0">
                    <a:latin typeface="Arial" panose="020B0604020202020204" pitchFamily="34" charset="0"/>
                    <a:cs typeface="Arial" panose="020B0604020202020204" pitchFamily="34" charset="0"/>
                  </a:endParaRPr>
                </a:p>
                <a:p>
                  <a:pPr marL="457200" lvl="2" algn="l">
                    <a:lnSpc>
                      <a:spcPct val="100000"/>
                    </a:lnSpc>
                    <a:spcBef>
                      <a:spcPts val="0"/>
                    </a:spcBef>
                    <a:spcAft>
                      <a:spcPts val="600"/>
                    </a:spcAft>
                    <a:buSzPct val="80000"/>
                  </a:pPr>
                  <a:endParaRPr lang="en-US" sz="3200" b="0" dirty="0">
                    <a:latin typeface="Arial" panose="020B0604020202020204" pitchFamily="34" charset="0"/>
                    <a:cs typeface="Arial" panose="020B0604020202020204" pitchFamily="34" charset="0"/>
                  </a:endParaRPr>
                </a:p>
                <a:p>
                  <a:pPr lvl="1" indent="-457200" algn="l">
                    <a:lnSpc>
                      <a:spcPts val="2828"/>
                    </a:lnSpc>
                    <a:spcAft>
                      <a:spcPts val="1029"/>
                    </a:spcAft>
                    <a:buSzPct val="70000"/>
                    <a:buFont typeface="Wingdings" panose="05000000000000000000" pitchFamily="2" charset="2"/>
                    <a:buChar char="q"/>
                  </a:pPr>
                  <a:r>
                    <a:rPr lang="en-US" sz="3400" dirty="0">
                      <a:cs typeface="Times New Roman"/>
                    </a:rPr>
                    <a:t>Partial F-Test:</a:t>
                  </a:r>
                </a:p>
                <a:p>
                  <a:pPr lvl="2" indent="-457200" algn="l">
                    <a:lnSpc>
                      <a:spcPct val="100000"/>
                    </a:lnSpc>
                    <a:spcBef>
                      <a:spcPts val="0"/>
                    </a:spcBef>
                    <a:spcAft>
                      <a:spcPts val="600"/>
                    </a:spcAft>
                    <a:buSzPct val="70000"/>
                    <a:buFont typeface="Courier New" panose="02070309020205020404" pitchFamily="49" charset="0"/>
                    <a:buChar char="o"/>
                  </a:pPr>
                  <a:r>
                    <a:rPr lang="en-US" sz="3400" b="0" dirty="0">
                      <a:cs typeface="Times New Roman" panose="02020603050405020304" pitchFamily="18" charset="0"/>
                    </a:rPr>
                    <a:t>Precipitation: 7.3%</a:t>
                  </a:r>
                </a:p>
                <a:p>
                  <a:pPr lvl="2" indent="-457200" algn="l">
                    <a:lnSpc>
                      <a:spcPct val="100000"/>
                    </a:lnSpc>
                    <a:spcBef>
                      <a:spcPts val="0"/>
                    </a:spcBef>
                    <a:spcAft>
                      <a:spcPts val="600"/>
                    </a:spcAft>
                    <a:buSzPct val="70000"/>
                    <a:buFont typeface="Courier New" panose="02070309020205020404" pitchFamily="49" charset="0"/>
                    <a:buChar char="o"/>
                  </a:pPr>
                  <a:r>
                    <a:rPr lang="en-US" sz="3400" b="0" dirty="0">
                      <a:cs typeface="Times New Roman" panose="02020603050405020304" pitchFamily="18" charset="0"/>
                    </a:rPr>
                    <a:t>Fertilizer Expense: 9.5%</a:t>
                  </a:r>
                </a:p>
                <a:p>
                  <a:pPr lvl="2" indent="-457200" algn="l">
                    <a:lnSpc>
                      <a:spcPct val="100000"/>
                    </a:lnSpc>
                    <a:spcBef>
                      <a:spcPts val="0"/>
                    </a:spcBef>
                    <a:spcAft>
                      <a:spcPts val="600"/>
                    </a:spcAft>
                    <a:buSzPct val="70000"/>
                    <a:buFont typeface="Courier New" panose="02070309020205020404" pitchFamily="49" charset="0"/>
                    <a:buChar char="o"/>
                  </a:pPr>
                  <a:r>
                    <a:rPr lang="en-US" sz="3400" b="0" dirty="0">
                      <a:cs typeface="Times New Roman" panose="02020603050405020304" pitchFamily="18" charset="0"/>
                    </a:rPr>
                    <a:t>PDSI Categories: 1.04%</a:t>
                  </a:r>
                </a:p>
                <a:p>
                  <a:pPr lvl="2" indent="-457200" algn="l">
                    <a:lnSpc>
                      <a:spcPct val="100000"/>
                    </a:lnSpc>
                    <a:spcBef>
                      <a:spcPts val="0"/>
                    </a:spcBef>
                    <a:spcAft>
                      <a:spcPts val="600"/>
                    </a:spcAft>
                    <a:buSzPct val="70000"/>
                    <a:buFont typeface="Courier New" panose="02070309020205020404" pitchFamily="49" charset="0"/>
                    <a:buChar char="o"/>
                  </a:pPr>
                  <a:r>
                    <a:rPr lang="en-US" sz="3400" b="0" dirty="0">
                      <a:cs typeface="Times New Roman" panose="02020603050405020304" pitchFamily="18" charset="0"/>
                    </a:rPr>
                    <a:t>Cooling Temperature: 13.19%</a:t>
                  </a:r>
                </a:p>
                <a:p>
                  <a:pPr marL="457200" indent="-457200" algn="l">
                    <a:lnSpc>
                      <a:spcPct val="100000"/>
                    </a:lnSpc>
                    <a:spcBef>
                      <a:spcPts val="0"/>
                    </a:spcBef>
                    <a:buSzPct val="70000"/>
                    <a:buFont typeface="Wingdings" panose="05000000000000000000" pitchFamily="2" charset="2"/>
                    <a:buChar char="q"/>
                  </a:pPr>
                  <a:endParaRPr lang="en-US" sz="3400" b="0" dirty="0">
                    <a:latin typeface="Times New Roman"/>
                    <a:cs typeface="Times New Roman"/>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441653" y="24111128"/>
                  <a:ext cx="11141292" cy="22345873"/>
                </a:xfrm>
                <a:prstGeom prst="rect">
                  <a:avLst/>
                </a:prstGeom>
                <a:blipFill>
                  <a:blip r:embed="rId5"/>
                  <a:stretch>
                    <a:fillRect l="-711" t="-1630"/>
                  </a:stretch>
                </a:blipFill>
              </p:spPr>
              <p:txBody>
                <a:bodyPr/>
                <a:lstStyle/>
                <a:p>
                  <a:r>
                    <a:rPr lang="en-US">
                      <a:noFill/>
                    </a:rPr>
                    <a:t> </a:t>
                  </a:r>
                </a:p>
              </p:txBody>
            </p:sp>
          </mc:Fallback>
        </mc:AlternateContent>
      </p:grpSp>
      <p:pic>
        <p:nvPicPr>
          <p:cNvPr id="29" name="Picture 26"/>
          <p:cNvPicPr>
            <a:picLocks noChangeAspect="1"/>
          </p:cNvPicPr>
          <p:nvPr/>
        </p:nvPicPr>
        <p:blipFill>
          <a:blip r:embed="rId6">
            <a:extLst>
              <a:ext uri="{28A0092B-C50C-407E-A947-70E740481C1C}">
                <a14:useLocalDpi xmlns:a14="http://schemas.microsoft.com/office/drawing/2010/main" val="0"/>
              </a:ext>
            </a:extLst>
          </a:blip>
          <a:srcRect/>
          <a:stretch/>
        </p:blipFill>
        <p:spPr bwMode="auto">
          <a:xfrm>
            <a:off x="266304" y="347360"/>
            <a:ext cx="8207827" cy="261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A blue and grey logo&#10;&#10;AI-generated content may be incorrect.">
            <a:extLst>
              <a:ext uri="{FF2B5EF4-FFF2-40B4-BE49-F238E27FC236}">
                <a16:creationId xmlns:a16="http://schemas.microsoft.com/office/drawing/2014/main" id="{A67F3FC1-E072-C35D-A847-C16193DB6B5D}"/>
              </a:ext>
            </a:extLst>
          </p:cNvPr>
          <p:cNvPicPr>
            <a:picLocks noChangeAspect="1"/>
          </p:cNvPicPr>
          <p:nvPr/>
        </p:nvPicPr>
        <p:blipFill>
          <a:blip r:embed="rId7"/>
          <a:stretch>
            <a:fillRect/>
          </a:stretch>
        </p:blipFill>
        <p:spPr>
          <a:xfrm>
            <a:off x="35977729" y="604605"/>
            <a:ext cx="2625833" cy="2155479"/>
          </a:xfrm>
          <a:prstGeom prst="rect">
            <a:avLst/>
          </a:prstGeom>
        </p:spPr>
      </p:pic>
      <p:sp>
        <p:nvSpPr>
          <p:cNvPr id="15" name="Text Box 12">
            <a:extLst>
              <a:ext uri="{FF2B5EF4-FFF2-40B4-BE49-F238E27FC236}">
                <a16:creationId xmlns:a16="http://schemas.microsoft.com/office/drawing/2014/main" id="{8D871874-F27F-C06F-940E-05FB6E934735}"/>
              </a:ext>
            </a:extLst>
          </p:cNvPr>
          <p:cNvSpPr txBox="1">
            <a:spLocks noChangeArrowheads="1"/>
          </p:cNvSpPr>
          <p:nvPr/>
        </p:nvSpPr>
        <p:spPr bwMode="auto">
          <a:xfrm>
            <a:off x="32674766" y="25023547"/>
            <a:ext cx="10913173" cy="984726"/>
          </a:xfrm>
          <a:prstGeom prst="rect">
            <a:avLst/>
          </a:prstGeom>
          <a:solidFill>
            <a:srgbClr val="92D05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a:t>Limitations</a:t>
            </a:r>
          </a:p>
        </p:txBody>
      </p:sp>
      <p:sp>
        <p:nvSpPr>
          <p:cNvPr id="16" name="TextBox 15">
            <a:extLst>
              <a:ext uri="{FF2B5EF4-FFF2-40B4-BE49-F238E27FC236}">
                <a16:creationId xmlns:a16="http://schemas.microsoft.com/office/drawing/2014/main" id="{01254AEB-3DD0-DF7E-3084-0061991F81A8}"/>
              </a:ext>
            </a:extLst>
          </p:cNvPr>
          <p:cNvSpPr txBox="1"/>
          <p:nvPr/>
        </p:nvSpPr>
        <p:spPr>
          <a:xfrm>
            <a:off x="32874936" y="26204921"/>
            <a:ext cx="10883643" cy="6078587"/>
          </a:xfrm>
          <a:prstGeom prst="rect">
            <a:avLst/>
          </a:prstGeom>
          <a:noFill/>
        </p:spPr>
        <p:txBody>
          <a:bodyPr wrap="square" lIns="91440" tIns="45720" rIns="91440" bIns="45720" rtlCol="0" anchor="t">
            <a:spAutoFit/>
          </a:bodyPr>
          <a:lstStyle/>
          <a:p>
            <a:pPr marL="457200" indent="-457200" algn="l">
              <a:lnSpc>
                <a:spcPct val="100000"/>
              </a:lnSpc>
              <a:spcBef>
                <a:spcPts val="0"/>
              </a:spcBef>
              <a:spcAft>
                <a:spcPts val="1800"/>
              </a:spcAft>
              <a:buSzPct val="70000"/>
              <a:buFont typeface="Wingdings" panose="05000000000000000000" pitchFamily="2" charset="2"/>
              <a:buChar char="q"/>
            </a:pPr>
            <a:r>
              <a:rPr lang="en-US" sz="3400" dirty="0"/>
              <a:t>Data Format/Availability: </a:t>
            </a:r>
            <a:r>
              <a:rPr lang="en-US" sz="3400" b="0" dirty="0"/>
              <a:t>During the data collection process, most of the available climate datasets were in Geographic Information System (GIS) or graphical formats, or the datasets available had limited information by county level. Additionally, many of these climate variables involved temporal components that are better suited for time-series or longitudinal analyses.</a:t>
            </a:r>
            <a:endParaRPr lang="en-US" sz="3400" dirty="0"/>
          </a:p>
          <a:p>
            <a:pPr marL="457200" indent="-457200" algn="l">
              <a:lnSpc>
                <a:spcPct val="100000"/>
              </a:lnSpc>
              <a:spcBef>
                <a:spcPts val="0"/>
              </a:spcBef>
              <a:spcAft>
                <a:spcPts val="1800"/>
              </a:spcAft>
              <a:buSzPct val="70000"/>
              <a:buFont typeface="Wingdings" panose="05000000000000000000" pitchFamily="2" charset="2"/>
              <a:buChar char="q"/>
            </a:pPr>
            <a:r>
              <a:rPr lang="en-US" sz="3400" dirty="0">
                <a:cs typeface="Times New Roman"/>
              </a:rPr>
              <a:t>Statistical Methods: </a:t>
            </a:r>
            <a:r>
              <a:rPr lang="en-US" sz="3400" b="0" dirty="0">
                <a:cs typeface="Times New Roman"/>
              </a:rPr>
              <a:t>Our current model contains clusters that would be more appropriately analyzed using a multimodal regression approach. However, we have not yet had the opportunity to learn or apply this method.</a:t>
            </a:r>
          </a:p>
        </p:txBody>
      </p:sp>
      <p:pic>
        <p:nvPicPr>
          <p:cNvPr id="6" name="Picture 5" descr="A qr code with a star&#10;&#10;AI-generated content may be incorrect.">
            <a:extLst>
              <a:ext uri="{FF2B5EF4-FFF2-40B4-BE49-F238E27FC236}">
                <a16:creationId xmlns:a16="http://schemas.microsoft.com/office/drawing/2014/main" id="{94ECFFB1-B695-AFE9-A54C-AF50685CED8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82939" y="561189"/>
            <a:ext cx="2415247" cy="2415247"/>
          </a:xfrm>
          <a:prstGeom prst="rect">
            <a:avLst/>
          </a:prstGeom>
        </p:spPr>
      </p:pic>
      <p:sp>
        <p:nvSpPr>
          <p:cNvPr id="7" name="TextBox 6">
            <a:extLst>
              <a:ext uri="{FF2B5EF4-FFF2-40B4-BE49-F238E27FC236}">
                <a16:creationId xmlns:a16="http://schemas.microsoft.com/office/drawing/2014/main" id="{5C8DEEFD-0ED1-5314-0E9B-C1F5F33786C4}"/>
              </a:ext>
            </a:extLst>
          </p:cNvPr>
          <p:cNvSpPr txBox="1"/>
          <p:nvPr/>
        </p:nvSpPr>
        <p:spPr>
          <a:xfrm>
            <a:off x="38017122" y="192567"/>
            <a:ext cx="3980290" cy="386516"/>
          </a:xfrm>
          <a:prstGeom prst="rect">
            <a:avLst/>
          </a:prstGeom>
          <a:noFill/>
        </p:spPr>
        <p:txBody>
          <a:bodyPr wrap="square" rtlCol="0">
            <a:spAutoFit/>
          </a:bodyPr>
          <a:lstStyle/>
          <a:p>
            <a:r>
              <a:rPr lang="en-US" sz="2800" dirty="0"/>
              <a:t>Presenters Information</a:t>
            </a:r>
          </a:p>
        </p:txBody>
      </p:sp>
      <p:sp>
        <p:nvSpPr>
          <p:cNvPr id="1027" name="Text Box 3"/>
          <p:cNvSpPr txBox="1">
            <a:spLocks noChangeArrowheads="1"/>
          </p:cNvSpPr>
          <p:nvPr/>
        </p:nvSpPr>
        <p:spPr bwMode="auto">
          <a:xfrm>
            <a:off x="15868877" y="2826853"/>
            <a:ext cx="11820071" cy="5946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60000"/>
              </a:lnSpc>
            </a:pPr>
            <a:r>
              <a:rPr lang="en-US" sz="3600" b="0"/>
              <a:t>Advisor: Lauren M. Matheny, Ph.D., M.P.H</a:t>
            </a:r>
          </a:p>
        </p:txBody>
      </p:sp>
      <p:pic>
        <p:nvPicPr>
          <p:cNvPr id="21" name="Picture 20" descr="A map of the united states&#10;&#10;AI-generated content may be incorrect.">
            <a:extLst>
              <a:ext uri="{FF2B5EF4-FFF2-40B4-BE49-F238E27FC236}">
                <a16:creationId xmlns:a16="http://schemas.microsoft.com/office/drawing/2014/main" id="{7572D9C8-1BF6-C515-3A0D-CAF16AC3766F}"/>
              </a:ext>
            </a:extLst>
          </p:cNvPr>
          <p:cNvPicPr>
            <a:picLocks noChangeAspect="1"/>
          </p:cNvPicPr>
          <p:nvPr/>
        </p:nvPicPr>
        <p:blipFill>
          <a:blip r:embed="rId9">
            <a:extLst>
              <a:ext uri="{28A0092B-C50C-407E-A947-70E740481C1C}">
                <a14:useLocalDpi xmlns:a14="http://schemas.microsoft.com/office/drawing/2010/main" val="0"/>
              </a:ext>
            </a:extLst>
          </a:blip>
          <a:srcRect t="10975" r="11472" b="-453"/>
          <a:stretch>
            <a:fillRect/>
          </a:stretch>
        </p:blipFill>
        <p:spPr>
          <a:xfrm>
            <a:off x="11961767" y="3364402"/>
            <a:ext cx="20292684" cy="12876302"/>
          </a:xfrm>
          <a:prstGeom prst="rect">
            <a:avLst/>
          </a:prstGeom>
          <a:solidFill>
            <a:srgbClr val="FFFFFF">
              <a:shade val="85000"/>
            </a:srgbClr>
          </a:solidFill>
          <a:ln w="88900" cap="sq">
            <a:solidFill>
              <a:srgbClr val="A3D977"/>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3" name="Picture 22" descr="A map of the united states&#10;&#10;AI-generated content may be incorrect.">
            <a:extLst>
              <a:ext uri="{FF2B5EF4-FFF2-40B4-BE49-F238E27FC236}">
                <a16:creationId xmlns:a16="http://schemas.microsoft.com/office/drawing/2014/main" id="{7A9F930C-A378-C8A8-E020-84EAD49F6476}"/>
              </a:ext>
            </a:extLst>
          </p:cNvPr>
          <p:cNvPicPr>
            <a:picLocks noChangeAspect="1"/>
          </p:cNvPicPr>
          <p:nvPr/>
        </p:nvPicPr>
        <p:blipFill>
          <a:blip r:embed="rId9">
            <a:extLst>
              <a:ext uri="{28A0092B-C50C-407E-A947-70E740481C1C}">
                <a14:useLocalDpi xmlns:a14="http://schemas.microsoft.com/office/drawing/2010/main" val="0"/>
              </a:ext>
            </a:extLst>
          </a:blip>
          <a:srcRect l="90489" t="1757" r="523" b="75810"/>
          <a:stretch>
            <a:fillRect/>
          </a:stretch>
        </p:blipFill>
        <p:spPr>
          <a:xfrm>
            <a:off x="29685344" y="10001802"/>
            <a:ext cx="2158128" cy="3320673"/>
          </a:xfrm>
          <a:prstGeom prst="rect">
            <a:avLst/>
          </a:prstGeom>
        </p:spPr>
      </p:pic>
      <p:pic>
        <p:nvPicPr>
          <p:cNvPr id="33" name="Picture 32">
            <a:extLst>
              <a:ext uri="{FF2B5EF4-FFF2-40B4-BE49-F238E27FC236}">
                <a16:creationId xmlns:a16="http://schemas.microsoft.com/office/drawing/2014/main" id="{9EDEFA73-3A9C-912F-C703-EAC2DB63AFEB}"/>
              </a:ext>
            </a:extLst>
          </p:cNvPr>
          <p:cNvPicPr>
            <a:picLocks noChangeAspect="1"/>
          </p:cNvPicPr>
          <p:nvPr/>
        </p:nvPicPr>
        <p:blipFill>
          <a:blip r:embed="rId10"/>
          <a:stretch>
            <a:fillRect/>
          </a:stretch>
        </p:blipFill>
        <p:spPr>
          <a:xfrm>
            <a:off x="11748122" y="25066679"/>
            <a:ext cx="10128210" cy="6657135"/>
          </a:xfrm>
          <a:prstGeom prst="rect">
            <a:avLst/>
          </a:prstGeom>
          <a:solidFill>
            <a:srgbClr val="FFFFFF">
              <a:shade val="85000"/>
            </a:srgbClr>
          </a:solidFill>
          <a:ln w="88900" cap="sq">
            <a:solidFill>
              <a:srgbClr val="A3D977"/>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8" name="Picture 37">
            <a:extLst>
              <a:ext uri="{FF2B5EF4-FFF2-40B4-BE49-F238E27FC236}">
                <a16:creationId xmlns:a16="http://schemas.microsoft.com/office/drawing/2014/main" id="{B639BF28-B158-B29E-26F0-3F777FA1FA44}"/>
              </a:ext>
            </a:extLst>
          </p:cNvPr>
          <p:cNvPicPr>
            <a:picLocks noChangeAspect="1"/>
          </p:cNvPicPr>
          <p:nvPr/>
        </p:nvPicPr>
        <p:blipFill>
          <a:blip r:embed="rId11"/>
          <a:srcRect l="5930" t="2608" r="3442" b="5038"/>
          <a:stretch>
            <a:fillRect/>
          </a:stretch>
        </p:blipFill>
        <p:spPr>
          <a:xfrm>
            <a:off x="33132529" y="7600773"/>
            <a:ext cx="9914022" cy="5629175"/>
          </a:xfrm>
          <a:prstGeom prst="rect">
            <a:avLst/>
          </a:prstGeom>
        </p:spPr>
      </p:pic>
      <p:sp>
        <p:nvSpPr>
          <p:cNvPr id="40" name="TextBox 39">
            <a:extLst>
              <a:ext uri="{FF2B5EF4-FFF2-40B4-BE49-F238E27FC236}">
                <a16:creationId xmlns:a16="http://schemas.microsoft.com/office/drawing/2014/main" id="{57151B77-4829-E726-ADF7-C5A41E3FF5B1}"/>
              </a:ext>
            </a:extLst>
          </p:cNvPr>
          <p:cNvSpPr txBox="1"/>
          <p:nvPr/>
        </p:nvSpPr>
        <p:spPr>
          <a:xfrm>
            <a:off x="11817389" y="16395163"/>
            <a:ext cx="20292684" cy="470578"/>
          </a:xfrm>
          <a:prstGeom prst="rect">
            <a:avLst/>
          </a:prstGeom>
          <a:noFill/>
        </p:spPr>
        <p:txBody>
          <a:bodyPr wrap="square" rtlCol="0">
            <a:spAutoFit/>
          </a:bodyPr>
          <a:lstStyle/>
          <a:p>
            <a:pPr algn="l"/>
            <a:r>
              <a:rPr lang="en-US" sz="3400" b="0" dirty="0"/>
              <a:t>Figure 1: Corn Yield Map per Climate Division </a:t>
            </a:r>
            <a:r>
              <a:rPr lang="en-US" sz="3600" b="0" dirty="0"/>
              <a:t>Across</a:t>
            </a:r>
            <a:r>
              <a:rPr lang="en-US" sz="3400" b="0" dirty="0"/>
              <a:t> South US States</a:t>
            </a:r>
          </a:p>
        </p:txBody>
      </p:sp>
      <p:sp>
        <p:nvSpPr>
          <p:cNvPr id="41" name="TextBox 40">
            <a:extLst>
              <a:ext uri="{FF2B5EF4-FFF2-40B4-BE49-F238E27FC236}">
                <a16:creationId xmlns:a16="http://schemas.microsoft.com/office/drawing/2014/main" id="{1D74A9BC-2C22-AA30-0186-E4ED38149A2C}"/>
              </a:ext>
            </a:extLst>
          </p:cNvPr>
          <p:cNvSpPr txBox="1"/>
          <p:nvPr/>
        </p:nvSpPr>
        <p:spPr>
          <a:xfrm>
            <a:off x="11754822" y="24074405"/>
            <a:ext cx="8002750" cy="449610"/>
          </a:xfrm>
          <a:prstGeom prst="rect">
            <a:avLst/>
          </a:prstGeom>
          <a:noFill/>
        </p:spPr>
        <p:txBody>
          <a:bodyPr wrap="square" rtlCol="0">
            <a:spAutoFit/>
          </a:bodyPr>
          <a:lstStyle/>
          <a:p>
            <a:pPr algn="l"/>
            <a:r>
              <a:rPr lang="en-US" sz="3400" b="0" dirty="0"/>
              <a:t>Figure 2: Violin Plot of PDSI Categories</a:t>
            </a:r>
          </a:p>
        </p:txBody>
      </p:sp>
      <p:sp>
        <p:nvSpPr>
          <p:cNvPr id="42" name="TextBox 41">
            <a:extLst>
              <a:ext uri="{FF2B5EF4-FFF2-40B4-BE49-F238E27FC236}">
                <a16:creationId xmlns:a16="http://schemas.microsoft.com/office/drawing/2014/main" id="{EA29B960-2DD7-BF06-CD16-9E5A422EFB23}"/>
              </a:ext>
            </a:extLst>
          </p:cNvPr>
          <p:cNvSpPr txBox="1"/>
          <p:nvPr/>
        </p:nvSpPr>
        <p:spPr>
          <a:xfrm>
            <a:off x="22108109" y="24074405"/>
            <a:ext cx="9604188" cy="449610"/>
          </a:xfrm>
          <a:prstGeom prst="rect">
            <a:avLst/>
          </a:prstGeom>
          <a:noFill/>
        </p:spPr>
        <p:txBody>
          <a:bodyPr wrap="square" rtlCol="0">
            <a:spAutoFit/>
          </a:bodyPr>
          <a:lstStyle/>
          <a:p>
            <a:pPr algn="l"/>
            <a:r>
              <a:rPr lang="en-US" sz="3400" b="0" dirty="0"/>
              <a:t>Figure 3: Correlation Matrix Plot of Main Variables</a:t>
            </a:r>
          </a:p>
        </p:txBody>
      </p:sp>
      <p:sp>
        <p:nvSpPr>
          <p:cNvPr id="43" name="TextBox 42">
            <a:extLst>
              <a:ext uri="{FF2B5EF4-FFF2-40B4-BE49-F238E27FC236}">
                <a16:creationId xmlns:a16="http://schemas.microsoft.com/office/drawing/2014/main" id="{E02ED4BA-2A94-4659-0FC0-9F6FFA6BE1F4}"/>
              </a:ext>
            </a:extLst>
          </p:cNvPr>
          <p:cNvSpPr txBox="1"/>
          <p:nvPr/>
        </p:nvSpPr>
        <p:spPr>
          <a:xfrm>
            <a:off x="11601543" y="32048118"/>
            <a:ext cx="9604188" cy="470578"/>
          </a:xfrm>
          <a:prstGeom prst="rect">
            <a:avLst/>
          </a:prstGeom>
          <a:noFill/>
        </p:spPr>
        <p:txBody>
          <a:bodyPr wrap="square" rtlCol="0">
            <a:spAutoFit/>
          </a:bodyPr>
          <a:lstStyle/>
          <a:p>
            <a:pPr algn="l"/>
            <a:r>
              <a:rPr lang="en-US" sz="3600" b="0" dirty="0"/>
              <a:t>Figure 4: Studentized Residuals vs. Leverage</a:t>
            </a:r>
          </a:p>
        </p:txBody>
      </p:sp>
      <p:sp>
        <p:nvSpPr>
          <p:cNvPr id="44" name="TextBox 43">
            <a:extLst>
              <a:ext uri="{FF2B5EF4-FFF2-40B4-BE49-F238E27FC236}">
                <a16:creationId xmlns:a16="http://schemas.microsoft.com/office/drawing/2014/main" id="{DEAC26A6-7E68-E469-E0F1-EC43975DD0E4}"/>
              </a:ext>
            </a:extLst>
          </p:cNvPr>
          <p:cNvSpPr txBox="1"/>
          <p:nvPr/>
        </p:nvSpPr>
        <p:spPr>
          <a:xfrm>
            <a:off x="22163162" y="32069086"/>
            <a:ext cx="10128210" cy="449610"/>
          </a:xfrm>
          <a:prstGeom prst="rect">
            <a:avLst/>
          </a:prstGeom>
          <a:noFill/>
        </p:spPr>
        <p:txBody>
          <a:bodyPr wrap="square" rtlCol="0">
            <a:spAutoFit/>
          </a:bodyPr>
          <a:lstStyle/>
          <a:p>
            <a:pPr algn="l"/>
            <a:r>
              <a:rPr lang="en-US" sz="3400" b="0" dirty="0"/>
              <a:t>Figure 5: Coefficient Plot of Crude vs. Updated Model</a:t>
            </a:r>
          </a:p>
        </p:txBody>
      </p:sp>
      <p:sp>
        <p:nvSpPr>
          <p:cNvPr id="3" name="TextBox 2">
            <a:extLst>
              <a:ext uri="{FF2B5EF4-FFF2-40B4-BE49-F238E27FC236}">
                <a16:creationId xmlns:a16="http://schemas.microsoft.com/office/drawing/2014/main" id="{94C35C99-C9FE-321A-227D-BA517D3A8906}"/>
              </a:ext>
            </a:extLst>
          </p:cNvPr>
          <p:cNvSpPr txBox="1"/>
          <p:nvPr/>
        </p:nvSpPr>
        <p:spPr>
          <a:xfrm>
            <a:off x="32829870" y="17337895"/>
            <a:ext cx="10758069" cy="8631145"/>
          </a:xfrm>
          <a:prstGeom prst="rect">
            <a:avLst/>
          </a:prstGeom>
          <a:noFill/>
        </p:spPr>
        <p:txBody>
          <a:bodyPr wrap="square" rtlCol="0">
            <a:spAutoFit/>
          </a:bodyPr>
          <a:lstStyle/>
          <a:p>
            <a:pPr marL="457200" indent="-457200" algn="l">
              <a:lnSpc>
                <a:spcPct val="100000"/>
              </a:lnSpc>
              <a:spcBef>
                <a:spcPts val="0"/>
              </a:spcBef>
              <a:spcAft>
                <a:spcPts val="600"/>
              </a:spcAft>
              <a:buSzPct val="70000"/>
              <a:buFont typeface="Wingdings" panose="05000000000000000000" pitchFamily="2" charset="2"/>
              <a:buChar char="q"/>
            </a:pPr>
            <a:r>
              <a:rPr lang="en-US" sz="3400" b="0" dirty="0">
                <a:latin typeface="Times New Roman"/>
                <a:cs typeface="Times New Roman"/>
              </a:rPr>
              <a:t>The implemented </a:t>
            </a:r>
            <a:r>
              <a:rPr lang="en-US" sz="3400" b="0" dirty="0" err="1">
                <a:latin typeface="Times New Roman"/>
                <a:cs typeface="Times New Roman"/>
              </a:rPr>
              <a:t>clubSandwich</a:t>
            </a:r>
            <a:r>
              <a:rPr lang="en-US" sz="3400" b="0" dirty="0">
                <a:latin typeface="Times New Roman"/>
                <a:cs typeface="Times New Roman"/>
              </a:rPr>
              <a:t> CR2 estimator provides reasonable bias-reduced cluster-robust variance estimator suited for datasets with small number of clusters</a:t>
            </a:r>
          </a:p>
          <a:p>
            <a:pPr marL="457200" indent="-457200" algn="l">
              <a:lnSpc>
                <a:spcPct val="100000"/>
              </a:lnSpc>
              <a:spcBef>
                <a:spcPts val="0"/>
              </a:spcBef>
              <a:spcAft>
                <a:spcPts val="600"/>
              </a:spcAft>
              <a:buSzPct val="70000"/>
              <a:buFont typeface="Wingdings" panose="05000000000000000000" pitchFamily="2" charset="2"/>
              <a:buChar char="q"/>
            </a:pPr>
            <a:r>
              <a:rPr lang="en-US" sz="3400" b="0" dirty="0">
                <a:latin typeface="Times New Roman"/>
                <a:cs typeface="Times New Roman"/>
              </a:rPr>
              <a:t>In the future, it may be best to consider other crops instead of focusing on a singular one</a:t>
            </a:r>
          </a:p>
          <a:p>
            <a:pPr marL="457200" indent="-457200" algn="l">
              <a:lnSpc>
                <a:spcPct val="100000"/>
              </a:lnSpc>
              <a:spcBef>
                <a:spcPts val="0"/>
              </a:spcBef>
              <a:spcAft>
                <a:spcPts val="600"/>
              </a:spcAft>
              <a:buSzPct val="70000"/>
              <a:buFont typeface="Wingdings" panose="05000000000000000000" pitchFamily="2" charset="2"/>
              <a:buChar char="q"/>
            </a:pPr>
            <a:r>
              <a:rPr lang="en-US" sz="3400" b="0" dirty="0">
                <a:latin typeface="Times New Roman"/>
                <a:cs typeface="Times New Roman"/>
              </a:rPr>
              <a:t>This model could be utilized regionally for crops produced in a specific geographical area</a:t>
            </a:r>
          </a:p>
          <a:p>
            <a:pPr marL="457200" indent="-457200" algn="l">
              <a:lnSpc>
                <a:spcPct val="100000"/>
              </a:lnSpc>
              <a:spcBef>
                <a:spcPts val="0"/>
              </a:spcBef>
              <a:buSzPct val="70000"/>
              <a:buFont typeface="Wingdings" panose="05000000000000000000" pitchFamily="2" charset="2"/>
              <a:buChar char="q"/>
            </a:pPr>
            <a:r>
              <a:rPr lang="en-US" sz="3400" b="0" dirty="0">
                <a:latin typeface="Times New Roman"/>
                <a:cs typeface="Times New Roman"/>
              </a:rPr>
              <a:t>This analysis may be more beneficial if it could be run as a time series model to see whether the specific growing season is affected by these variables rather than the entire year</a:t>
            </a:r>
          </a:p>
          <a:p>
            <a:pPr marL="457200" indent="-457200" algn="l">
              <a:lnSpc>
                <a:spcPct val="100000"/>
              </a:lnSpc>
              <a:spcBef>
                <a:spcPts val="0"/>
              </a:spcBef>
              <a:buSzPct val="70000"/>
              <a:buFont typeface="Wingdings" panose="05000000000000000000" pitchFamily="2" charset="2"/>
              <a:buChar char="q"/>
            </a:pPr>
            <a:r>
              <a:rPr lang="en-US" sz="3400" dirty="0">
                <a:latin typeface="Times New Roman"/>
                <a:cs typeface="Times New Roman"/>
              </a:rPr>
              <a:t>Overall, both precipitation and cooling temperature can be used to predict ~23% of corn yield on an annual basis</a:t>
            </a:r>
            <a:endParaRPr lang="en-US" sz="3400" dirty="0">
              <a:latin typeface="Arial" panose="020B0604020202020204" pitchFamily="34" charset="0"/>
              <a:cs typeface="Arial" panose="020B0604020202020204" pitchFamily="34" charset="0"/>
            </a:endParaRPr>
          </a:p>
          <a:p>
            <a:endParaRPr lang="en-US" dirty="0"/>
          </a:p>
        </p:txBody>
      </p:sp>
      <p:sp>
        <p:nvSpPr>
          <p:cNvPr id="5" name="Text Box 12">
            <a:extLst>
              <a:ext uri="{FF2B5EF4-FFF2-40B4-BE49-F238E27FC236}">
                <a16:creationId xmlns:a16="http://schemas.microsoft.com/office/drawing/2014/main" id="{CAFF9929-A1AF-B0DE-049E-B01958695374}"/>
              </a:ext>
            </a:extLst>
          </p:cNvPr>
          <p:cNvSpPr txBox="1">
            <a:spLocks noChangeArrowheads="1"/>
          </p:cNvSpPr>
          <p:nvPr/>
        </p:nvSpPr>
        <p:spPr bwMode="auto">
          <a:xfrm>
            <a:off x="32845406" y="16314572"/>
            <a:ext cx="10913173" cy="984726"/>
          </a:xfrm>
          <a:prstGeom prst="rect">
            <a:avLst/>
          </a:prstGeom>
          <a:solidFill>
            <a:srgbClr val="92D05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225903" tIns="112951" rIns="225903" bIns="112951" anchor="ctr">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80000"/>
              </a:lnSpc>
            </a:pPr>
            <a:r>
              <a:rPr lang="en-US" sz="5900"/>
              <a:t>Conclusion</a:t>
            </a:r>
          </a:p>
        </p:txBody>
      </p:sp>
      <p:pic>
        <p:nvPicPr>
          <p:cNvPr id="10" name="Picture 9">
            <a:extLst>
              <a:ext uri="{FF2B5EF4-FFF2-40B4-BE49-F238E27FC236}">
                <a16:creationId xmlns:a16="http://schemas.microsoft.com/office/drawing/2014/main" id="{24B829D5-5A27-398B-B1FA-B59E9711E974}"/>
              </a:ext>
            </a:extLst>
          </p:cNvPr>
          <p:cNvPicPr>
            <a:picLocks noChangeAspect="1"/>
          </p:cNvPicPr>
          <p:nvPr/>
        </p:nvPicPr>
        <p:blipFill>
          <a:blip r:embed="rId12"/>
          <a:stretch>
            <a:fillRect/>
          </a:stretch>
        </p:blipFill>
        <p:spPr>
          <a:xfrm>
            <a:off x="22163162" y="25066679"/>
            <a:ext cx="10310935" cy="6657135"/>
          </a:xfrm>
          <a:prstGeom prst="rect">
            <a:avLst/>
          </a:prstGeom>
          <a:solidFill>
            <a:srgbClr val="FFFFFF">
              <a:shade val="85000"/>
            </a:srgbClr>
          </a:solidFill>
          <a:ln w="88900" cap="sq">
            <a:solidFill>
              <a:srgbClr val="A3D977"/>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a:extLst>
              <a:ext uri="{FF2B5EF4-FFF2-40B4-BE49-F238E27FC236}">
                <a16:creationId xmlns:a16="http://schemas.microsoft.com/office/drawing/2014/main" id="{A5480220-7645-8CC0-7BFD-924F61AD0D9E}"/>
              </a:ext>
            </a:extLst>
          </p:cNvPr>
          <p:cNvPicPr>
            <a:picLocks noChangeAspect="1"/>
          </p:cNvPicPr>
          <p:nvPr/>
        </p:nvPicPr>
        <p:blipFill>
          <a:blip r:embed="rId13"/>
          <a:stretch>
            <a:fillRect/>
          </a:stretch>
        </p:blipFill>
        <p:spPr>
          <a:xfrm>
            <a:off x="11754822" y="17252876"/>
            <a:ext cx="10125678" cy="6657135"/>
          </a:xfrm>
          <a:prstGeom prst="rect">
            <a:avLst/>
          </a:prstGeom>
          <a:solidFill>
            <a:srgbClr val="FFFFFF">
              <a:shade val="85000"/>
            </a:srgbClr>
          </a:solidFill>
          <a:ln w="88900" cap="sq">
            <a:solidFill>
              <a:srgbClr val="A3D977"/>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a:extLst>
              <a:ext uri="{FF2B5EF4-FFF2-40B4-BE49-F238E27FC236}">
                <a16:creationId xmlns:a16="http://schemas.microsoft.com/office/drawing/2014/main" id="{9E5756E5-BB40-E155-D06B-01737EC5B60F}"/>
              </a:ext>
            </a:extLst>
          </p:cNvPr>
          <p:cNvPicPr>
            <a:picLocks noChangeAspect="1"/>
          </p:cNvPicPr>
          <p:nvPr/>
        </p:nvPicPr>
        <p:blipFill>
          <a:blip r:embed="rId14"/>
          <a:stretch>
            <a:fillRect/>
          </a:stretch>
        </p:blipFill>
        <p:spPr>
          <a:xfrm>
            <a:off x="22163162" y="17270122"/>
            <a:ext cx="10219574" cy="6620149"/>
          </a:xfrm>
          <a:prstGeom prst="rect">
            <a:avLst/>
          </a:prstGeom>
          <a:solidFill>
            <a:srgbClr val="FFFFFF">
              <a:shade val="85000"/>
            </a:srgbClr>
          </a:solidFill>
          <a:ln w="88900" cap="sq">
            <a:solidFill>
              <a:srgbClr val="A3D977"/>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9561EC43546745A13D062A6DD50340" ma:contentTypeVersion="3" ma:contentTypeDescription="Create a new document." ma:contentTypeScope="" ma:versionID="61344b80038f21155085c024813405c8">
  <xsd:schema xmlns:xsd="http://www.w3.org/2001/XMLSchema" xmlns:xs="http://www.w3.org/2001/XMLSchema" xmlns:p="http://schemas.microsoft.com/office/2006/metadata/properties" xmlns:ns2="367f84f8-30f3-4756-95ce-8501dd123950" targetNamespace="http://schemas.microsoft.com/office/2006/metadata/properties" ma:root="true" ma:fieldsID="8371fe9c365766b0eebd122acef627de" ns2:_="">
    <xsd:import namespace="367f84f8-30f3-4756-95ce-8501dd12395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7f84f8-30f3-4756-95ce-8501dd1239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90BEE7F-6874-40A0-A438-136AC0326E3C}">
  <ds:schemaRefs>
    <ds:schemaRef ds:uri="367f84f8-30f3-4756-95ce-8501dd12395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AA3DD0C-2D5D-40AC-998D-67FCD2232518}">
  <ds:schemaRefs>
    <ds:schemaRef ds:uri="http://schemas.microsoft.com/sharepoint/v3/contenttype/forms"/>
  </ds:schemaRefs>
</ds:datastoreItem>
</file>

<file path=customXml/itemProps3.xml><?xml version="1.0" encoding="utf-8"?>
<ds:datastoreItem xmlns:ds="http://schemas.openxmlformats.org/officeDocument/2006/customXml" ds:itemID="{27595E43-D6A4-46B4-B14A-F7767C69EE94}">
  <ds:schemaRefs>
    <ds:schemaRef ds:uri="367f84f8-30f3-4756-95ce-8501dd123950"/>
    <ds:schemaRef ds:uri="http://schemas.openxmlformats.org/package/2006/metadata/core-properties"/>
    <ds:schemaRef ds:uri="http://purl.org/dc/terms/"/>
    <ds:schemaRef ds:uri="http://schemas.microsoft.com/office/2006/metadata/properties"/>
    <ds:schemaRef ds:uri="http://schemas.microsoft.com/office/infopath/2007/PartnerControls"/>
    <ds:schemaRef ds:uri="http://schemas.microsoft.com/office/2006/documentManagement/types"/>
    <ds:schemaRef ds:uri="http://www.w3.org/XML/1998/namespace"/>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1057</TotalTime>
  <Words>1164</Words>
  <Application>Microsoft Office PowerPoint</Application>
  <PresentationFormat>Custom</PresentationFormat>
  <Paragraphs>88</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Cambria Math</vt:lpstr>
      <vt:lpstr>Courier New</vt:lpstr>
      <vt:lpstr>Times New Roman</vt:lpstr>
      <vt:lpstr>Wingdings</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Stephen J. Kinzey, Ph.D.</dc:creator>
  <cp:lastModifiedBy>Amanda Giddings</cp:lastModifiedBy>
  <cp:revision>8</cp:revision>
  <dcterms:created xsi:type="dcterms:W3CDTF">1999-06-15T14:29:13Z</dcterms:created>
  <dcterms:modified xsi:type="dcterms:W3CDTF">2025-11-20T03:24:45Z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0x010100DE9561EC43546745A13D062A6DD50340</vt:lpwstr>
  </property>
</Properties>
</file>