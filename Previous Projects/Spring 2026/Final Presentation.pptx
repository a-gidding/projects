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0F_72952541.xml" ContentType="application/vnd.ms-powerpoint.comments+xml"/>
  <Override PartName="/ppt/notesSlides/notesSlide2.xml" ContentType="application/vnd.openxmlformats-officedocument.presentationml.notesSlide+xml"/>
  <Override PartName="/ppt/comments/modernComment_102_FDC64558.xml" ContentType="application/vnd.ms-powerpoint.comments+xml"/>
  <Override PartName="/ppt/notesSlides/notesSlide3.xml" ContentType="application/vnd.openxmlformats-officedocument.presentationml.notesSlide+xml"/>
  <Override PartName="/ppt/comments/modernComment_111_6EF89288.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09_DC174367.xml" ContentType="application/vnd.ms-powerpoint.comments+xml"/>
  <Override PartName="/ppt/notesSlides/notesSlide10.xml" ContentType="application/vnd.openxmlformats-officedocument.presentationml.notesSlide+xml"/>
  <Override PartName="/ppt/comments/modernComment_123_4E6A28AB.xml" ContentType="application/vnd.ms-powerpoint.comments+xml"/>
  <Override PartName="/ppt/notesSlides/notesSlide11.xml" ContentType="application/vnd.openxmlformats-officedocument.presentationml.notesSlide+xml"/>
  <Override PartName="/ppt/comments/modernComment_107_23EBA463.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08_5A13A557.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modernComment_10D_A6A2AFE8.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9" r:id="rId4"/>
  </p:sldMasterIdLst>
  <p:notesMasterIdLst>
    <p:notesMasterId r:id="rId36"/>
  </p:notesMasterIdLst>
  <p:handoutMasterIdLst>
    <p:handoutMasterId r:id="rId37"/>
  </p:handoutMasterIdLst>
  <p:sldIdLst>
    <p:sldId id="256" r:id="rId5"/>
    <p:sldId id="271" r:id="rId6"/>
    <p:sldId id="258" r:id="rId7"/>
    <p:sldId id="273" r:id="rId8"/>
    <p:sldId id="282" r:id="rId9"/>
    <p:sldId id="277" r:id="rId10"/>
    <p:sldId id="288" r:id="rId11"/>
    <p:sldId id="289" r:id="rId12"/>
    <p:sldId id="293" r:id="rId13"/>
    <p:sldId id="283" r:id="rId14"/>
    <p:sldId id="265" r:id="rId15"/>
    <p:sldId id="268" r:id="rId16"/>
    <p:sldId id="267" r:id="rId17"/>
    <p:sldId id="290" r:id="rId18"/>
    <p:sldId id="291" r:id="rId19"/>
    <p:sldId id="292" r:id="rId20"/>
    <p:sldId id="294" r:id="rId21"/>
    <p:sldId id="266" r:id="rId22"/>
    <p:sldId id="263" r:id="rId23"/>
    <p:sldId id="280" r:id="rId24"/>
    <p:sldId id="264" r:id="rId25"/>
    <p:sldId id="281" r:id="rId26"/>
    <p:sldId id="278" r:id="rId27"/>
    <p:sldId id="274" r:id="rId28"/>
    <p:sldId id="261" r:id="rId29"/>
    <p:sldId id="284" r:id="rId30"/>
    <p:sldId id="260" r:id="rId31"/>
    <p:sldId id="259" r:id="rId32"/>
    <p:sldId id="275" r:id="rId33"/>
    <p:sldId id="269" r:id="rId34"/>
    <p:sldId id="26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430B72E7-9E53-4A62-5E92-8097EA0E7DBD}" name="An Truong" initials="AT" userId="S::ntruong6@students.kennesaw.edu::2ac3cafc-59b0-4a22-a1c0-c252711fba3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500"/>
    <a:srgbClr val="FABF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9CC589-438E-74AE-7AF6-505D559E0914}" v="8" dt="2026-04-30T01:37:16.053"/>
    <p1510:client id="{A32D165C-810A-4BCB-9CC1-61BE3135074C}" v="99" dt="2026-04-30T02:38:38.628"/>
    <p1510:client id="{CE01E0DD-E0F1-4834-BB71-DCC9B05F00E0}" v="139" dt="2026-04-30T03:01:41.4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omments/modernComment_10D_A6A2AFE8.xml><?xml version="1.0" encoding="utf-8"?>
<p188:cmLst xmlns:a="http://schemas.openxmlformats.org/drawingml/2006/main" xmlns:r="http://schemas.openxmlformats.org/officeDocument/2006/relationships" xmlns:p188="http://schemas.microsoft.com/office/powerpoint/2018/8/main">
  <p188:cm id="{060139BD-7F6A-4743-A96F-E6845202C60E}" authorId="{430B72E7-9E53-4A62-5E92-8097EA0E7DBD}" created="2026-04-13T17:08:52.446">
    <pc:sldMkLst xmlns:pc="http://schemas.microsoft.com/office/powerpoint/2013/main/command">
      <pc:docMk/>
      <pc:sldMk cId="2795679720" sldId="269"/>
    </pc:sldMkLst>
    <p188:txBody>
      <a:bodyPr/>
      <a:lstStyle/>
      <a:p>
        <a:r>
          <a:rPr lang="en-US"/>
          <a:t>Amanda</a:t>
        </a:r>
      </a:p>
    </p188:txBody>
  </p188:cm>
</p188:cmLst>
</file>

<file path=ppt/comments/modernComment_10F_72952541.xml><?xml version="1.0" encoding="utf-8"?>
<p188:cmLst xmlns:a="http://schemas.openxmlformats.org/drawingml/2006/main" xmlns:r="http://schemas.openxmlformats.org/officeDocument/2006/relationships" xmlns:p188="http://schemas.microsoft.com/office/powerpoint/2018/8/main">
  <p188:cm id="{D2D630E4-EBEE-41C7-8564-F3AEEDD5F6CF}" authorId="{430B72E7-9E53-4A62-5E92-8097EA0E7DBD}" created="2026-04-13T17:10:54.236">
    <pc:sldMkLst xmlns:pc="http://schemas.microsoft.com/office/powerpoint/2013/main/command">
      <pc:docMk/>
      <pc:sldMk cId="1922377025" sldId="271"/>
    </pc:sldMkLst>
    <p188:txBody>
      <a:bodyPr/>
      <a:lstStyle/>
      <a:p>
        <a:r>
          <a:rPr lang="en-US"/>
          <a:t>Daniel</a:t>
        </a:r>
      </a:p>
    </p188:txBody>
  </p188:cm>
</p188:cmLst>
</file>

<file path=ppt/comments/modernComment_102_FDC64558.xml><?xml version="1.0" encoding="utf-8"?>
<p188:cmLst xmlns:a="http://schemas.openxmlformats.org/drawingml/2006/main" xmlns:r="http://schemas.openxmlformats.org/officeDocument/2006/relationships" xmlns:p188="http://schemas.microsoft.com/office/powerpoint/2018/8/main">
  <p188:cm id="{53277DD3-429F-4CB1-A769-0F3C82D4644D}" authorId="{430B72E7-9E53-4A62-5E92-8097EA0E7DBD}" created="2026-04-13T17:07:30.618">
    <pc:sldMkLst xmlns:pc="http://schemas.microsoft.com/office/powerpoint/2013/main/command">
      <pc:docMk/>
      <pc:sldMk cId="4257629528" sldId="258"/>
    </pc:sldMkLst>
    <p188:txBody>
      <a:bodyPr/>
      <a:lstStyle/>
      <a:p>
        <a:r>
          <a:rPr lang="en-US"/>
          <a:t>Daniel </a:t>
        </a:r>
      </a:p>
    </p188:txBody>
  </p188:cm>
</p188:cmLst>
</file>

<file path=ppt/comments/modernComment_107_23EBA463.xml><?xml version="1.0" encoding="utf-8"?>
<p188:cmLst xmlns:a="http://schemas.openxmlformats.org/drawingml/2006/main" xmlns:r="http://schemas.openxmlformats.org/officeDocument/2006/relationships" xmlns:p188="http://schemas.microsoft.com/office/powerpoint/2018/8/main">
  <p188:cm id="{36C34D8C-C6F7-48EC-9DC4-C6AC6F754BFA}" authorId="{430B72E7-9E53-4A62-5E92-8097EA0E7DBD}" created="2026-04-13T17:09:06.649">
    <pc:sldMkLst xmlns:pc="http://schemas.microsoft.com/office/powerpoint/2013/main/command">
      <pc:docMk/>
      <pc:sldMk cId="602645603" sldId="263"/>
    </pc:sldMkLst>
    <p188:replyLst>
      <p188:reply id="{DD1DF8CF-C093-9A4D-93BC-14D9093161BC}" authorId="{430B72E7-9E53-4A62-5E92-8097EA0E7DBD}" created="2026-04-28T22:53:34.003">
        <p188:txBody>
          <a:bodyPr/>
          <a:lstStyle/>
          <a:p>
            <a:r>
              <a:rPr lang="en-US"/>
              <a:t>https://drive.google.com/drive/u/1/folders/1tQ9mYLzNqoF5j1OJVne2NnBAx2H-ei2G
</a:t>
            </a:r>
          </a:p>
        </p188:txBody>
      </p188:reply>
    </p188:replyLst>
    <p188:txBody>
      <a:bodyPr/>
      <a:lstStyle/>
      <a:p>
        <a:r>
          <a:rPr lang="en-US"/>
          <a:t>Daniel</a:t>
        </a:r>
      </a:p>
    </p188:txBody>
  </p188:cm>
</p188:cmLst>
</file>

<file path=ppt/comments/modernComment_108_5A13A557.xml><?xml version="1.0" encoding="utf-8"?>
<p188:cmLst xmlns:a="http://schemas.openxmlformats.org/drawingml/2006/main" xmlns:r="http://schemas.openxmlformats.org/officeDocument/2006/relationships" xmlns:p188="http://schemas.microsoft.com/office/powerpoint/2018/8/main">
  <p188:cm id="{98738418-391D-4CAB-B7D2-F626BFE4ABA2}" authorId="{430B72E7-9E53-4A62-5E92-8097EA0E7DBD}" created="2026-04-13T17:10:46.874">
    <pc:sldMkLst xmlns:pc="http://schemas.microsoft.com/office/powerpoint/2013/main/command">
      <pc:docMk/>
      <pc:sldMk cId="1511236951" sldId="264"/>
    </pc:sldMkLst>
    <p188:txBody>
      <a:bodyPr/>
      <a:lstStyle/>
      <a:p>
        <a:r>
          <a:rPr lang="en-US"/>
          <a:t>Daniel</a:t>
        </a:r>
      </a:p>
    </p188:txBody>
  </p188:cm>
</p188:cmLst>
</file>

<file path=ppt/comments/modernComment_109_DC174367.xml><?xml version="1.0" encoding="utf-8"?>
<p188:cmLst xmlns:a="http://schemas.openxmlformats.org/drawingml/2006/main" xmlns:r="http://schemas.openxmlformats.org/officeDocument/2006/relationships" xmlns:p188="http://schemas.microsoft.com/office/powerpoint/2018/8/main">
  <p188:cm id="{C152C28B-B469-4237-92F2-17F568534529}" authorId="{430B72E7-9E53-4A62-5E92-8097EA0E7DBD}" created="2026-04-13T17:08:59.839">
    <pc:sldMkLst xmlns:pc="http://schemas.microsoft.com/office/powerpoint/2013/main/command">
      <pc:docMk/>
      <pc:sldMk cId="3692512103" sldId="265"/>
    </pc:sldMkLst>
    <p188:txBody>
      <a:bodyPr/>
      <a:lstStyle/>
      <a:p>
        <a:r>
          <a:rPr lang="en-US"/>
          <a:t>Amanda</a:t>
        </a:r>
      </a:p>
    </p188:txBody>
  </p188:cm>
</p188:cmLst>
</file>

<file path=ppt/comments/modernComment_111_6EF89288.xml><?xml version="1.0" encoding="utf-8"?>
<p188:cmLst xmlns:a="http://schemas.openxmlformats.org/drawingml/2006/main" xmlns:r="http://schemas.openxmlformats.org/officeDocument/2006/relationships" xmlns:p188="http://schemas.microsoft.com/office/powerpoint/2018/8/main">
  <p188:cm id="{78C26B01-A510-4DB4-B6EE-BCA353455C30}" authorId="{430B72E7-9E53-4A62-5E92-8097EA0E7DBD}" created="2026-04-13T17:07:47.302">
    <pc:sldMkLst xmlns:pc="http://schemas.microsoft.com/office/powerpoint/2013/main/command">
      <pc:docMk/>
      <pc:sldMk cId="1861784200" sldId="273"/>
    </pc:sldMkLst>
    <p188:txBody>
      <a:bodyPr/>
      <a:lstStyle/>
      <a:p>
        <a:r>
          <a:rPr lang="en-US"/>
          <a:t>An</a:t>
        </a:r>
      </a:p>
    </p188:txBody>
  </p188:cm>
</p188:cmLst>
</file>

<file path=ppt/comments/modernComment_123_4E6A28AB.xml><?xml version="1.0" encoding="utf-8"?>
<p188:cmLst xmlns:a="http://schemas.openxmlformats.org/drawingml/2006/main" xmlns:r="http://schemas.openxmlformats.org/officeDocument/2006/relationships" xmlns:p188="http://schemas.microsoft.com/office/powerpoint/2018/8/main">
  <p188:cm id="{79C61626-ED8A-F54D-9948-54D379016915}" authorId="{430B72E7-9E53-4A62-5E92-8097EA0E7DBD}" created="2026-04-28T22:39:30.128">
    <pc:sldMkLst xmlns:pc="http://schemas.microsoft.com/office/powerpoint/2013/main/command">
      <pc:docMk/>
      <pc:sldMk cId="1315580075" sldId="291"/>
    </pc:sldMkLst>
    <p188:replyLst>
      <p188:reply id="{003776D2-90DF-3146-9FB1-AD907343243C}" authorId="{430B72E7-9E53-4A62-5E92-8097EA0E7DBD}" created="2026-04-28T22:45:03.185">
        <p188:txBody>
          <a:bodyPr/>
          <a:lstStyle/>
          <a:p>
            <a:r>
              <a:rPr lang="en-US"/>
              <a:t>claims by NOL dates</a:t>
            </a:r>
          </a:p>
        </p188:txBody>
      </p188:reply>
      <p188:reply id="{A73E2A45-C7C2-3F45-A490-A6FA85A469CF}" authorId="{430B72E7-9E53-4A62-5E92-8097EA0E7DBD}" created="2026-04-28T22:47:31.748">
        <p188:txBody>
          <a:bodyPr/>
          <a:lstStyle/>
          <a:p>
            <a:r>
              <a:rPr lang="en-US"/>
              <a:t>travel preferences by skill levels, preferred tour length, org group and divisions to extract adjusters' location</a:t>
            </a:r>
          </a:p>
        </p188:txBody>
      </p188:reply>
    </p188:replyLst>
    <p188:txBody>
      <a:bodyPr/>
      <a:lstStyle/>
      <a:p>
        <a:r>
          <a:rPr lang="en-US"/>
          <a:t>frequency table of CAT severity (before and after), skill levels (PL vs CL)</a:t>
        </a:r>
      </a:p>
    </p188:txBody>
  </p188:cm>
</p188:cmLst>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4F9376-2665-4756-8AB3-1D8061608C48}" type="doc">
      <dgm:prSet loTypeId="urn:diagrams.loki3.com/BracketList" loCatId="list" qsTypeId="urn:microsoft.com/office/officeart/2005/8/quickstyle/simple1" qsCatId="simple" csTypeId="urn:microsoft.com/office/officeart/2005/8/colors/accent1_1" csCatId="accent1" phldr="1"/>
      <dgm:spPr/>
      <dgm:t>
        <a:bodyPr/>
        <a:lstStyle/>
        <a:p>
          <a:endParaRPr lang="en-US"/>
        </a:p>
      </dgm:t>
    </dgm:pt>
    <dgm:pt modelId="{1C4134B8-C3C4-479B-A443-BA80679ADE22}">
      <dgm:prSet phldrT="[Text]" phldr="0" custT="1"/>
      <dgm:spPr/>
      <dgm:t>
        <a:bodyPr/>
        <a:lstStyle/>
        <a:p>
          <a:r>
            <a:rPr lang="en-US" sz="3200">
              <a:latin typeface="Arial" panose="020B0604020202020204" pitchFamily="34" charset="0"/>
              <a:cs typeface="Arial" panose="020B0604020202020204" pitchFamily="34" charset="0"/>
            </a:rPr>
            <a:t>Approach</a:t>
          </a:r>
        </a:p>
      </dgm:t>
    </dgm:pt>
    <dgm:pt modelId="{F6400EF9-6CCC-44FF-B1C6-1C4D14ADE76B}" type="parTrans" cxnId="{276E29DD-A5C9-46CA-AF02-5DF391E108C8}">
      <dgm:prSet/>
      <dgm:spPr/>
      <dgm:t>
        <a:bodyPr/>
        <a:lstStyle/>
        <a:p>
          <a:endParaRPr lang="en-US" sz="3200">
            <a:latin typeface="Arial" panose="020B0604020202020204" pitchFamily="34" charset="0"/>
            <a:cs typeface="Arial" panose="020B0604020202020204" pitchFamily="34" charset="0"/>
          </a:endParaRPr>
        </a:p>
      </dgm:t>
    </dgm:pt>
    <dgm:pt modelId="{D5833991-3137-4099-9F60-02941310CD2D}" type="sibTrans" cxnId="{276E29DD-A5C9-46CA-AF02-5DF391E108C8}">
      <dgm:prSet/>
      <dgm:spPr/>
      <dgm:t>
        <a:bodyPr/>
        <a:lstStyle/>
        <a:p>
          <a:endParaRPr lang="en-US" sz="3200">
            <a:latin typeface="Arial" panose="020B0604020202020204" pitchFamily="34" charset="0"/>
            <a:cs typeface="Arial" panose="020B0604020202020204" pitchFamily="34" charset="0"/>
          </a:endParaRPr>
        </a:p>
      </dgm:t>
    </dgm:pt>
    <dgm:pt modelId="{7A555F98-EE99-4523-8164-43696BD08E50}">
      <dgm:prSet phldrT="[Text]" phldr="0" custT="1"/>
      <dgm:spPr/>
      <dgm:t>
        <a:bodyPr/>
        <a:lstStyle/>
        <a:p>
          <a:r>
            <a:rPr lang="en-US" sz="3200">
              <a:latin typeface="Arial" panose="020B0604020202020204" pitchFamily="34" charset="0"/>
              <a:cs typeface="Arial" panose="020B0604020202020204" pitchFamily="34" charset="0"/>
            </a:rPr>
            <a:t>Optimized adjuster-claim solution</a:t>
          </a:r>
        </a:p>
      </dgm:t>
    </dgm:pt>
    <dgm:pt modelId="{53656FD4-ABDB-4771-A852-201E47644D5A}" type="parTrans" cxnId="{51E348F6-AEE9-4A3C-A846-F78C0DBDF426}">
      <dgm:prSet/>
      <dgm:spPr/>
      <dgm:t>
        <a:bodyPr/>
        <a:lstStyle/>
        <a:p>
          <a:endParaRPr lang="en-US" sz="3200">
            <a:latin typeface="Arial" panose="020B0604020202020204" pitchFamily="34" charset="0"/>
            <a:cs typeface="Arial" panose="020B0604020202020204" pitchFamily="34" charset="0"/>
          </a:endParaRPr>
        </a:p>
      </dgm:t>
    </dgm:pt>
    <dgm:pt modelId="{DAEB14CB-ECB6-466D-BBAB-751E564B5F56}" type="sibTrans" cxnId="{51E348F6-AEE9-4A3C-A846-F78C0DBDF426}">
      <dgm:prSet/>
      <dgm:spPr/>
      <dgm:t>
        <a:bodyPr/>
        <a:lstStyle/>
        <a:p>
          <a:endParaRPr lang="en-US" sz="3200">
            <a:latin typeface="Arial" panose="020B0604020202020204" pitchFamily="34" charset="0"/>
            <a:cs typeface="Arial" panose="020B0604020202020204" pitchFamily="34" charset="0"/>
          </a:endParaRPr>
        </a:p>
      </dgm:t>
    </dgm:pt>
    <dgm:pt modelId="{C6403D1A-7BCE-44D9-8C33-7F40DB8F6C90}" type="pres">
      <dgm:prSet presAssocID="{0A4F9376-2665-4756-8AB3-1D8061608C48}" presName="Name0" presStyleCnt="0">
        <dgm:presLayoutVars>
          <dgm:dir/>
          <dgm:animLvl val="lvl"/>
          <dgm:resizeHandles val="exact"/>
        </dgm:presLayoutVars>
      </dgm:prSet>
      <dgm:spPr/>
    </dgm:pt>
    <dgm:pt modelId="{F0015CC2-0574-410E-8B6D-F9B1BC949E7B}" type="pres">
      <dgm:prSet presAssocID="{1C4134B8-C3C4-479B-A443-BA80679ADE22}" presName="linNode" presStyleCnt="0"/>
      <dgm:spPr/>
    </dgm:pt>
    <dgm:pt modelId="{2DCA1C52-DD7A-4D62-B6DD-BA5018C58306}" type="pres">
      <dgm:prSet presAssocID="{1C4134B8-C3C4-479B-A443-BA80679ADE22}" presName="parTx" presStyleLbl="revTx" presStyleIdx="0" presStyleCnt="1">
        <dgm:presLayoutVars>
          <dgm:chMax val="1"/>
          <dgm:bulletEnabled val="1"/>
        </dgm:presLayoutVars>
      </dgm:prSet>
      <dgm:spPr/>
    </dgm:pt>
    <dgm:pt modelId="{1E428D31-2FD4-439A-A8B7-A8E5CF0ED4F5}" type="pres">
      <dgm:prSet presAssocID="{1C4134B8-C3C4-479B-A443-BA80679ADE22}" presName="bracket" presStyleLbl="parChTrans1D1" presStyleIdx="0" presStyleCnt="1"/>
      <dgm:spPr/>
    </dgm:pt>
    <dgm:pt modelId="{1E57B390-689F-4DCA-85B1-4FEE5129B3D9}" type="pres">
      <dgm:prSet presAssocID="{1C4134B8-C3C4-479B-A443-BA80679ADE22}" presName="spH" presStyleCnt="0"/>
      <dgm:spPr/>
    </dgm:pt>
    <dgm:pt modelId="{3D59C037-4D0F-42A0-8F6D-90CF57A7A7C7}" type="pres">
      <dgm:prSet presAssocID="{1C4134B8-C3C4-479B-A443-BA80679ADE22}" presName="desTx" presStyleLbl="node1" presStyleIdx="0" presStyleCnt="1">
        <dgm:presLayoutVars>
          <dgm:bulletEnabled val="1"/>
        </dgm:presLayoutVars>
      </dgm:prSet>
      <dgm:spPr/>
    </dgm:pt>
  </dgm:ptLst>
  <dgm:cxnLst>
    <dgm:cxn modelId="{1D10C46A-C54A-42A3-84D7-BF3E8A58DCA8}" type="presOf" srcId="{1C4134B8-C3C4-479B-A443-BA80679ADE22}" destId="{2DCA1C52-DD7A-4D62-B6DD-BA5018C58306}" srcOrd="0" destOrd="0" presId="urn:diagrams.loki3.com/BracketList"/>
    <dgm:cxn modelId="{672B6FDC-BC93-4D6A-BB43-88C628504ECD}" type="presOf" srcId="{7A555F98-EE99-4523-8164-43696BD08E50}" destId="{3D59C037-4D0F-42A0-8F6D-90CF57A7A7C7}" srcOrd="0" destOrd="0" presId="urn:diagrams.loki3.com/BracketList"/>
    <dgm:cxn modelId="{276E29DD-A5C9-46CA-AF02-5DF391E108C8}" srcId="{0A4F9376-2665-4756-8AB3-1D8061608C48}" destId="{1C4134B8-C3C4-479B-A443-BA80679ADE22}" srcOrd="0" destOrd="0" parTransId="{F6400EF9-6CCC-44FF-B1C6-1C4D14ADE76B}" sibTransId="{D5833991-3137-4099-9F60-02941310CD2D}"/>
    <dgm:cxn modelId="{A96856DE-26B3-4960-A1F2-7E9FCA2D0D51}" type="presOf" srcId="{0A4F9376-2665-4756-8AB3-1D8061608C48}" destId="{C6403D1A-7BCE-44D9-8C33-7F40DB8F6C90}" srcOrd="0" destOrd="0" presId="urn:diagrams.loki3.com/BracketList"/>
    <dgm:cxn modelId="{51E348F6-AEE9-4A3C-A846-F78C0DBDF426}" srcId="{1C4134B8-C3C4-479B-A443-BA80679ADE22}" destId="{7A555F98-EE99-4523-8164-43696BD08E50}" srcOrd="0" destOrd="0" parTransId="{53656FD4-ABDB-4771-A852-201E47644D5A}" sibTransId="{DAEB14CB-ECB6-466D-BBAB-751E564B5F56}"/>
    <dgm:cxn modelId="{9A91136B-0668-40B9-9448-B51D93665CEB}" type="presParOf" srcId="{C6403D1A-7BCE-44D9-8C33-7F40DB8F6C90}" destId="{F0015CC2-0574-410E-8B6D-F9B1BC949E7B}" srcOrd="0" destOrd="0" presId="urn:diagrams.loki3.com/BracketList"/>
    <dgm:cxn modelId="{8436BEC9-561F-4021-9AC7-0BA284215F22}" type="presParOf" srcId="{F0015CC2-0574-410E-8B6D-F9B1BC949E7B}" destId="{2DCA1C52-DD7A-4D62-B6DD-BA5018C58306}" srcOrd="0" destOrd="0" presId="urn:diagrams.loki3.com/BracketList"/>
    <dgm:cxn modelId="{0C9CC5A9-2BD1-4476-A109-2A073569C4B7}" type="presParOf" srcId="{F0015CC2-0574-410E-8B6D-F9B1BC949E7B}" destId="{1E428D31-2FD4-439A-A8B7-A8E5CF0ED4F5}" srcOrd="1" destOrd="0" presId="urn:diagrams.loki3.com/BracketList"/>
    <dgm:cxn modelId="{039FF856-184E-41EB-B731-9896946E5AA4}" type="presParOf" srcId="{F0015CC2-0574-410E-8B6D-F9B1BC949E7B}" destId="{1E57B390-689F-4DCA-85B1-4FEE5129B3D9}" srcOrd="2" destOrd="0" presId="urn:diagrams.loki3.com/BracketList"/>
    <dgm:cxn modelId="{71B50D82-98DF-4300-BD33-3DB86D1A61DE}" type="presParOf" srcId="{F0015CC2-0574-410E-8B6D-F9B1BC949E7B}" destId="{3D59C037-4D0F-42A0-8F6D-90CF57A7A7C7}" srcOrd="3" destOrd="0" presId="urn:diagrams.loki3.com/Bracke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4F9376-2665-4756-8AB3-1D8061608C48}" type="doc">
      <dgm:prSet loTypeId="urn:diagrams.loki3.com/BracketList" loCatId="list" qsTypeId="urn:microsoft.com/office/officeart/2005/8/quickstyle/simple1" qsCatId="simple" csTypeId="urn:microsoft.com/office/officeart/2005/8/colors/accent1_1" csCatId="accent1" phldr="1"/>
      <dgm:spPr/>
      <dgm:t>
        <a:bodyPr/>
        <a:lstStyle/>
        <a:p>
          <a:endParaRPr lang="en-US"/>
        </a:p>
      </dgm:t>
    </dgm:pt>
    <dgm:pt modelId="{0846B8A3-7DC7-4F20-91DC-2F5E940BF415}">
      <dgm:prSet phldrT="[Text]" phldr="0" custT="1"/>
      <dgm:spPr/>
      <dgm:t>
        <a:bodyPr/>
        <a:lstStyle/>
        <a:p>
          <a:r>
            <a:rPr lang="en-US" sz="3200">
              <a:latin typeface="Arial" panose="020B0604020202020204" pitchFamily="34" charset="0"/>
              <a:cs typeface="Arial" panose="020B0604020202020204" pitchFamily="34" charset="0"/>
            </a:rPr>
            <a:t>Problem</a:t>
          </a:r>
        </a:p>
      </dgm:t>
    </dgm:pt>
    <dgm:pt modelId="{28F8F7C8-2921-4AB5-9610-27FF00D71B0E}" type="parTrans" cxnId="{638A02EE-1835-4582-87A8-2E07352C62B6}">
      <dgm:prSet/>
      <dgm:spPr/>
      <dgm:t>
        <a:bodyPr/>
        <a:lstStyle/>
        <a:p>
          <a:endParaRPr lang="en-US" sz="3200">
            <a:latin typeface="Arial" panose="020B0604020202020204" pitchFamily="34" charset="0"/>
            <a:cs typeface="Arial" panose="020B0604020202020204" pitchFamily="34" charset="0"/>
          </a:endParaRPr>
        </a:p>
      </dgm:t>
    </dgm:pt>
    <dgm:pt modelId="{3CC33081-63F2-4AA2-901C-3CA23BF2D427}" type="sibTrans" cxnId="{638A02EE-1835-4582-87A8-2E07352C62B6}">
      <dgm:prSet/>
      <dgm:spPr/>
      <dgm:t>
        <a:bodyPr/>
        <a:lstStyle/>
        <a:p>
          <a:endParaRPr lang="en-US" sz="3200">
            <a:latin typeface="Arial" panose="020B0604020202020204" pitchFamily="34" charset="0"/>
            <a:cs typeface="Arial" panose="020B0604020202020204" pitchFamily="34" charset="0"/>
          </a:endParaRPr>
        </a:p>
      </dgm:t>
    </dgm:pt>
    <dgm:pt modelId="{139536C6-3836-4F08-8FF2-FEA3F234C7D5}">
      <dgm:prSet phldrT="[Text]" phldr="0" custT="1"/>
      <dgm:spPr/>
      <dgm:t>
        <a:bodyPr/>
        <a:lstStyle/>
        <a:p>
          <a:r>
            <a:rPr lang="en-US" sz="3200">
              <a:latin typeface="Arial" panose="020B0604020202020204" pitchFamily="34" charset="0"/>
              <a:cs typeface="Arial" panose="020B0604020202020204" pitchFamily="34" charset="0"/>
            </a:rPr>
            <a:t>Adjuster Shortages</a:t>
          </a:r>
        </a:p>
      </dgm:t>
    </dgm:pt>
    <dgm:pt modelId="{6B8B25B9-3C29-438F-BDAE-06C34346D12B}" type="parTrans" cxnId="{FE9E2C61-1EFF-43C6-B48E-D31C2CCFD990}">
      <dgm:prSet/>
      <dgm:spPr/>
      <dgm:t>
        <a:bodyPr/>
        <a:lstStyle/>
        <a:p>
          <a:endParaRPr lang="en-US" sz="3200">
            <a:latin typeface="Arial" panose="020B0604020202020204" pitchFamily="34" charset="0"/>
            <a:cs typeface="Arial" panose="020B0604020202020204" pitchFamily="34" charset="0"/>
          </a:endParaRPr>
        </a:p>
      </dgm:t>
    </dgm:pt>
    <dgm:pt modelId="{D6BEBAA5-06FD-40D3-9247-E882333E5DEE}" type="sibTrans" cxnId="{FE9E2C61-1EFF-43C6-B48E-D31C2CCFD990}">
      <dgm:prSet/>
      <dgm:spPr/>
      <dgm:t>
        <a:bodyPr/>
        <a:lstStyle/>
        <a:p>
          <a:endParaRPr lang="en-US" sz="3200">
            <a:latin typeface="Arial" panose="020B0604020202020204" pitchFamily="34" charset="0"/>
            <a:cs typeface="Arial" panose="020B0604020202020204" pitchFamily="34" charset="0"/>
          </a:endParaRPr>
        </a:p>
      </dgm:t>
    </dgm:pt>
    <dgm:pt modelId="{F74681DB-317F-45F4-B8B9-887B30CADEEA}">
      <dgm:prSet phldrT="[Text]" phldr="0" custT="1"/>
      <dgm:spPr/>
      <dgm:t>
        <a:bodyPr/>
        <a:lstStyle/>
        <a:p>
          <a:r>
            <a:rPr lang="en-US" sz="3200">
              <a:latin typeface="Arial" panose="020B0604020202020204" pitchFamily="34" charset="0"/>
              <a:cs typeface="Arial" panose="020B0604020202020204" pitchFamily="34" charset="0"/>
            </a:rPr>
            <a:t>Claim Influx</a:t>
          </a:r>
        </a:p>
      </dgm:t>
    </dgm:pt>
    <dgm:pt modelId="{2D394D68-8F40-4C6E-BEE0-B0BD8B5D0D36}" type="parTrans" cxnId="{B6072F4B-B3A1-4FCD-800E-019AAEAC19A8}">
      <dgm:prSet/>
      <dgm:spPr/>
      <dgm:t>
        <a:bodyPr/>
        <a:lstStyle/>
        <a:p>
          <a:endParaRPr lang="en-US" sz="3200">
            <a:latin typeface="Arial" panose="020B0604020202020204" pitchFamily="34" charset="0"/>
            <a:cs typeface="Arial" panose="020B0604020202020204" pitchFamily="34" charset="0"/>
          </a:endParaRPr>
        </a:p>
      </dgm:t>
    </dgm:pt>
    <dgm:pt modelId="{AFA5BD82-4889-4105-89F2-5CE3BC6D4838}" type="sibTrans" cxnId="{B6072F4B-B3A1-4FCD-800E-019AAEAC19A8}">
      <dgm:prSet/>
      <dgm:spPr/>
      <dgm:t>
        <a:bodyPr/>
        <a:lstStyle/>
        <a:p>
          <a:endParaRPr lang="en-US" sz="3200">
            <a:latin typeface="Arial" panose="020B0604020202020204" pitchFamily="34" charset="0"/>
            <a:cs typeface="Arial" panose="020B0604020202020204" pitchFamily="34" charset="0"/>
          </a:endParaRPr>
        </a:p>
      </dgm:t>
    </dgm:pt>
    <dgm:pt modelId="{C6403D1A-7BCE-44D9-8C33-7F40DB8F6C90}" type="pres">
      <dgm:prSet presAssocID="{0A4F9376-2665-4756-8AB3-1D8061608C48}" presName="Name0" presStyleCnt="0">
        <dgm:presLayoutVars>
          <dgm:dir/>
          <dgm:animLvl val="lvl"/>
          <dgm:resizeHandles val="exact"/>
        </dgm:presLayoutVars>
      </dgm:prSet>
      <dgm:spPr/>
    </dgm:pt>
    <dgm:pt modelId="{DFB24302-1271-4E23-8576-34EA6BA128A8}" type="pres">
      <dgm:prSet presAssocID="{0846B8A3-7DC7-4F20-91DC-2F5E940BF415}" presName="linNode" presStyleCnt="0"/>
      <dgm:spPr/>
    </dgm:pt>
    <dgm:pt modelId="{3D87E6CB-7E76-4396-BE9D-7F19C96CAD53}" type="pres">
      <dgm:prSet presAssocID="{0846B8A3-7DC7-4F20-91DC-2F5E940BF415}" presName="parTx" presStyleLbl="revTx" presStyleIdx="0" presStyleCnt="1">
        <dgm:presLayoutVars>
          <dgm:chMax val="1"/>
          <dgm:bulletEnabled val="1"/>
        </dgm:presLayoutVars>
      </dgm:prSet>
      <dgm:spPr/>
    </dgm:pt>
    <dgm:pt modelId="{60F52F96-DAC9-4DB6-88DA-32C2A4B6983F}" type="pres">
      <dgm:prSet presAssocID="{0846B8A3-7DC7-4F20-91DC-2F5E940BF415}" presName="bracket" presStyleLbl="parChTrans1D1" presStyleIdx="0" presStyleCnt="1"/>
      <dgm:spPr/>
    </dgm:pt>
    <dgm:pt modelId="{4A152E34-AE0D-4B1C-B060-C5A77BAE0BC3}" type="pres">
      <dgm:prSet presAssocID="{0846B8A3-7DC7-4F20-91DC-2F5E940BF415}" presName="spH" presStyleCnt="0"/>
      <dgm:spPr/>
    </dgm:pt>
    <dgm:pt modelId="{EAE92590-1001-472C-9D9B-830E0ACF5372}" type="pres">
      <dgm:prSet presAssocID="{0846B8A3-7DC7-4F20-91DC-2F5E940BF415}" presName="desTx" presStyleLbl="node1" presStyleIdx="0" presStyleCnt="1">
        <dgm:presLayoutVars>
          <dgm:bulletEnabled val="1"/>
        </dgm:presLayoutVars>
      </dgm:prSet>
      <dgm:spPr/>
    </dgm:pt>
  </dgm:ptLst>
  <dgm:cxnLst>
    <dgm:cxn modelId="{63544C0E-460B-4704-AD22-846D09866E4E}" type="presOf" srcId="{0846B8A3-7DC7-4F20-91DC-2F5E940BF415}" destId="{3D87E6CB-7E76-4396-BE9D-7F19C96CAD53}" srcOrd="0" destOrd="0" presId="urn:diagrams.loki3.com/BracketList"/>
    <dgm:cxn modelId="{B82AC328-4069-4F99-9C00-305DCF22A5C5}" type="presOf" srcId="{F74681DB-317F-45F4-B8B9-887B30CADEEA}" destId="{EAE92590-1001-472C-9D9B-830E0ACF5372}" srcOrd="0" destOrd="1" presId="urn:diagrams.loki3.com/BracketList"/>
    <dgm:cxn modelId="{FE9E2C61-1EFF-43C6-B48E-D31C2CCFD990}" srcId="{0846B8A3-7DC7-4F20-91DC-2F5E940BF415}" destId="{139536C6-3836-4F08-8FF2-FEA3F234C7D5}" srcOrd="0" destOrd="0" parTransId="{6B8B25B9-3C29-438F-BDAE-06C34346D12B}" sibTransId="{D6BEBAA5-06FD-40D3-9247-E882333E5DEE}"/>
    <dgm:cxn modelId="{B6072F4B-B3A1-4FCD-800E-019AAEAC19A8}" srcId="{0846B8A3-7DC7-4F20-91DC-2F5E940BF415}" destId="{F74681DB-317F-45F4-B8B9-887B30CADEEA}" srcOrd="1" destOrd="0" parTransId="{2D394D68-8F40-4C6E-BEE0-B0BD8B5D0D36}" sibTransId="{AFA5BD82-4889-4105-89F2-5CE3BC6D4838}"/>
    <dgm:cxn modelId="{A96856DE-26B3-4960-A1F2-7E9FCA2D0D51}" type="presOf" srcId="{0A4F9376-2665-4756-8AB3-1D8061608C48}" destId="{C6403D1A-7BCE-44D9-8C33-7F40DB8F6C90}" srcOrd="0" destOrd="0" presId="urn:diagrams.loki3.com/BracketList"/>
    <dgm:cxn modelId="{33AF39E8-3D59-429C-A7DA-7910BD42D09E}" type="presOf" srcId="{139536C6-3836-4F08-8FF2-FEA3F234C7D5}" destId="{EAE92590-1001-472C-9D9B-830E0ACF5372}" srcOrd="0" destOrd="0" presId="urn:diagrams.loki3.com/BracketList"/>
    <dgm:cxn modelId="{638A02EE-1835-4582-87A8-2E07352C62B6}" srcId="{0A4F9376-2665-4756-8AB3-1D8061608C48}" destId="{0846B8A3-7DC7-4F20-91DC-2F5E940BF415}" srcOrd="0" destOrd="0" parTransId="{28F8F7C8-2921-4AB5-9610-27FF00D71B0E}" sibTransId="{3CC33081-63F2-4AA2-901C-3CA23BF2D427}"/>
    <dgm:cxn modelId="{F75486D4-E62D-48B5-859E-0C8AD5D2AC76}" type="presParOf" srcId="{C6403D1A-7BCE-44D9-8C33-7F40DB8F6C90}" destId="{DFB24302-1271-4E23-8576-34EA6BA128A8}" srcOrd="0" destOrd="0" presId="urn:diagrams.loki3.com/BracketList"/>
    <dgm:cxn modelId="{2ED918E4-C057-4A84-9DF8-5BDB7A551ED4}" type="presParOf" srcId="{DFB24302-1271-4E23-8576-34EA6BA128A8}" destId="{3D87E6CB-7E76-4396-BE9D-7F19C96CAD53}" srcOrd="0" destOrd="0" presId="urn:diagrams.loki3.com/BracketList"/>
    <dgm:cxn modelId="{2DD4B8D6-68E1-4305-A2BB-759F4A76EA9A}" type="presParOf" srcId="{DFB24302-1271-4E23-8576-34EA6BA128A8}" destId="{60F52F96-DAC9-4DB6-88DA-32C2A4B6983F}" srcOrd="1" destOrd="0" presId="urn:diagrams.loki3.com/BracketList"/>
    <dgm:cxn modelId="{1424B495-3E86-4256-849A-3625930DC373}" type="presParOf" srcId="{DFB24302-1271-4E23-8576-34EA6BA128A8}" destId="{4A152E34-AE0D-4B1C-B060-C5A77BAE0BC3}" srcOrd="2" destOrd="0" presId="urn:diagrams.loki3.com/BracketList"/>
    <dgm:cxn modelId="{59A8E0D0-C54B-4936-B977-9084A893406C}" type="presParOf" srcId="{DFB24302-1271-4E23-8576-34EA6BA128A8}" destId="{EAE92590-1001-472C-9D9B-830E0ACF5372}" srcOrd="3" destOrd="0" presId="urn:diagrams.loki3.com/Bracket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4F9376-2665-4756-8AB3-1D8061608C48}" type="doc">
      <dgm:prSet loTypeId="urn:diagrams.loki3.com/BracketList" loCatId="list" qsTypeId="urn:microsoft.com/office/officeart/2005/8/quickstyle/simple1" qsCatId="simple" csTypeId="urn:microsoft.com/office/officeart/2005/8/colors/accent1_1" csCatId="accent1" phldr="1"/>
      <dgm:spPr/>
      <dgm:t>
        <a:bodyPr/>
        <a:lstStyle/>
        <a:p>
          <a:endParaRPr lang="en-US"/>
        </a:p>
      </dgm:t>
    </dgm:pt>
    <dgm:pt modelId="{5375C83B-3BD4-4260-9B85-B03BFAD9B55D}">
      <dgm:prSet custT="1"/>
      <dgm:spPr/>
      <dgm:t>
        <a:bodyPr/>
        <a:lstStyle/>
        <a:p>
          <a:r>
            <a:rPr lang="en-US" sz="3200">
              <a:latin typeface="Arial" panose="020B0604020202020204" pitchFamily="34" charset="0"/>
              <a:cs typeface="Arial" panose="020B0604020202020204" pitchFamily="34" charset="0"/>
            </a:rPr>
            <a:t>Impact</a:t>
          </a:r>
        </a:p>
      </dgm:t>
    </dgm:pt>
    <dgm:pt modelId="{683D8665-0E2F-4957-BBE7-21461898D7DF}" type="parTrans" cxnId="{23146CEB-D1FE-42BC-BB86-8FB377E46604}">
      <dgm:prSet/>
      <dgm:spPr/>
      <dgm:t>
        <a:bodyPr/>
        <a:lstStyle/>
        <a:p>
          <a:endParaRPr lang="en-US" sz="3200">
            <a:latin typeface="Arial" panose="020B0604020202020204" pitchFamily="34" charset="0"/>
            <a:cs typeface="Arial" panose="020B0604020202020204" pitchFamily="34" charset="0"/>
          </a:endParaRPr>
        </a:p>
      </dgm:t>
    </dgm:pt>
    <dgm:pt modelId="{8C2962E1-FD7A-483D-9613-DEDD9C9044F4}" type="sibTrans" cxnId="{23146CEB-D1FE-42BC-BB86-8FB377E46604}">
      <dgm:prSet/>
      <dgm:spPr/>
      <dgm:t>
        <a:bodyPr/>
        <a:lstStyle/>
        <a:p>
          <a:endParaRPr lang="en-US" sz="3200">
            <a:latin typeface="Arial" panose="020B0604020202020204" pitchFamily="34" charset="0"/>
            <a:cs typeface="Arial" panose="020B0604020202020204" pitchFamily="34" charset="0"/>
          </a:endParaRPr>
        </a:p>
      </dgm:t>
    </dgm:pt>
    <dgm:pt modelId="{103CB082-E231-4FFD-A7F1-4A8B73B9FF30}">
      <dgm:prSet custT="1"/>
      <dgm:spPr/>
      <dgm:t>
        <a:bodyPr/>
        <a:lstStyle/>
        <a:p>
          <a:r>
            <a:rPr lang="en-US" sz="3200">
              <a:latin typeface="Arial" panose="020B0604020202020204" pitchFamily="34" charset="0"/>
              <a:cs typeface="Arial" panose="020B0604020202020204" pitchFamily="34" charset="0"/>
            </a:rPr>
            <a:t>Cost Savings</a:t>
          </a:r>
        </a:p>
      </dgm:t>
    </dgm:pt>
    <dgm:pt modelId="{DD3209AB-6F3D-490A-A4AF-88BA189970B2}" type="parTrans" cxnId="{838DEACB-0DA4-49E2-9A4F-7088F9B03FE0}">
      <dgm:prSet/>
      <dgm:spPr/>
      <dgm:t>
        <a:bodyPr/>
        <a:lstStyle/>
        <a:p>
          <a:endParaRPr lang="en-US" sz="3200">
            <a:latin typeface="Arial" panose="020B0604020202020204" pitchFamily="34" charset="0"/>
            <a:cs typeface="Arial" panose="020B0604020202020204" pitchFamily="34" charset="0"/>
          </a:endParaRPr>
        </a:p>
      </dgm:t>
    </dgm:pt>
    <dgm:pt modelId="{B98B31F8-6916-4229-9C75-F9EC3418FE8A}" type="sibTrans" cxnId="{838DEACB-0DA4-49E2-9A4F-7088F9B03FE0}">
      <dgm:prSet/>
      <dgm:spPr/>
      <dgm:t>
        <a:bodyPr/>
        <a:lstStyle/>
        <a:p>
          <a:endParaRPr lang="en-US" sz="3200">
            <a:latin typeface="Arial" panose="020B0604020202020204" pitchFamily="34" charset="0"/>
            <a:cs typeface="Arial" panose="020B0604020202020204" pitchFamily="34" charset="0"/>
          </a:endParaRPr>
        </a:p>
      </dgm:t>
    </dgm:pt>
    <dgm:pt modelId="{8DE0ADFC-5845-4B86-A25D-1F6CADBD0E9B}">
      <dgm:prSet custT="1"/>
      <dgm:spPr/>
      <dgm:t>
        <a:bodyPr/>
        <a:lstStyle/>
        <a:p>
          <a:r>
            <a:rPr lang="en-US" sz="3200">
              <a:latin typeface="Arial" panose="020B0604020202020204" pitchFamily="34" charset="0"/>
              <a:cs typeface="Arial" panose="020B0604020202020204" pitchFamily="34" charset="0"/>
            </a:rPr>
            <a:t>Traveler’s SLA Compliance</a:t>
          </a:r>
        </a:p>
      </dgm:t>
    </dgm:pt>
    <dgm:pt modelId="{500E2121-178F-4551-BA90-CDFB0B423FF2}" type="parTrans" cxnId="{BE3EAF1C-EBE6-4996-84EC-EB8640FA07BA}">
      <dgm:prSet/>
      <dgm:spPr/>
      <dgm:t>
        <a:bodyPr/>
        <a:lstStyle/>
        <a:p>
          <a:endParaRPr lang="en-US" sz="3200">
            <a:latin typeface="Arial" panose="020B0604020202020204" pitchFamily="34" charset="0"/>
            <a:cs typeface="Arial" panose="020B0604020202020204" pitchFamily="34" charset="0"/>
          </a:endParaRPr>
        </a:p>
      </dgm:t>
    </dgm:pt>
    <dgm:pt modelId="{1CDDB4D1-1DB5-4DDD-B9B1-D4BFC305806F}" type="sibTrans" cxnId="{BE3EAF1C-EBE6-4996-84EC-EB8640FA07BA}">
      <dgm:prSet/>
      <dgm:spPr/>
      <dgm:t>
        <a:bodyPr/>
        <a:lstStyle/>
        <a:p>
          <a:endParaRPr lang="en-US" sz="3200">
            <a:latin typeface="Arial" panose="020B0604020202020204" pitchFamily="34" charset="0"/>
            <a:cs typeface="Arial" panose="020B0604020202020204" pitchFamily="34" charset="0"/>
          </a:endParaRPr>
        </a:p>
      </dgm:t>
    </dgm:pt>
    <dgm:pt modelId="{C4070E4D-A6DD-4790-A488-32CF9C5CD55D}">
      <dgm:prSet custT="1"/>
      <dgm:spPr/>
      <dgm:t>
        <a:bodyPr/>
        <a:lstStyle/>
        <a:p>
          <a:r>
            <a:rPr lang="en-US" sz="3200">
              <a:latin typeface="Arial" panose="020B0604020202020204" pitchFamily="34" charset="0"/>
              <a:cs typeface="Arial" panose="020B0604020202020204" pitchFamily="34" charset="0"/>
            </a:rPr>
            <a:t>Customer Satisfaction</a:t>
          </a:r>
        </a:p>
      </dgm:t>
    </dgm:pt>
    <dgm:pt modelId="{9D968EE1-517C-4866-92F4-5FAEFF2E80F0}" type="parTrans" cxnId="{739E2934-4F44-492D-8542-EC24DBC40280}">
      <dgm:prSet/>
      <dgm:spPr/>
      <dgm:t>
        <a:bodyPr/>
        <a:lstStyle/>
        <a:p>
          <a:endParaRPr lang="en-US" sz="3200">
            <a:latin typeface="Arial" panose="020B0604020202020204" pitchFamily="34" charset="0"/>
            <a:cs typeface="Arial" panose="020B0604020202020204" pitchFamily="34" charset="0"/>
          </a:endParaRPr>
        </a:p>
      </dgm:t>
    </dgm:pt>
    <dgm:pt modelId="{C35D6920-D8C8-41FD-BA4C-292DB5B0F470}" type="sibTrans" cxnId="{739E2934-4F44-492D-8542-EC24DBC40280}">
      <dgm:prSet/>
      <dgm:spPr/>
      <dgm:t>
        <a:bodyPr/>
        <a:lstStyle/>
        <a:p>
          <a:endParaRPr lang="en-US" sz="3200">
            <a:latin typeface="Arial" panose="020B0604020202020204" pitchFamily="34" charset="0"/>
            <a:cs typeface="Arial" panose="020B0604020202020204" pitchFamily="34" charset="0"/>
          </a:endParaRPr>
        </a:p>
      </dgm:t>
    </dgm:pt>
    <dgm:pt modelId="{C6403D1A-7BCE-44D9-8C33-7F40DB8F6C90}" type="pres">
      <dgm:prSet presAssocID="{0A4F9376-2665-4756-8AB3-1D8061608C48}" presName="Name0" presStyleCnt="0">
        <dgm:presLayoutVars>
          <dgm:dir/>
          <dgm:animLvl val="lvl"/>
          <dgm:resizeHandles val="exact"/>
        </dgm:presLayoutVars>
      </dgm:prSet>
      <dgm:spPr/>
    </dgm:pt>
    <dgm:pt modelId="{DD7D6A65-9E34-4F7F-BF3B-AA786FD377FF}" type="pres">
      <dgm:prSet presAssocID="{5375C83B-3BD4-4260-9B85-B03BFAD9B55D}" presName="linNode" presStyleCnt="0"/>
      <dgm:spPr/>
    </dgm:pt>
    <dgm:pt modelId="{E68FE539-DDF7-4BB7-9675-0A0EE389D00F}" type="pres">
      <dgm:prSet presAssocID="{5375C83B-3BD4-4260-9B85-B03BFAD9B55D}" presName="parTx" presStyleLbl="revTx" presStyleIdx="0" presStyleCnt="1">
        <dgm:presLayoutVars>
          <dgm:chMax val="1"/>
          <dgm:bulletEnabled val="1"/>
        </dgm:presLayoutVars>
      </dgm:prSet>
      <dgm:spPr/>
    </dgm:pt>
    <dgm:pt modelId="{B1614E2C-0EB3-4AEF-8354-947F57334A0F}" type="pres">
      <dgm:prSet presAssocID="{5375C83B-3BD4-4260-9B85-B03BFAD9B55D}" presName="bracket" presStyleLbl="parChTrans1D1" presStyleIdx="0" presStyleCnt="1"/>
      <dgm:spPr/>
    </dgm:pt>
    <dgm:pt modelId="{28888B14-D328-4D6E-942A-33664B3B5F01}" type="pres">
      <dgm:prSet presAssocID="{5375C83B-3BD4-4260-9B85-B03BFAD9B55D}" presName="spH" presStyleCnt="0"/>
      <dgm:spPr/>
    </dgm:pt>
    <dgm:pt modelId="{A2D3A402-A899-4BAD-8101-7B7B1F036266}" type="pres">
      <dgm:prSet presAssocID="{5375C83B-3BD4-4260-9B85-B03BFAD9B55D}" presName="desTx" presStyleLbl="node1" presStyleIdx="0" presStyleCnt="1">
        <dgm:presLayoutVars>
          <dgm:bulletEnabled val="1"/>
        </dgm:presLayoutVars>
      </dgm:prSet>
      <dgm:spPr/>
    </dgm:pt>
  </dgm:ptLst>
  <dgm:cxnLst>
    <dgm:cxn modelId="{22475A14-35CE-4950-88EB-EF1BE183EA7F}" type="presOf" srcId="{103CB082-E231-4FFD-A7F1-4A8B73B9FF30}" destId="{A2D3A402-A899-4BAD-8101-7B7B1F036266}" srcOrd="0" destOrd="0" presId="urn:diagrams.loki3.com/BracketList"/>
    <dgm:cxn modelId="{BE3EAF1C-EBE6-4996-84EC-EB8640FA07BA}" srcId="{5375C83B-3BD4-4260-9B85-B03BFAD9B55D}" destId="{8DE0ADFC-5845-4B86-A25D-1F6CADBD0E9B}" srcOrd="1" destOrd="0" parTransId="{500E2121-178F-4551-BA90-CDFB0B423FF2}" sibTransId="{1CDDB4D1-1DB5-4DDD-B9B1-D4BFC305806F}"/>
    <dgm:cxn modelId="{739E2934-4F44-492D-8542-EC24DBC40280}" srcId="{5375C83B-3BD4-4260-9B85-B03BFAD9B55D}" destId="{C4070E4D-A6DD-4790-A488-32CF9C5CD55D}" srcOrd="2" destOrd="0" parTransId="{9D968EE1-517C-4866-92F4-5FAEFF2E80F0}" sibTransId="{C35D6920-D8C8-41FD-BA4C-292DB5B0F470}"/>
    <dgm:cxn modelId="{C6E0714F-44BA-4AC7-A728-8C6B5BBC43F0}" type="presOf" srcId="{8DE0ADFC-5845-4B86-A25D-1F6CADBD0E9B}" destId="{A2D3A402-A899-4BAD-8101-7B7B1F036266}" srcOrd="0" destOrd="1" presId="urn:diagrams.loki3.com/BracketList"/>
    <dgm:cxn modelId="{F1B277B5-BBEF-44F2-A247-F007AE320D14}" type="presOf" srcId="{C4070E4D-A6DD-4790-A488-32CF9C5CD55D}" destId="{A2D3A402-A899-4BAD-8101-7B7B1F036266}" srcOrd="0" destOrd="2" presId="urn:diagrams.loki3.com/BracketList"/>
    <dgm:cxn modelId="{838DEACB-0DA4-49E2-9A4F-7088F9B03FE0}" srcId="{5375C83B-3BD4-4260-9B85-B03BFAD9B55D}" destId="{103CB082-E231-4FFD-A7F1-4A8B73B9FF30}" srcOrd="0" destOrd="0" parTransId="{DD3209AB-6F3D-490A-A4AF-88BA189970B2}" sibTransId="{B98B31F8-6916-4229-9C75-F9EC3418FE8A}"/>
    <dgm:cxn modelId="{327518D1-2F8E-4B09-AAF9-846DD5E761A7}" type="presOf" srcId="{5375C83B-3BD4-4260-9B85-B03BFAD9B55D}" destId="{E68FE539-DDF7-4BB7-9675-0A0EE389D00F}" srcOrd="0" destOrd="0" presId="urn:diagrams.loki3.com/BracketList"/>
    <dgm:cxn modelId="{A96856DE-26B3-4960-A1F2-7E9FCA2D0D51}" type="presOf" srcId="{0A4F9376-2665-4756-8AB3-1D8061608C48}" destId="{C6403D1A-7BCE-44D9-8C33-7F40DB8F6C90}" srcOrd="0" destOrd="0" presId="urn:diagrams.loki3.com/BracketList"/>
    <dgm:cxn modelId="{23146CEB-D1FE-42BC-BB86-8FB377E46604}" srcId="{0A4F9376-2665-4756-8AB3-1D8061608C48}" destId="{5375C83B-3BD4-4260-9B85-B03BFAD9B55D}" srcOrd="0" destOrd="0" parTransId="{683D8665-0E2F-4957-BBE7-21461898D7DF}" sibTransId="{8C2962E1-FD7A-483D-9613-DEDD9C9044F4}"/>
    <dgm:cxn modelId="{2BD9D193-05C3-42F6-8CE8-35C5113AFCEA}" type="presParOf" srcId="{C6403D1A-7BCE-44D9-8C33-7F40DB8F6C90}" destId="{DD7D6A65-9E34-4F7F-BF3B-AA786FD377FF}" srcOrd="0" destOrd="0" presId="urn:diagrams.loki3.com/BracketList"/>
    <dgm:cxn modelId="{79A0A277-D46C-4867-AABA-6BC2F0B18A51}" type="presParOf" srcId="{DD7D6A65-9E34-4F7F-BF3B-AA786FD377FF}" destId="{E68FE539-DDF7-4BB7-9675-0A0EE389D00F}" srcOrd="0" destOrd="0" presId="urn:diagrams.loki3.com/BracketList"/>
    <dgm:cxn modelId="{21CE24A6-7F6E-4DBD-96A9-92021F247EEC}" type="presParOf" srcId="{DD7D6A65-9E34-4F7F-BF3B-AA786FD377FF}" destId="{B1614E2C-0EB3-4AEF-8354-947F57334A0F}" srcOrd="1" destOrd="0" presId="urn:diagrams.loki3.com/BracketList"/>
    <dgm:cxn modelId="{F8199953-8C11-4101-9211-1BF3BE93093F}" type="presParOf" srcId="{DD7D6A65-9E34-4F7F-BF3B-AA786FD377FF}" destId="{28888B14-D328-4D6E-942A-33664B3B5F01}" srcOrd="2" destOrd="0" presId="urn:diagrams.loki3.com/BracketList"/>
    <dgm:cxn modelId="{27604CB3-F438-43D6-82FF-A0FA2CE2874F}" type="presParOf" srcId="{DD7D6A65-9E34-4F7F-BF3B-AA786FD377FF}" destId="{A2D3A402-A899-4BAD-8101-7B7B1F036266}" srcOrd="3" destOrd="0" presId="urn:diagrams.loki3.com/BracketList"/>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A4F9376-2665-4756-8AB3-1D8061608C48}" type="doc">
      <dgm:prSet loTypeId="urn:diagrams.loki3.com/BracketList" loCatId="list" qsTypeId="urn:microsoft.com/office/officeart/2005/8/quickstyle/simple1" qsCatId="simple" csTypeId="urn:microsoft.com/office/officeart/2005/8/colors/accent1_1" csCatId="accent1" phldr="1"/>
      <dgm:spPr/>
      <dgm:t>
        <a:bodyPr/>
        <a:lstStyle/>
        <a:p>
          <a:endParaRPr lang="en-US"/>
        </a:p>
      </dgm:t>
    </dgm:pt>
    <dgm:pt modelId="{6BF8AC84-BEB9-41C7-BE90-D67881ABBAD8}">
      <dgm:prSet custT="1"/>
      <dgm:spPr/>
      <dgm:t>
        <a:bodyPr/>
        <a:lstStyle/>
        <a:p>
          <a:r>
            <a:rPr lang="en-US" sz="3200">
              <a:latin typeface="Arial" panose="020B0604020202020204" pitchFamily="34" charset="0"/>
              <a:cs typeface="Arial" panose="020B0604020202020204" pitchFamily="34" charset="0"/>
            </a:rPr>
            <a:t>Result</a:t>
          </a:r>
        </a:p>
      </dgm:t>
    </dgm:pt>
    <dgm:pt modelId="{E594324B-FB95-4A9A-96AE-EDCCD2A609FF}" type="parTrans" cxnId="{ED850B6A-3775-4C20-8AF1-F03502EFF000}">
      <dgm:prSet/>
      <dgm:spPr/>
      <dgm:t>
        <a:bodyPr/>
        <a:lstStyle/>
        <a:p>
          <a:endParaRPr lang="en-US" sz="3200">
            <a:latin typeface="Arial" panose="020B0604020202020204" pitchFamily="34" charset="0"/>
            <a:cs typeface="Arial" panose="020B0604020202020204" pitchFamily="34" charset="0"/>
          </a:endParaRPr>
        </a:p>
      </dgm:t>
    </dgm:pt>
    <dgm:pt modelId="{3504FDDB-942F-4A09-AE95-54BE0D64F466}" type="sibTrans" cxnId="{ED850B6A-3775-4C20-8AF1-F03502EFF000}">
      <dgm:prSet/>
      <dgm:spPr/>
      <dgm:t>
        <a:bodyPr/>
        <a:lstStyle/>
        <a:p>
          <a:endParaRPr lang="en-US" sz="3200">
            <a:latin typeface="Arial" panose="020B0604020202020204" pitchFamily="34" charset="0"/>
            <a:cs typeface="Arial" panose="020B0604020202020204" pitchFamily="34" charset="0"/>
          </a:endParaRPr>
        </a:p>
      </dgm:t>
    </dgm:pt>
    <dgm:pt modelId="{B674DA06-06F8-47A3-A1B8-F9DF2853D641}">
      <dgm:prSet custT="1"/>
      <dgm:spPr/>
      <dgm:t>
        <a:bodyPr/>
        <a:lstStyle/>
        <a:p>
          <a:r>
            <a:rPr lang="en-US" sz="3200">
              <a:latin typeface="Arial" panose="020B0604020202020204" pitchFamily="34" charset="0"/>
              <a:cs typeface="Arial" panose="020B0604020202020204" pitchFamily="34" charset="0"/>
            </a:rPr>
            <a:t>6-day Delay Time Reduction</a:t>
          </a:r>
        </a:p>
      </dgm:t>
    </dgm:pt>
    <dgm:pt modelId="{9B565AD9-AD3F-4693-B134-E948A2D65FEF}" type="parTrans" cxnId="{E8AC3B21-EB86-4530-A833-C50E3246A5AD}">
      <dgm:prSet/>
      <dgm:spPr/>
      <dgm:t>
        <a:bodyPr/>
        <a:lstStyle/>
        <a:p>
          <a:endParaRPr lang="en-US" sz="3200">
            <a:latin typeface="Arial" panose="020B0604020202020204" pitchFamily="34" charset="0"/>
            <a:cs typeface="Arial" panose="020B0604020202020204" pitchFamily="34" charset="0"/>
          </a:endParaRPr>
        </a:p>
      </dgm:t>
    </dgm:pt>
    <dgm:pt modelId="{ECCE3869-C462-43A2-ACA5-1EE4D5D6C73D}" type="sibTrans" cxnId="{E8AC3B21-EB86-4530-A833-C50E3246A5AD}">
      <dgm:prSet/>
      <dgm:spPr/>
      <dgm:t>
        <a:bodyPr/>
        <a:lstStyle/>
        <a:p>
          <a:endParaRPr lang="en-US" sz="3200">
            <a:latin typeface="Arial" panose="020B0604020202020204" pitchFamily="34" charset="0"/>
            <a:cs typeface="Arial" panose="020B0604020202020204" pitchFamily="34" charset="0"/>
          </a:endParaRPr>
        </a:p>
      </dgm:t>
    </dgm:pt>
    <dgm:pt modelId="{DBBF28B3-7F40-874A-BE03-9672B088F151}">
      <dgm:prSet custT="1"/>
      <dgm:spPr/>
      <dgm:t>
        <a:bodyPr/>
        <a:lstStyle/>
        <a:p>
          <a:r>
            <a:rPr lang="en-US" sz="3200">
              <a:latin typeface="Arial" panose="020B0604020202020204" pitchFamily="34" charset="0"/>
              <a:cs typeface="Arial" panose="020B0604020202020204" pitchFamily="34" charset="0"/>
            </a:rPr>
            <a:t>100% in Assignment Efficiency</a:t>
          </a:r>
        </a:p>
      </dgm:t>
    </dgm:pt>
    <dgm:pt modelId="{5E82E57E-95CC-1A4A-BC3E-D342566D69D1}" type="parTrans" cxnId="{CF393995-9DE3-3446-A420-56B1941D76DE}">
      <dgm:prSet/>
      <dgm:spPr/>
      <dgm:t>
        <a:bodyPr/>
        <a:lstStyle/>
        <a:p>
          <a:endParaRPr lang="en-US"/>
        </a:p>
      </dgm:t>
    </dgm:pt>
    <dgm:pt modelId="{0442E84F-B632-084B-B916-59228919AA56}" type="sibTrans" cxnId="{CF393995-9DE3-3446-A420-56B1941D76DE}">
      <dgm:prSet/>
      <dgm:spPr/>
      <dgm:t>
        <a:bodyPr/>
        <a:lstStyle/>
        <a:p>
          <a:endParaRPr lang="en-US"/>
        </a:p>
      </dgm:t>
    </dgm:pt>
    <dgm:pt modelId="{C6403D1A-7BCE-44D9-8C33-7F40DB8F6C90}" type="pres">
      <dgm:prSet presAssocID="{0A4F9376-2665-4756-8AB3-1D8061608C48}" presName="Name0" presStyleCnt="0">
        <dgm:presLayoutVars>
          <dgm:dir/>
          <dgm:animLvl val="lvl"/>
          <dgm:resizeHandles val="exact"/>
        </dgm:presLayoutVars>
      </dgm:prSet>
      <dgm:spPr/>
    </dgm:pt>
    <dgm:pt modelId="{CF10A47C-11FB-41E4-925F-FA4EA05C4398}" type="pres">
      <dgm:prSet presAssocID="{6BF8AC84-BEB9-41C7-BE90-D67881ABBAD8}" presName="linNode" presStyleCnt="0"/>
      <dgm:spPr/>
    </dgm:pt>
    <dgm:pt modelId="{31C7DC0B-6AA3-416D-9BE8-5DF9A23C6797}" type="pres">
      <dgm:prSet presAssocID="{6BF8AC84-BEB9-41C7-BE90-D67881ABBAD8}" presName="parTx" presStyleLbl="revTx" presStyleIdx="0" presStyleCnt="1">
        <dgm:presLayoutVars>
          <dgm:chMax val="1"/>
          <dgm:bulletEnabled val="1"/>
        </dgm:presLayoutVars>
      </dgm:prSet>
      <dgm:spPr/>
    </dgm:pt>
    <dgm:pt modelId="{4C1A48F0-4D80-4CA7-A2C0-3EFCB37A6692}" type="pres">
      <dgm:prSet presAssocID="{6BF8AC84-BEB9-41C7-BE90-D67881ABBAD8}" presName="bracket" presStyleLbl="parChTrans1D1" presStyleIdx="0" presStyleCnt="1"/>
      <dgm:spPr/>
    </dgm:pt>
    <dgm:pt modelId="{0D17C7C5-9851-4D03-9AA0-B7D54A20F255}" type="pres">
      <dgm:prSet presAssocID="{6BF8AC84-BEB9-41C7-BE90-D67881ABBAD8}" presName="spH" presStyleCnt="0"/>
      <dgm:spPr/>
    </dgm:pt>
    <dgm:pt modelId="{D9F49579-4436-4C54-A569-983B62874AD9}" type="pres">
      <dgm:prSet presAssocID="{6BF8AC84-BEB9-41C7-BE90-D67881ABBAD8}" presName="desTx" presStyleLbl="node1" presStyleIdx="0" presStyleCnt="1">
        <dgm:presLayoutVars>
          <dgm:bulletEnabled val="1"/>
        </dgm:presLayoutVars>
      </dgm:prSet>
      <dgm:spPr/>
    </dgm:pt>
  </dgm:ptLst>
  <dgm:cxnLst>
    <dgm:cxn modelId="{1936DA19-7B9B-FE47-B947-8910A59D9C81}" type="presOf" srcId="{DBBF28B3-7F40-874A-BE03-9672B088F151}" destId="{D9F49579-4436-4C54-A569-983B62874AD9}" srcOrd="0" destOrd="1" presId="urn:diagrams.loki3.com/BracketList"/>
    <dgm:cxn modelId="{E8AC3B21-EB86-4530-A833-C50E3246A5AD}" srcId="{6BF8AC84-BEB9-41C7-BE90-D67881ABBAD8}" destId="{B674DA06-06F8-47A3-A1B8-F9DF2853D641}" srcOrd="0" destOrd="0" parTransId="{9B565AD9-AD3F-4693-B134-E948A2D65FEF}" sibTransId="{ECCE3869-C462-43A2-ACA5-1EE4D5D6C73D}"/>
    <dgm:cxn modelId="{141A1A2F-A969-4E0C-ACC5-7288CAE65832}" type="presOf" srcId="{B674DA06-06F8-47A3-A1B8-F9DF2853D641}" destId="{D9F49579-4436-4C54-A569-983B62874AD9}" srcOrd="0" destOrd="0" presId="urn:diagrams.loki3.com/BracketList"/>
    <dgm:cxn modelId="{ED850B6A-3775-4C20-8AF1-F03502EFF000}" srcId="{0A4F9376-2665-4756-8AB3-1D8061608C48}" destId="{6BF8AC84-BEB9-41C7-BE90-D67881ABBAD8}" srcOrd="0" destOrd="0" parTransId="{E594324B-FB95-4A9A-96AE-EDCCD2A609FF}" sibTransId="{3504FDDB-942F-4A09-AE95-54BE0D64F466}"/>
    <dgm:cxn modelId="{CF393995-9DE3-3446-A420-56B1941D76DE}" srcId="{6BF8AC84-BEB9-41C7-BE90-D67881ABBAD8}" destId="{DBBF28B3-7F40-874A-BE03-9672B088F151}" srcOrd="1" destOrd="0" parTransId="{5E82E57E-95CC-1A4A-BC3E-D342566D69D1}" sibTransId="{0442E84F-B632-084B-B916-59228919AA56}"/>
    <dgm:cxn modelId="{37242EA7-ACCC-4821-A78B-7CDD28911D9F}" type="presOf" srcId="{6BF8AC84-BEB9-41C7-BE90-D67881ABBAD8}" destId="{31C7DC0B-6AA3-416D-9BE8-5DF9A23C6797}" srcOrd="0" destOrd="0" presId="urn:diagrams.loki3.com/BracketList"/>
    <dgm:cxn modelId="{A96856DE-26B3-4960-A1F2-7E9FCA2D0D51}" type="presOf" srcId="{0A4F9376-2665-4756-8AB3-1D8061608C48}" destId="{C6403D1A-7BCE-44D9-8C33-7F40DB8F6C90}" srcOrd="0" destOrd="0" presId="urn:diagrams.loki3.com/BracketList"/>
    <dgm:cxn modelId="{242AFA77-2472-4075-9411-5385A28ADAEC}" type="presParOf" srcId="{C6403D1A-7BCE-44D9-8C33-7F40DB8F6C90}" destId="{CF10A47C-11FB-41E4-925F-FA4EA05C4398}" srcOrd="0" destOrd="0" presId="urn:diagrams.loki3.com/BracketList"/>
    <dgm:cxn modelId="{E705012E-0544-4BCB-92CE-363955BD8A7A}" type="presParOf" srcId="{CF10A47C-11FB-41E4-925F-FA4EA05C4398}" destId="{31C7DC0B-6AA3-416D-9BE8-5DF9A23C6797}" srcOrd="0" destOrd="0" presId="urn:diagrams.loki3.com/BracketList"/>
    <dgm:cxn modelId="{CDF7B1A0-AFF2-4AAA-A74C-DA70AA936B94}" type="presParOf" srcId="{CF10A47C-11FB-41E4-925F-FA4EA05C4398}" destId="{4C1A48F0-4D80-4CA7-A2C0-3EFCB37A6692}" srcOrd="1" destOrd="0" presId="urn:diagrams.loki3.com/BracketList"/>
    <dgm:cxn modelId="{A9F2791F-FF16-4734-B81A-C1DE5E76462D}" type="presParOf" srcId="{CF10A47C-11FB-41E4-925F-FA4EA05C4398}" destId="{0D17C7C5-9851-4D03-9AA0-B7D54A20F255}" srcOrd="2" destOrd="0" presId="urn:diagrams.loki3.com/BracketList"/>
    <dgm:cxn modelId="{07F6DB24-649C-49F2-9CA2-5BC8892F63EA}" type="presParOf" srcId="{CF10A47C-11FB-41E4-925F-FA4EA05C4398}" destId="{D9F49579-4436-4C54-A569-983B62874AD9}" srcOrd="3" destOrd="0" presId="urn:diagrams.loki3.com/BracketList"/>
  </dgm:cxnLst>
  <dgm:bg/>
  <dgm:whole/>
  <dgm:extLst>
    <a:ext uri="http://schemas.microsoft.com/office/drawing/2008/diagram">
      <dsp:dataModelExt xmlns:dsp="http://schemas.microsoft.com/office/drawing/2008/diagram" relId="rId2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B729D3-6497-4E43-8DD2-F5AC31E75071}"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B8566CC3-CF68-4687-84EE-005CAFA51AFE}">
      <dgm:prSet phldr="0"/>
      <dgm:spPr/>
      <dgm:t>
        <a:bodyPr/>
        <a:lstStyle/>
        <a:p>
          <a:pPr algn="l">
            <a:lnSpc>
              <a:spcPct val="90000"/>
            </a:lnSpc>
          </a:pPr>
          <a:r>
            <a:rPr lang="en-US" sz="1900">
              <a:latin typeface="Segoe UI"/>
              <a:ea typeface="+mn-ea"/>
              <a:cs typeface="Segoe UI"/>
            </a:rPr>
            <a:t>🎯 Severity – Skill Matching </a:t>
          </a:r>
          <a:endParaRPr lang="en-US" sz="1900">
            <a:latin typeface="Neue Haas Grotesk Text Pro"/>
            <a:ea typeface="+mn-ea"/>
            <a:cs typeface="+mn-cs"/>
          </a:endParaRPr>
        </a:p>
      </dgm:t>
    </dgm:pt>
    <dgm:pt modelId="{B5482C7E-965B-4FAC-B3F1-F2E589DE854E}" type="parTrans" cxnId="{E1DBE7D0-EFB6-4124-8486-496510F8B741}">
      <dgm:prSet/>
      <dgm:spPr/>
      <dgm:t>
        <a:bodyPr/>
        <a:lstStyle/>
        <a:p>
          <a:endParaRPr lang="en-US"/>
        </a:p>
      </dgm:t>
    </dgm:pt>
    <dgm:pt modelId="{84588258-B8D7-4D96-A04E-60C3577D82B5}" type="sibTrans" cxnId="{E1DBE7D0-EFB6-4124-8486-496510F8B741}">
      <dgm:prSet/>
      <dgm:spPr/>
      <dgm:t>
        <a:bodyPr/>
        <a:lstStyle/>
        <a:p>
          <a:endParaRPr lang="en-US"/>
        </a:p>
      </dgm:t>
    </dgm:pt>
    <dgm:pt modelId="{80D3813D-141A-4A5D-A5F6-A291F4203A8B}">
      <dgm:prSet phldr="0"/>
      <dgm:spPr/>
      <dgm:t>
        <a:bodyPr/>
        <a:lstStyle/>
        <a:p>
          <a:pPr algn="l" rtl="0">
            <a:lnSpc>
              <a:spcPct val="90000"/>
            </a:lnSpc>
          </a:pPr>
          <a:r>
            <a:rPr lang="en-US" sz="1900">
              <a:latin typeface="Segoe UI"/>
              <a:ea typeface="+mn-ea"/>
              <a:cs typeface="Segoe UI"/>
            </a:rPr>
            <a:t>⚙️ Adjuster Preferences</a:t>
          </a:r>
          <a:endParaRPr lang="en-US" sz="1900">
            <a:latin typeface="Neue Haas Grotesk Text Pro"/>
            <a:ea typeface="+mn-ea"/>
            <a:cs typeface="+mn-cs"/>
          </a:endParaRPr>
        </a:p>
      </dgm:t>
    </dgm:pt>
    <dgm:pt modelId="{3EE2EA56-5271-4AFA-8757-6F7F666AC908}" type="parTrans" cxnId="{8140B79F-CB6F-4278-90CD-81046CBF5813}">
      <dgm:prSet/>
      <dgm:spPr/>
      <dgm:t>
        <a:bodyPr/>
        <a:lstStyle/>
        <a:p>
          <a:endParaRPr lang="en-US"/>
        </a:p>
      </dgm:t>
    </dgm:pt>
    <dgm:pt modelId="{E9ACB997-FD73-4BCC-A5AF-0C783BE50B17}" type="sibTrans" cxnId="{8140B79F-CB6F-4278-90CD-81046CBF5813}">
      <dgm:prSet/>
      <dgm:spPr/>
      <dgm:t>
        <a:bodyPr/>
        <a:lstStyle/>
        <a:p>
          <a:endParaRPr lang="en-US"/>
        </a:p>
      </dgm:t>
    </dgm:pt>
    <dgm:pt modelId="{84BCF618-8C3C-413F-9013-3BED1450BBDE}">
      <dgm:prSet phldr="0"/>
      <dgm:spPr/>
      <dgm:t>
        <a:bodyPr/>
        <a:lstStyle/>
        <a:p>
          <a:pPr algn="l">
            <a:lnSpc>
              <a:spcPct val="90000"/>
            </a:lnSpc>
          </a:pPr>
          <a:r>
            <a:rPr lang="en-US" sz="1900">
              <a:latin typeface="Calibri"/>
              <a:ea typeface="Calibri"/>
              <a:cs typeface="Calibri"/>
            </a:rPr>
            <a:t>⏱️ NOL/SLA Priorities</a:t>
          </a:r>
          <a:endParaRPr lang="en-US" sz="1900">
            <a:latin typeface="Segoe UI"/>
            <a:ea typeface="+mn-ea"/>
            <a:cs typeface="Segoe UI"/>
          </a:endParaRPr>
        </a:p>
      </dgm:t>
    </dgm:pt>
    <dgm:pt modelId="{6806FE91-42CD-4DCD-BBB9-7A1419AD3E5D}" type="parTrans" cxnId="{BD318476-0F0E-4E8C-93F7-5F8AD1373AAE}">
      <dgm:prSet/>
      <dgm:spPr/>
      <dgm:t>
        <a:bodyPr/>
        <a:lstStyle/>
        <a:p>
          <a:endParaRPr lang="en-US"/>
        </a:p>
      </dgm:t>
    </dgm:pt>
    <dgm:pt modelId="{FE9946B2-CB4B-4D64-8F53-53339C703942}" type="sibTrans" cxnId="{BD318476-0F0E-4E8C-93F7-5F8AD1373AAE}">
      <dgm:prSet/>
      <dgm:spPr/>
      <dgm:t>
        <a:bodyPr/>
        <a:lstStyle/>
        <a:p>
          <a:endParaRPr lang="en-US"/>
        </a:p>
      </dgm:t>
    </dgm:pt>
    <dgm:pt modelId="{008A5524-7D47-47A1-B4A6-6E4551ED93CB}">
      <dgm:prSet phldr="0"/>
      <dgm:spPr/>
      <dgm:t>
        <a:bodyPr/>
        <a:lstStyle/>
        <a:p>
          <a:pPr algn="l" rtl="0">
            <a:lnSpc>
              <a:spcPct val="90000"/>
            </a:lnSpc>
          </a:pPr>
          <a:r>
            <a:rPr lang="en-US" sz="1900">
              <a:latin typeface="Segoe UI"/>
              <a:ea typeface="+mn-ea"/>
              <a:cs typeface="Segoe UI"/>
            </a:rPr>
            <a:t> 📍 Adjuster – Claim Distance</a:t>
          </a:r>
          <a:endParaRPr lang="en-US" sz="1900">
            <a:latin typeface="Neue Haas Grotesk Text Pro"/>
            <a:ea typeface="+mn-ea"/>
            <a:cs typeface="+mn-cs"/>
          </a:endParaRPr>
        </a:p>
      </dgm:t>
    </dgm:pt>
    <dgm:pt modelId="{9CACAA86-681E-4B29-9D92-FAD672662DC4}" type="parTrans" cxnId="{44826815-88A3-4049-9236-1DD8BAE3CBE4}">
      <dgm:prSet/>
      <dgm:spPr/>
      <dgm:t>
        <a:bodyPr/>
        <a:lstStyle/>
        <a:p>
          <a:endParaRPr lang="en-US"/>
        </a:p>
      </dgm:t>
    </dgm:pt>
    <dgm:pt modelId="{46B55089-B0E8-4D52-ABEF-DA96BBC7235B}" type="sibTrans" cxnId="{44826815-88A3-4049-9236-1DD8BAE3CBE4}">
      <dgm:prSet/>
      <dgm:spPr/>
      <dgm:t>
        <a:bodyPr/>
        <a:lstStyle/>
        <a:p>
          <a:endParaRPr lang="en-US"/>
        </a:p>
      </dgm:t>
    </dgm:pt>
    <dgm:pt modelId="{AD7E3DF6-F240-4787-BD49-406618A967A7}" type="pres">
      <dgm:prSet presAssocID="{13B729D3-6497-4E43-8DD2-F5AC31E75071}" presName="linear" presStyleCnt="0">
        <dgm:presLayoutVars>
          <dgm:animLvl val="lvl"/>
          <dgm:resizeHandles val="exact"/>
        </dgm:presLayoutVars>
      </dgm:prSet>
      <dgm:spPr/>
    </dgm:pt>
    <dgm:pt modelId="{476EB1F2-A071-4B96-AB21-76D72B5F7255}" type="pres">
      <dgm:prSet presAssocID="{B8566CC3-CF68-4687-84EE-005CAFA51AFE}" presName="parentText" presStyleLbl="node1" presStyleIdx="0" presStyleCnt="4">
        <dgm:presLayoutVars>
          <dgm:chMax val="0"/>
          <dgm:bulletEnabled val="1"/>
        </dgm:presLayoutVars>
      </dgm:prSet>
      <dgm:spPr/>
    </dgm:pt>
    <dgm:pt modelId="{332CE904-9F05-4ED6-B062-1E4940FC5DC0}" type="pres">
      <dgm:prSet presAssocID="{84588258-B8D7-4D96-A04E-60C3577D82B5}" presName="spacer" presStyleCnt="0"/>
      <dgm:spPr/>
    </dgm:pt>
    <dgm:pt modelId="{AE340181-EA7A-4438-AABE-05FF0F3FC47A}" type="pres">
      <dgm:prSet presAssocID="{008A5524-7D47-47A1-B4A6-6E4551ED93CB}" presName="parentText" presStyleLbl="node1" presStyleIdx="1" presStyleCnt="4">
        <dgm:presLayoutVars>
          <dgm:chMax val="0"/>
          <dgm:bulletEnabled val="1"/>
        </dgm:presLayoutVars>
      </dgm:prSet>
      <dgm:spPr/>
    </dgm:pt>
    <dgm:pt modelId="{FAE50A7D-FAFE-467B-BF1C-A9462E7D60AE}" type="pres">
      <dgm:prSet presAssocID="{46B55089-B0E8-4D52-ABEF-DA96BBC7235B}" presName="spacer" presStyleCnt="0"/>
      <dgm:spPr/>
    </dgm:pt>
    <dgm:pt modelId="{DFD75DD6-D3F0-4F4E-BF93-AF64EDC878F3}" type="pres">
      <dgm:prSet presAssocID="{80D3813D-141A-4A5D-A5F6-A291F4203A8B}" presName="parentText" presStyleLbl="node1" presStyleIdx="2" presStyleCnt="4">
        <dgm:presLayoutVars>
          <dgm:chMax val="0"/>
          <dgm:bulletEnabled val="1"/>
        </dgm:presLayoutVars>
      </dgm:prSet>
      <dgm:spPr/>
    </dgm:pt>
    <dgm:pt modelId="{093E2941-F81B-4A5D-87D5-F7C565224CD5}" type="pres">
      <dgm:prSet presAssocID="{E9ACB997-FD73-4BCC-A5AF-0C783BE50B17}" presName="spacer" presStyleCnt="0"/>
      <dgm:spPr/>
    </dgm:pt>
    <dgm:pt modelId="{7FA6E18D-E9FF-4D86-B1C6-437432F2BEAC}" type="pres">
      <dgm:prSet presAssocID="{84BCF618-8C3C-413F-9013-3BED1450BBDE}" presName="parentText" presStyleLbl="node1" presStyleIdx="3" presStyleCnt="4">
        <dgm:presLayoutVars>
          <dgm:chMax val="0"/>
          <dgm:bulletEnabled val="1"/>
        </dgm:presLayoutVars>
      </dgm:prSet>
      <dgm:spPr/>
    </dgm:pt>
  </dgm:ptLst>
  <dgm:cxnLst>
    <dgm:cxn modelId="{44826815-88A3-4049-9236-1DD8BAE3CBE4}" srcId="{13B729D3-6497-4E43-8DD2-F5AC31E75071}" destId="{008A5524-7D47-47A1-B4A6-6E4551ED93CB}" srcOrd="1" destOrd="0" parTransId="{9CACAA86-681E-4B29-9D92-FAD672662DC4}" sibTransId="{46B55089-B0E8-4D52-ABEF-DA96BBC7235B}"/>
    <dgm:cxn modelId="{39AB8732-259C-4836-AD3C-F610E1CFBE67}" type="presOf" srcId="{80D3813D-141A-4A5D-A5F6-A291F4203A8B}" destId="{DFD75DD6-D3F0-4F4E-BF93-AF64EDC878F3}" srcOrd="0" destOrd="0" presId="urn:microsoft.com/office/officeart/2005/8/layout/vList2"/>
    <dgm:cxn modelId="{75B5013F-31C3-4A75-AC08-321A334B027C}" type="presOf" srcId="{B8566CC3-CF68-4687-84EE-005CAFA51AFE}" destId="{476EB1F2-A071-4B96-AB21-76D72B5F7255}" srcOrd="0" destOrd="0" presId="urn:microsoft.com/office/officeart/2005/8/layout/vList2"/>
    <dgm:cxn modelId="{BD318476-0F0E-4E8C-93F7-5F8AD1373AAE}" srcId="{13B729D3-6497-4E43-8DD2-F5AC31E75071}" destId="{84BCF618-8C3C-413F-9013-3BED1450BBDE}" srcOrd="3" destOrd="0" parTransId="{6806FE91-42CD-4DCD-BBB9-7A1419AD3E5D}" sibTransId="{FE9946B2-CB4B-4D64-8F53-53339C703942}"/>
    <dgm:cxn modelId="{8140B79F-CB6F-4278-90CD-81046CBF5813}" srcId="{13B729D3-6497-4E43-8DD2-F5AC31E75071}" destId="{80D3813D-141A-4A5D-A5F6-A291F4203A8B}" srcOrd="2" destOrd="0" parTransId="{3EE2EA56-5271-4AFA-8757-6F7F666AC908}" sibTransId="{E9ACB997-FD73-4BCC-A5AF-0C783BE50B17}"/>
    <dgm:cxn modelId="{A7B1F4A1-3357-4F87-BB27-BC1B0AABC420}" type="presOf" srcId="{84BCF618-8C3C-413F-9013-3BED1450BBDE}" destId="{7FA6E18D-E9FF-4D86-B1C6-437432F2BEAC}" srcOrd="0" destOrd="0" presId="urn:microsoft.com/office/officeart/2005/8/layout/vList2"/>
    <dgm:cxn modelId="{8E388CC6-5357-40EE-958E-3505FA30A8CF}" type="presOf" srcId="{008A5524-7D47-47A1-B4A6-6E4551ED93CB}" destId="{AE340181-EA7A-4438-AABE-05FF0F3FC47A}" srcOrd="0" destOrd="0" presId="urn:microsoft.com/office/officeart/2005/8/layout/vList2"/>
    <dgm:cxn modelId="{E1DBE7D0-EFB6-4124-8486-496510F8B741}" srcId="{13B729D3-6497-4E43-8DD2-F5AC31E75071}" destId="{B8566CC3-CF68-4687-84EE-005CAFA51AFE}" srcOrd="0" destOrd="0" parTransId="{B5482C7E-965B-4FAC-B3F1-F2E589DE854E}" sibTransId="{84588258-B8D7-4D96-A04E-60C3577D82B5}"/>
    <dgm:cxn modelId="{9A92DFD2-9351-4E6B-88A2-3A0A88745B85}" type="presOf" srcId="{13B729D3-6497-4E43-8DD2-F5AC31E75071}" destId="{AD7E3DF6-F240-4787-BD49-406618A967A7}" srcOrd="0" destOrd="0" presId="urn:microsoft.com/office/officeart/2005/8/layout/vList2"/>
    <dgm:cxn modelId="{D14A89BA-0A99-4D62-916E-DED26F0AC571}" type="presParOf" srcId="{AD7E3DF6-F240-4787-BD49-406618A967A7}" destId="{476EB1F2-A071-4B96-AB21-76D72B5F7255}" srcOrd="0" destOrd="0" presId="urn:microsoft.com/office/officeart/2005/8/layout/vList2"/>
    <dgm:cxn modelId="{476CB90F-2E7D-4A51-B255-7E1C5DB7C5B8}" type="presParOf" srcId="{AD7E3DF6-F240-4787-BD49-406618A967A7}" destId="{332CE904-9F05-4ED6-B062-1E4940FC5DC0}" srcOrd="1" destOrd="0" presId="urn:microsoft.com/office/officeart/2005/8/layout/vList2"/>
    <dgm:cxn modelId="{9D915FC5-18EF-4904-8F31-FC7C2AF8C2FE}" type="presParOf" srcId="{AD7E3DF6-F240-4787-BD49-406618A967A7}" destId="{AE340181-EA7A-4438-AABE-05FF0F3FC47A}" srcOrd="2" destOrd="0" presId="urn:microsoft.com/office/officeart/2005/8/layout/vList2"/>
    <dgm:cxn modelId="{430A62B4-D67D-447C-97CB-9A9E13D51B8F}" type="presParOf" srcId="{AD7E3DF6-F240-4787-BD49-406618A967A7}" destId="{FAE50A7D-FAFE-467B-BF1C-A9462E7D60AE}" srcOrd="3" destOrd="0" presId="urn:microsoft.com/office/officeart/2005/8/layout/vList2"/>
    <dgm:cxn modelId="{D7D994AB-0EA8-4DD2-88DB-8F7B8C3B60AD}" type="presParOf" srcId="{AD7E3DF6-F240-4787-BD49-406618A967A7}" destId="{DFD75DD6-D3F0-4F4E-BF93-AF64EDC878F3}" srcOrd="4" destOrd="0" presId="urn:microsoft.com/office/officeart/2005/8/layout/vList2"/>
    <dgm:cxn modelId="{E01D4672-A416-4103-BF98-32B90EDF71D7}" type="presParOf" srcId="{AD7E3DF6-F240-4787-BD49-406618A967A7}" destId="{093E2941-F81B-4A5D-87D5-F7C565224CD5}" srcOrd="5" destOrd="0" presId="urn:microsoft.com/office/officeart/2005/8/layout/vList2"/>
    <dgm:cxn modelId="{529F6141-21A0-4F6F-B093-014D184C7131}" type="presParOf" srcId="{AD7E3DF6-F240-4787-BD49-406618A967A7}" destId="{7FA6E18D-E9FF-4D86-B1C6-437432F2BEAC}" srcOrd="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CA1C52-DD7A-4D62-B6DD-BA5018C58306}">
      <dsp:nvSpPr>
        <dsp:cNvPr id="0" name=""/>
        <dsp:cNvSpPr/>
      </dsp:nvSpPr>
      <dsp:spPr>
        <a:xfrm>
          <a:off x="4942" y="7310"/>
          <a:ext cx="2528232" cy="1009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584" tIns="81280" rIns="227584" bIns="81280" numCol="1" spcCol="1270" anchor="ctr" anchorCtr="0">
          <a:noAutofit/>
        </a:bodyPr>
        <a:lstStyle/>
        <a:p>
          <a:pPr marL="0" lvl="0" indent="0" algn="r" defTabSz="1422400">
            <a:lnSpc>
              <a:spcPct val="90000"/>
            </a:lnSpc>
            <a:spcBef>
              <a:spcPct val="0"/>
            </a:spcBef>
            <a:spcAft>
              <a:spcPct val="35000"/>
            </a:spcAft>
            <a:buNone/>
          </a:pPr>
          <a:r>
            <a:rPr lang="en-US" sz="3200" kern="1200">
              <a:latin typeface="Arial" panose="020B0604020202020204" pitchFamily="34" charset="0"/>
              <a:cs typeface="Arial" panose="020B0604020202020204" pitchFamily="34" charset="0"/>
            </a:rPr>
            <a:t>Approach</a:t>
          </a:r>
        </a:p>
      </dsp:txBody>
      <dsp:txXfrm>
        <a:off x="4942" y="7310"/>
        <a:ext cx="2528232" cy="1009800"/>
      </dsp:txXfrm>
    </dsp:sp>
    <dsp:sp modelId="{1E428D31-2FD4-439A-A8B7-A8E5CF0ED4F5}">
      <dsp:nvSpPr>
        <dsp:cNvPr id="0" name=""/>
        <dsp:cNvSpPr/>
      </dsp:nvSpPr>
      <dsp:spPr>
        <a:xfrm>
          <a:off x="2533174" y="7310"/>
          <a:ext cx="505646" cy="1009800"/>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D59C037-4D0F-42A0-8F6D-90CF57A7A7C7}">
      <dsp:nvSpPr>
        <dsp:cNvPr id="0" name=""/>
        <dsp:cNvSpPr/>
      </dsp:nvSpPr>
      <dsp:spPr>
        <a:xfrm>
          <a:off x="3241079" y="7310"/>
          <a:ext cx="6876791" cy="1009800"/>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285750" lvl="1" indent="-285750" algn="l" defTabSz="1422400">
            <a:lnSpc>
              <a:spcPct val="90000"/>
            </a:lnSpc>
            <a:spcBef>
              <a:spcPct val="0"/>
            </a:spcBef>
            <a:spcAft>
              <a:spcPct val="15000"/>
            </a:spcAft>
            <a:buChar char="•"/>
          </a:pPr>
          <a:r>
            <a:rPr lang="en-US" sz="3200" kern="1200">
              <a:latin typeface="Arial" panose="020B0604020202020204" pitchFamily="34" charset="0"/>
              <a:cs typeface="Arial" panose="020B0604020202020204" pitchFamily="34" charset="0"/>
            </a:rPr>
            <a:t>Optimized adjuster-claim solution</a:t>
          </a:r>
        </a:p>
      </dsp:txBody>
      <dsp:txXfrm>
        <a:off x="3241079" y="7310"/>
        <a:ext cx="6876791" cy="10098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87E6CB-7E76-4396-BE9D-7F19C96CAD53}">
      <dsp:nvSpPr>
        <dsp:cNvPr id="0" name=""/>
        <dsp:cNvSpPr/>
      </dsp:nvSpPr>
      <dsp:spPr>
        <a:xfrm>
          <a:off x="4942" y="111209"/>
          <a:ext cx="2528232" cy="950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584" tIns="81280" rIns="227584" bIns="81280" numCol="1" spcCol="1270" anchor="ctr" anchorCtr="0">
          <a:noAutofit/>
        </a:bodyPr>
        <a:lstStyle/>
        <a:p>
          <a:pPr marL="0" lvl="0" indent="0" algn="r" defTabSz="1422400">
            <a:lnSpc>
              <a:spcPct val="90000"/>
            </a:lnSpc>
            <a:spcBef>
              <a:spcPct val="0"/>
            </a:spcBef>
            <a:spcAft>
              <a:spcPct val="35000"/>
            </a:spcAft>
            <a:buNone/>
          </a:pPr>
          <a:r>
            <a:rPr lang="en-US" sz="3200" kern="1200">
              <a:latin typeface="Arial" panose="020B0604020202020204" pitchFamily="34" charset="0"/>
              <a:cs typeface="Arial" panose="020B0604020202020204" pitchFamily="34" charset="0"/>
            </a:rPr>
            <a:t>Problem</a:t>
          </a:r>
        </a:p>
      </dsp:txBody>
      <dsp:txXfrm>
        <a:off x="4942" y="111209"/>
        <a:ext cx="2528232" cy="950400"/>
      </dsp:txXfrm>
    </dsp:sp>
    <dsp:sp modelId="{60F52F96-DAC9-4DB6-88DA-32C2A4B6983F}">
      <dsp:nvSpPr>
        <dsp:cNvPr id="0" name=""/>
        <dsp:cNvSpPr/>
      </dsp:nvSpPr>
      <dsp:spPr>
        <a:xfrm>
          <a:off x="2533174" y="7259"/>
          <a:ext cx="505646" cy="1158299"/>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E92590-1001-472C-9D9B-830E0ACF5372}">
      <dsp:nvSpPr>
        <dsp:cNvPr id="0" name=""/>
        <dsp:cNvSpPr/>
      </dsp:nvSpPr>
      <dsp:spPr>
        <a:xfrm>
          <a:off x="3241079" y="7259"/>
          <a:ext cx="6876791" cy="1158299"/>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285750" lvl="1" indent="-285750" algn="l" defTabSz="1422400">
            <a:lnSpc>
              <a:spcPct val="90000"/>
            </a:lnSpc>
            <a:spcBef>
              <a:spcPct val="0"/>
            </a:spcBef>
            <a:spcAft>
              <a:spcPct val="15000"/>
            </a:spcAft>
            <a:buChar char="•"/>
          </a:pPr>
          <a:r>
            <a:rPr lang="en-US" sz="3200" kern="1200">
              <a:latin typeface="Arial" panose="020B0604020202020204" pitchFamily="34" charset="0"/>
              <a:cs typeface="Arial" panose="020B0604020202020204" pitchFamily="34" charset="0"/>
            </a:rPr>
            <a:t>Adjuster Shortages</a:t>
          </a:r>
        </a:p>
        <a:p>
          <a:pPr marL="285750" lvl="1" indent="-285750" algn="l" defTabSz="1422400">
            <a:lnSpc>
              <a:spcPct val="90000"/>
            </a:lnSpc>
            <a:spcBef>
              <a:spcPct val="0"/>
            </a:spcBef>
            <a:spcAft>
              <a:spcPct val="15000"/>
            </a:spcAft>
            <a:buChar char="•"/>
          </a:pPr>
          <a:r>
            <a:rPr lang="en-US" sz="3200" kern="1200">
              <a:latin typeface="Arial" panose="020B0604020202020204" pitchFamily="34" charset="0"/>
              <a:cs typeface="Arial" panose="020B0604020202020204" pitchFamily="34" charset="0"/>
            </a:rPr>
            <a:t>Claim Influx</a:t>
          </a:r>
        </a:p>
      </dsp:txBody>
      <dsp:txXfrm>
        <a:off x="3241079" y="7259"/>
        <a:ext cx="6876791" cy="11582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8FE539-DDF7-4BB7-9675-0A0EE389D00F}">
      <dsp:nvSpPr>
        <dsp:cNvPr id="0" name=""/>
        <dsp:cNvSpPr/>
      </dsp:nvSpPr>
      <dsp:spPr>
        <a:xfrm>
          <a:off x="9880" y="521712"/>
          <a:ext cx="2525763" cy="378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584" tIns="81280" rIns="227584" bIns="81280" numCol="1" spcCol="1270" anchor="ctr" anchorCtr="0">
          <a:noAutofit/>
        </a:bodyPr>
        <a:lstStyle/>
        <a:p>
          <a:pPr marL="0" lvl="0" indent="0" algn="r" defTabSz="1422400">
            <a:lnSpc>
              <a:spcPct val="90000"/>
            </a:lnSpc>
            <a:spcBef>
              <a:spcPct val="0"/>
            </a:spcBef>
            <a:spcAft>
              <a:spcPct val="35000"/>
            </a:spcAft>
            <a:buNone/>
          </a:pPr>
          <a:r>
            <a:rPr lang="en-US" sz="3200" kern="1200">
              <a:latin typeface="Arial" panose="020B0604020202020204" pitchFamily="34" charset="0"/>
              <a:cs typeface="Arial" panose="020B0604020202020204" pitchFamily="34" charset="0"/>
            </a:rPr>
            <a:t>Impact</a:t>
          </a:r>
        </a:p>
      </dsp:txBody>
      <dsp:txXfrm>
        <a:off x="9880" y="521712"/>
        <a:ext cx="2525763" cy="378565"/>
      </dsp:txXfrm>
    </dsp:sp>
    <dsp:sp modelId="{B1614E2C-0EB3-4AEF-8354-947F57334A0F}">
      <dsp:nvSpPr>
        <dsp:cNvPr id="0" name=""/>
        <dsp:cNvSpPr/>
      </dsp:nvSpPr>
      <dsp:spPr>
        <a:xfrm>
          <a:off x="2535643" y="1183"/>
          <a:ext cx="505152" cy="1419622"/>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D3A402-A899-4BAD-8101-7B7B1F036266}">
      <dsp:nvSpPr>
        <dsp:cNvPr id="0" name=""/>
        <dsp:cNvSpPr/>
      </dsp:nvSpPr>
      <dsp:spPr>
        <a:xfrm>
          <a:off x="3242857" y="1183"/>
          <a:ext cx="6870075" cy="1419622"/>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285750" lvl="1" indent="-285750" algn="l" defTabSz="1422400">
            <a:lnSpc>
              <a:spcPct val="90000"/>
            </a:lnSpc>
            <a:spcBef>
              <a:spcPct val="0"/>
            </a:spcBef>
            <a:spcAft>
              <a:spcPct val="15000"/>
            </a:spcAft>
            <a:buChar char="•"/>
          </a:pPr>
          <a:r>
            <a:rPr lang="en-US" sz="3200" kern="1200">
              <a:latin typeface="Arial" panose="020B0604020202020204" pitchFamily="34" charset="0"/>
              <a:cs typeface="Arial" panose="020B0604020202020204" pitchFamily="34" charset="0"/>
            </a:rPr>
            <a:t>Cost Savings</a:t>
          </a:r>
        </a:p>
        <a:p>
          <a:pPr marL="285750" lvl="1" indent="-285750" algn="l" defTabSz="1422400">
            <a:lnSpc>
              <a:spcPct val="90000"/>
            </a:lnSpc>
            <a:spcBef>
              <a:spcPct val="0"/>
            </a:spcBef>
            <a:spcAft>
              <a:spcPct val="15000"/>
            </a:spcAft>
            <a:buChar char="•"/>
          </a:pPr>
          <a:r>
            <a:rPr lang="en-US" sz="3200" kern="1200">
              <a:latin typeface="Arial" panose="020B0604020202020204" pitchFamily="34" charset="0"/>
              <a:cs typeface="Arial" panose="020B0604020202020204" pitchFamily="34" charset="0"/>
            </a:rPr>
            <a:t>Traveler’s SLA Compliance</a:t>
          </a:r>
        </a:p>
        <a:p>
          <a:pPr marL="285750" lvl="1" indent="-285750" algn="l" defTabSz="1422400">
            <a:lnSpc>
              <a:spcPct val="90000"/>
            </a:lnSpc>
            <a:spcBef>
              <a:spcPct val="0"/>
            </a:spcBef>
            <a:spcAft>
              <a:spcPct val="15000"/>
            </a:spcAft>
            <a:buChar char="•"/>
          </a:pPr>
          <a:r>
            <a:rPr lang="en-US" sz="3200" kern="1200">
              <a:latin typeface="Arial" panose="020B0604020202020204" pitchFamily="34" charset="0"/>
              <a:cs typeface="Arial" panose="020B0604020202020204" pitchFamily="34" charset="0"/>
            </a:rPr>
            <a:t>Customer Satisfaction</a:t>
          </a:r>
        </a:p>
      </dsp:txBody>
      <dsp:txXfrm>
        <a:off x="3242857" y="1183"/>
        <a:ext cx="6870075" cy="141962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C7DC0B-6AA3-416D-9BE8-5DF9A23C6797}">
      <dsp:nvSpPr>
        <dsp:cNvPr id="0" name=""/>
        <dsp:cNvSpPr/>
      </dsp:nvSpPr>
      <dsp:spPr>
        <a:xfrm>
          <a:off x="9880" y="307594"/>
          <a:ext cx="2525763" cy="409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584" tIns="81280" rIns="227584" bIns="81280" numCol="1" spcCol="1270" anchor="ctr" anchorCtr="0">
          <a:noAutofit/>
        </a:bodyPr>
        <a:lstStyle/>
        <a:p>
          <a:pPr marL="0" lvl="0" indent="0" algn="r" defTabSz="1422400">
            <a:lnSpc>
              <a:spcPct val="90000"/>
            </a:lnSpc>
            <a:spcBef>
              <a:spcPct val="0"/>
            </a:spcBef>
            <a:spcAft>
              <a:spcPct val="35000"/>
            </a:spcAft>
            <a:buNone/>
          </a:pPr>
          <a:r>
            <a:rPr lang="en-US" sz="3200" kern="1200">
              <a:latin typeface="Arial" panose="020B0604020202020204" pitchFamily="34" charset="0"/>
              <a:cs typeface="Arial" panose="020B0604020202020204" pitchFamily="34" charset="0"/>
            </a:rPr>
            <a:t>Result</a:t>
          </a:r>
        </a:p>
      </dsp:txBody>
      <dsp:txXfrm>
        <a:off x="9880" y="307594"/>
        <a:ext cx="2525763" cy="409231"/>
      </dsp:txXfrm>
    </dsp:sp>
    <dsp:sp modelId="{4C1A48F0-4D80-4CA7-A2C0-3EFCB37A6692}">
      <dsp:nvSpPr>
        <dsp:cNvPr id="0" name=""/>
        <dsp:cNvSpPr/>
      </dsp:nvSpPr>
      <dsp:spPr>
        <a:xfrm>
          <a:off x="2535643" y="670"/>
          <a:ext cx="505152" cy="1023079"/>
        </a:xfrm>
        <a:prstGeom prst="leftBrace">
          <a:avLst>
            <a:gd name="adj1" fmla="val 35000"/>
            <a:gd name="adj2" fmla="val 5000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F49579-4436-4C54-A569-983B62874AD9}">
      <dsp:nvSpPr>
        <dsp:cNvPr id="0" name=""/>
        <dsp:cNvSpPr/>
      </dsp:nvSpPr>
      <dsp:spPr>
        <a:xfrm>
          <a:off x="3242857" y="670"/>
          <a:ext cx="6870075" cy="1023079"/>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285750" lvl="1" indent="-285750" algn="l" defTabSz="1422400">
            <a:lnSpc>
              <a:spcPct val="90000"/>
            </a:lnSpc>
            <a:spcBef>
              <a:spcPct val="0"/>
            </a:spcBef>
            <a:spcAft>
              <a:spcPct val="15000"/>
            </a:spcAft>
            <a:buChar char="•"/>
          </a:pPr>
          <a:r>
            <a:rPr lang="en-US" sz="3200" kern="1200">
              <a:latin typeface="Arial" panose="020B0604020202020204" pitchFamily="34" charset="0"/>
              <a:cs typeface="Arial" panose="020B0604020202020204" pitchFamily="34" charset="0"/>
            </a:rPr>
            <a:t>6-day Delay Time Reduction</a:t>
          </a:r>
        </a:p>
        <a:p>
          <a:pPr marL="285750" lvl="1" indent="-285750" algn="l" defTabSz="1422400">
            <a:lnSpc>
              <a:spcPct val="90000"/>
            </a:lnSpc>
            <a:spcBef>
              <a:spcPct val="0"/>
            </a:spcBef>
            <a:spcAft>
              <a:spcPct val="15000"/>
            </a:spcAft>
            <a:buChar char="•"/>
          </a:pPr>
          <a:r>
            <a:rPr lang="en-US" sz="3200" kern="1200">
              <a:latin typeface="Arial" panose="020B0604020202020204" pitchFamily="34" charset="0"/>
              <a:cs typeface="Arial" panose="020B0604020202020204" pitchFamily="34" charset="0"/>
            </a:rPr>
            <a:t>100% in Assignment Efficiency</a:t>
          </a:r>
        </a:p>
      </dsp:txBody>
      <dsp:txXfrm>
        <a:off x="3242857" y="670"/>
        <a:ext cx="6870075" cy="102307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6EB1F2-A071-4B96-AB21-76D72B5F7255}">
      <dsp:nvSpPr>
        <dsp:cNvPr id="0" name=""/>
        <dsp:cNvSpPr/>
      </dsp:nvSpPr>
      <dsp:spPr>
        <a:xfrm>
          <a:off x="0" y="552581"/>
          <a:ext cx="3300497" cy="46332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Segoe UI"/>
              <a:ea typeface="+mn-ea"/>
              <a:cs typeface="Segoe UI"/>
            </a:rPr>
            <a:t>🎯 Severity – Skill Matching </a:t>
          </a:r>
          <a:endParaRPr lang="en-US" sz="1800" kern="1200">
            <a:latin typeface="Neue Haas Grotesk Text Pro"/>
            <a:ea typeface="+mn-ea"/>
            <a:cs typeface="+mn-cs"/>
          </a:endParaRPr>
        </a:p>
      </dsp:txBody>
      <dsp:txXfrm>
        <a:off x="22617" y="575198"/>
        <a:ext cx="3255263" cy="418086"/>
      </dsp:txXfrm>
    </dsp:sp>
    <dsp:sp modelId="{AE340181-EA7A-4438-AABE-05FF0F3FC47A}">
      <dsp:nvSpPr>
        <dsp:cNvPr id="0" name=""/>
        <dsp:cNvSpPr/>
      </dsp:nvSpPr>
      <dsp:spPr>
        <a:xfrm>
          <a:off x="0" y="1067741"/>
          <a:ext cx="3300497" cy="46332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a:latin typeface="Segoe UI"/>
              <a:ea typeface="+mn-ea"/>
              <a:cs typeface="Segoe UI"/>
            </a:rPr>
            <a:t> 📍 Adjuster – Claim Distance</a:t>
          </a:r>
          <a:endParaRPr lang="en-US" sz="1800" kern="1200">
            <a:latin typeface="Neue Haas Grotesk Text Pro"/>
            <a:ea typeface="+mn-ea"/>
            <a:cs typeface="+mn-cs"/>
          </a:endParaRPr>
        </a:p>
      </dsp:txBody>
      <dsp:txXfrm>
        <a:off x="22617" y="1090358"/>
        <a:ext cx="3255263" cy="418086"/>
      </dsp:txXfrm>
    </dsp:sp>
    <dsp:sp modelId="{DFD75DD6-D3F0-4F4E-BF93-AF64EDC878F3}">
      <dsp:nvSpPr>
        <dsp:cNvPr id="0" name=""/>
        <dsp:cNvSpPr/>
      </dsp:nvSpPr>
      <dsp:spPr>
        <a:xfrm>
          <a:off x="0" y="1582901"/>
          <a:ext cx="3300497" cy="46332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a:latin typeface="Segoe UI"/>
              <a:ea typeface="+mn-ea"/>
              <a:cs typeface="Segoe UI"/>
            </a:rPr>
            <a:t>⚙️ Adjuster Preferences</a:t>
          </a:r>
          <a:endParaRPr lang="en-US" sz="1800" kern="1200">
            <a:latin typeface="Neue Haas Grotesk Text Pro"/>
            <a:ea typeface="+mn-ea"/>
            <a:cs typeface="+mn-cs"/>
          </a:endParaRPr>
        </a:p>
      </dsp:txBody>
      <dsp:txXfrm>
        <a:off x="22617" y="1605518"/>
        <a:ext cx="3255263" cy="418086"/>
      </dsp:txXfrm>
    </dsp:sp>
    <dsp:sp modelId="{7FA6E18D-E9FF-4D86-B1C6-437432F2BEAC}">
      <dsp:nvSpPr>
        <dsp:cNvPr id="0" name=""/>
        <dsp:cNvSpPr/>
      </dsp:nvSpPr>
      <dsp:spPr>
        <a:xfrm>
          <a:off x="0" y="2098061"/>
          <a:ext cx="3300497" cy="46332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Calibri"/>
              <a:ea typeface="Calibri"/>
              <a:cs typeface="Calibri"/>
            </a:rPr>
            <a:t>⏱️ NOL/SLA Priorities</a:t>
          </a:r>
          <a:endParaRPr lang="en-US" sz="1800" kern="1200">
            <a:latin typeface="Segoe UI"/>
            <a:ea typeface="+mn-ea"/>
            <a:cs typeface="Segoe UI"/>
          </a:endParaRPr>
        </a:p>
      </dsp:txBody>
      <dsp:txXfrm>
        <a:off x="22617" y="2120678"/>
        <a:ext cx="3255263" cy="418086"/>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3.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4.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1C59D7E-F378-E49B-73C2-3712138C2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9BCD032-D207-78A2-6A06-A82EC7EF31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C5C532-F09C-4054-B0E2-820F723B4990}" type="datetimeFigureOut">
              <a:rPr lang="en-US" smtClean="0"/>
              <a:t>10/17/2026</a:t>
            </a:fld>
            <a:endParaRPr lang="en-US"/>
          </a:p>
        </p:txBody>
      </p:sp>
      <p:sp>
        <p:nvSpPr>
          <p:cNvPr id="4" name="Footer Placeholder 3">
            <a:extLst>
              <a:ext uri="{FF2B5EF4-FFF2-40B4-BE49-F238E27FC236}">
                <a16:creationId xmlns:a16="http://schemas.microsoft.com/office/drawing/2014/main" id="{A578B407-F970-459B-2F1A-E1D8170AC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60A5C0E-B312-FDD2-12FB-3D5D2E3F38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8B2243-4DD5-43C9-BFC9-CD4800F6AEFC}" type="slidenum">
              <a:rPr lang="en-US" smtClean="0"/>
              <a:t>‹#›</a:t>
            </a:fld>
            <a:endParaRPr lang="en-US"/>
          </a:p>
        </p:txBody>
      </p:sp>
    </p:spTree>
    <p:extLst>
      <p:ext uri="{BB962C8B-B14F-4D97-AF65-F5344CB8AC3E}">
        <p14:creationId xmlns:p14="http://schemas.microsoft.com/office/powerpoint/2010/main" val="18761669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7D78D4-8830-4043-9064-E6BE46C06313}"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2FDDA2-D307-7D41-8A9B-9D02DEE488BF}" type="slidenum">
              <a:rPr lang="en-US" smtClean="0"/>
              <a:t>‹#›</a:t>
            </a:fld>
            <a:endParaRPr lang="en-US"/>
          </a:p>
        </p:txBody>
      </p:sp>
    </p:spTree>
    <p:extLst>
      <p:ext uri="{BB962C8B-B14F-4D97-AF65-F5344CB8AC3E}">
        <p14:creationId xmlns:p14="http://schemas.microsoft.com/office/powerpoint/2010/main" val="113408906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2FDDA2-D307-7D41-8A9B-9D02DEE488BF}" type="slidenum">
              <a:rPr lang="en-US" smtClean="0"/>
              <a:t>1</a:t>
            </a:fld>
            <a:endParaRPr lang="en-US"/>
          </a:p>
        </p:txBody>
      </p:sp>
      <p:sp>
        <p:nvSpPr>
          <p:cNvPr id="5" name="Footer Placeholder 4">
            <a:extLst>
              <a:ext uri="{FF2B5EF4-FFF2-40B4-BE49-F238E27FC236}">
                <a16:creationId xmlns:a16="http://schemas.microsoft.com/office/drawing/2014/main" id="{AB1189B2-CC74-6776-7F38-C3370CDB62D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654210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Flip the order of green – positive scenario before the red</a:t>
            </a:r>
          </a:p>
          <a:p>
            <a:endParaRPr lang="en-US">
              <a:ea typeface="Calibri"/>
              <a:cs typeface="Calibri"/>
            </a:endParaRPr>
          </a:p>
          <a:p>
            <a:endParaRPr lang="en-US">
              <a:ea typeface="Calibri"/>
              <a:cs typeface="Calibri"/>
            </a:endParaRPr>
          </a:p>
          <a:p>
            <a:endParaRPr lang="en-US">
              <a:ea typeface="Calibri"/>
              <a:cs typeface="Calibri"/>
            </a:endParaRPr>
          </a:p>
          <a:p>
            <a:r>
              <a:rPr lang="en-US">
                <a:ea typeface="Calibri"/>
                <a:cs typeface="Calibri"/>
              </a:rPr>
              <a:t>(Make sure to highlight the differences in Travelers vs their competitors. Tie back to costs (customer loss, revenue loss vs customer retainment) – 2 minutes)</a:t>
            </a:r>
          </a:p>
        </p:txBody>
      </p:sp>
      <p:sp>
        <p:nvSpPr>
          <p:cNvPr id="4" name="Slide Number Placeholder 3"/>
          <p:cNvSpPr>
            <a:spLocks noGrp="1"/>
          </p:cNvSpPr>
          <p:nvPr>
            <p:ph type="sldNum" sz="quarter" idx="5"/>
          </p:nvPr>
        </p:nvSpPr>
        <p:spPr/>
        <p:txBody>
          <a:bodyPr/>
          <a:lstStyle/>
          <a:p>
            <a:fld id="{562FDDA2-D307-7D41-8A9B-9D02DEE488BF}" type="slidenum">
              <a:rPr lang="en-US" smtClean="0"/>
              <a:t>3</a:t>
            </a:fld>
            <a:endParaRPr lang="en-US"/>
          </a:p>
        </p:txBody>
      </p:sp>
      <p:sp>
        <p:nvSpPr>
          <p:cNvPr id="5" name="Footer Placeholder 4">
            <a:extLst>
              <a:ext uri="{FF2B5EF4-FFF2-40B4-BE49-F238E27FC236}">
                <a16:creationId xmlns:a16="http://schemas.microsoft.com/office/drawing/2014/main" id="{E53BCE3D-C53E-DCED-152B-42E1EA7BCD7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311922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*satisfaction unless we can quantify financially</a:t>
            </a:r>
          </a:p>
          <a:p>
            <a:endParaRPr lang="en-US"/>
          </a:p>
          <a:p>
            <a:r>
              <a:rPr lang="en-US"/>
              <a:t>Bullet points: optimally match </a:t>
            </a:r>
            <a:r>
              <a:rPr lang="en-US">
                <a:sym typeface="Wingdings" pitchFamily="2" charset="2"/>
              </a:rPr>
              <a:t> Results: </a:t>
            </a:r>
            <a:r>
              <a:rPr lang="en-US" err="1">
                <a:sym typeface="Wingdings" pitchFamily="2" charset="2"/>
              </a:rPr>
              <a:t>etc</a:t>
            </a:r>
            <a:r>
              <a:rPr lang="en-US">
                <a:sym typeface="Wingdings" pitchFamily="2" charset="2"/>
              </a:rPr>
              <a:t>….</a:t>
            </a:r>
            <a:endParaRPr lang="en-US"/>
          </a:p>
          <a:p>
            <a:r>
              <a:rPr lang="en-US"/>
              <a:t>Analytical approach: linear programming??</a:t>
            </a:r>
          </a:p>
          <a:p>
            <a:r>
              <a:rPr lang="en-US"/>
              <a:t>Executive Summary – Problem / Approach / Result / </a:t>
            </a:r>
            <a:r>
              <a:rPr lang="en-US" err="1"/>
              <a:t>Reccommendation</a:t>
            </a:r>
            <a:endParaRPr lang="en-US"/>
          </a:p>
          <a:p>
            <a:endParaRPr lang="en-US"/>
          </a:p>
          <a:p>
            <a:endParaRPr lang="en-US"/>
          </a:p>
          <a:p>
            <a:r>
              <a:rPr lang="en-US"/>
              <a:t>Business Problem: skilled adjusters and claim influx</a:t>
            </a:r>
          </a:p>
          <a:p>
            <a:r>
              <a:rPr lang="en-US"/>
              <a:t>Approach: optimized adjuster-claim solution</a:t>
            </a:r>
          </a:p>
          <a:p>
            <a:r>
              <a:rPr lang="en-US"/>
              <a:t>Result: </a:t>
            </a:r>
          </a:p>
          <a:p>
            <a:pPr lvl="1"/>
            <a:r>
              <a:rPr lang="en-US"/>
              <a:t>reduce delay time by 6 days</a:t>
            </a:r>
          </a:p>
          <a:p>
            <a:pPr marL="233363" lvl="1" indent="-233363"/>
            <a:r>
              <a:rPr lang="en-US" sz="2800">
                <a:latin typeface="Avenir Medium" panose="02000503020000020003" pitchFamily="2" charset="0"/>
              </a:rPr>
              <a:t>Impact: </a:t>
            </a:r>
          </a:p>
          <a:p>
            <a:pPr marL="690563" lvl="2" indent="-233363"/>
            <a:r>
              <a:rPr lang="en-US" sz="2400">
                <a:latin typeface="Avenir Medium" panose="02000503020000020003" pitchFamily="2" charset="0"/>
              </a:rPr>
              <a:t>Cost Savings, </a:t>
            </a:r>
          </a:p>
          <a:p>
            <a:pPr marL="690563" lvl="2" indent="-233363"/>
            <a:r>
              <a:rPr lang="en-US" sz="2400">
                <a:latin typeface="Avenir Medium" panose="02000503020000020003" pitchFamily="2" charset="0"/>
              </a:rPr>
              <a:t>Regulation Compliance, </a:t>
            </a:r>
          </a:p>
          <a:p>
            <a:pPr marL="690563" lvl="2" indent="-233363"/>
            <a:r>
              <a:rPr lang="en-US" sz="2400">
                <a:latin typeface="Avenir Medium" panose="02000503020000020003" pitchFamily="2" charset="0"/>
              </a:rPr>
              <a:t>Customer Retention</a:t>
            </a:r>
          </a:p>
          <a:p>
            <a:endParaRPr lang="en-US"/>
          </a:p>
          <a:p>
            <a:endParaRPr lang="en-US"/>
          </a:p>
          <a:p>
            <a:endParaRPr lang="en-US"/>
          </a:p>
          <a:p>
            <a:r>
              <a:rPr lang="en-US"/>
              <a:t>Since our team needed to optimize matching our adjusters to equal level claim assignments, we created a model that matched them by proximity and reduced overall delay time by 6 days. For Travelers, this can lead to cost savings, regulation compliance, and customer retention.</a:t>
            </a:r>
          </a:p>
          <a:p>
            <a:endParaRPr lang="en-US"/>
          </a:p>
          <a:p>
            <a:r>
              <a:rPr lang="en-US"/>
              <a:t>To streamline the process of matching adjusters to their claim assignments, we created a model that matched the two based on proximity that reduced delay time by 6 days. This could lead to cost savings, regulation compliance, and customer retention.</a:t>
            </a:r>
          </a:p>
          <a:p>
            <a:endParaRPr lang="en-US"/>
          </a:p>
          <a:p>
            <a:endParaRPr lang="en-US"/>
          </a:p>
          <a:p>
            <a:endParaRPr lang="en-US"/>
          </a:p>
          <a:p>
            <a:endParaRPr lang="en-US"/>
          </a:p>
        </p:txBody>
      </p:sp>
      <p:sp>
        <p:nvSpPr>
          <p:cNvPr id="4" name="Slide Number Placeholder 3"/>
          <p:cNvSpPr>
            <a:spLocks noGrp="1"/>
          </p:cNvSpPr>
          <p:nvPr>
            <p:ph type="sldNum" sz="quarter" idx="5"/>
          </p:nvPr>
        </p:nvSpPr>
        <p:spPr/>
        <p:txBody>
          <a:bodyPr/>
          <a:lstStyle/>
          <a:p>
            <a:fld id="{562FDDA2-D307-7D41-8A9B-9D02DEE488BF}" type="slidenum">
              <a:rPr lang="en-US" smtClean="0"/>
              <a:t>4</a:t>
            </a:fld>
            <a:endParaRPr lang="en-US"/>
          </a:p>
        </p:txBody>
      </p:sp>
      <p:sp>
        <p:nvSpPr>
          <p:cNvPr id="5" name="Footer Placeholder 4">
            <a:extLst>
              <a:ext uri="{FF2B5EF4-FFF2-40B4-BE49-F238E27FC236}">
                <a16:creationId xmlns:a16="http://schemas.microsoft.com/office/drawing/2014/main" id="{D2ED5B27-D4E7-8EF3-0EDD-C6CCADBC875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232392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0C8DD-E13E-5C4A-1181-765BFC6A55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3C3EF8-B428-0F44-5AF8-75EB870BC1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D540BC-73BB-03D3-C302-A13251A09190}"/>
              </a:ext>
            </a:extLst>
          </p:cNvPr>
          <p:cNvSpPr>
            <a:spLocks noGrp="1"/>
          </p:cNvSpPr>
          <p:nvPr>
            <p:ph type="body" idx="1"/>
          </p:nvPr>
        </p:nvSpPr>
        <p:spPr/>
        <p:txBody>
          <a:bodyPr/>
          <a:lstStyle/>
          <a:p>
            <a:r>
              <a:rPr lang="en-US"/>
              <a:t>Pop one section of web app at a time: explain each section of how the solution works. One Red animation at a time.</a:t>
            </a:r>
          </a:p>
          <a:p>
            <a:r>
              <a:rPr lang="en-US"/>
              <a:t>Have a story: create a persona who use this and how.</a:t>
            </a:r>
          </a:p>
          <a:p>
            <a:r>
              <a:rPr lang="en-US"/>
              <a:t>Explain the solution before showing the solution: dashboard operational view with metrics feeding; adjustment to features.</a:t>
            </a:r>
          </a:p>
        </p:txBody>
      </p:sp>
      <p:sp>
        <p:nvSpPr>
          <p:cNvPr id="4" name="Slide Number Placeholder 3">
            <a:extLst>
              <a:ext uri="{FF2B5EF4-FFF2-40B4-BE49-F238E27FC236}">
                <a16:creationId xmlns:a16="http://schemas.microsoft.com/office/drawing/2014/main" id="{63433284-2290-7856-65AC-0924969A4C40}"/>
              </a:ext>
            </a:extLst>
          </p:cNvPr>
          <p:cNvSpPr>
            <a:spLocks noGrp="1"/>
          </p:cNvSpPr>
          <p:nvPr>
            <p:ph type="sldNum" sz="quarter" idx="5"/>
          </p:nvPr>
        </p:nvSpPr>
        <p:spPr/>
        <p:txBody>
          <a:bodyPr/>
          <a:lstStyle/>
          <a:p>
            <a:fld id="{562FDDA2-D307-7D41-8A9B-9D02DEE488BF}" type="slidenum">
              <a:rPr lang="en-US" smtClean="0"/>
              <a:t>5</a:t>
            </a:fld>
            <a:endParaRPr lang="en-US"/>
          </a:p>
        </p:txBody>
      </p:sp>
      <p:sp>
        <p:nvSpPr>
          <p:cNvPr id="5" name="Footer Placeholder 4">
            <a:extLst>
              <a:ext uri="{FF2B5EF4-FFF2-40B4-BE49-F238E27FC236}">
                <a16:creationId xmlns:a16="http://schemas.microsoft.com/office/drawing/2014/main" id="{25A96D5B-F97C-5C00-AC86-FDEE9F3B8D7D}"/>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533332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05AFD-6E5C-F44A-A031-A4761D45F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23CE56-989D-0F7A-4A1D-19F2B3245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AEBFF4-39F1-FA25-1321-EFDAA736A39E}"/>
              </a:ext>
            </a:extLst>
          </p:cNvPr>
          <p:cNvSpPr>
            <a:spLocks noGrp="1"/>
          </p:cNvSpPr>
          <p:nvPr>
            <p:ph type="body" idx="1"/>
          </p:nvPr>
        </p:nvSpPr>
        <p:spPr/>
        <p:txBody>
          <a:bodyPr/>
          <a:lstStyle/>
          <a:p>
            <a:r>
              <a:rPr lang="en-US"/>
              <a:t>Assumption title changes to Model Drivers or something else</a:t>
            </a:r>
          </a:p>
          <a:p>
            <a:r>
              <a:rPr lang="en-US"/>
              <a:t>Think of how to use all spaces, including legends</a:t>
            </a:r>
          </a:p>
          <a:p>
            <a:r>
              <a:rPr lang="en-US"/>
              <a:t>Another story-telling: make a question to start the slide, give example of each situation – high probability of matching and low probability of matching.</a:t>
            </a:r>
          </a:p>
          <a:p>
            <a:r>
              <a:rPr lang="en-US"/>
              <a:t>Explain what linear programming does in simple term. </a:t>
            </a:r>
          </a:p>
        </p:txBody>
      </p:sp>
      <p:sp>
        <p:nvSpPr>
          <p:cNvPr id="4" name="Slide Number Placeholder 3">
            <a:extLst>
              <a:ext uri="{FF2B5EF4-FFF2-40B4-BE49-F238E27FC236}">
                <a16:creationId xmlns:a16="http://schemas.microsoft.com/office/drawing/2014/main" id="{EFB61B53-2AFA-B70B-A4EA-A8BD030794F2}"/>
              </a:ext>
            </a:extLst>
          </p:cNvPr>
          <p:cNvSpPr>
            <a:spLocks noGrp="1"/>
          </p:cNvSpPr>
          <p:nvPr>
            <p:ph type="sldNum" sz="quarter" idx="5"/>
          </p:nvPr>
        </p:nvSpPr>
        <p:spPr/>
        <p:txBody>
          <a:bodyPr/>
          <a:lstStyle/>
          <a:p>
            <a:fld id="{562FDDA2-D307-7D41-8A9B-9D02DEE488BF}" type="slidenum">
              <a:rPr lang="en-US" smtClean="0"/>
              <a:t>6</a:t>
            </a:fld>
            <a:endParaRPr lang="en-US"/>
          </a:p>
        </p:txBody>
      </p:sp>
      <p:sp>
        <p:nvSpPr>
          <p:cNvPr id="5" name="Footer Placeholder 4">
            <a:extLst>
              <a:ext uri="{FF2B5EF4-FFF2-40B4-BE49-F238E27FC236}">
                <a16:creationId xmlns:a16="http://schemas.microsoft.com/office/drawing/2014/main" id="{D78B62A8-ACCC-F0D2-2880-9FE5064FEAD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094381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562FDDA2-D307-7D41-8A9B-9D02DEE488BF}" type="slidenum">
              <a:rPr lang="en-US" smtClean="0"/>
              <a:t>8</a:t>
            </a:fld>
            <a:endParaRPr lang="en-US"/>
          </a:p>
        </p:txBody>
      </p:sp>
    </p:spTree>
    <p:extLst>
      <p:ext uri="{BB962C8B-B14F-4D97-AF65-F5344CB8AC3E}">
        <p14:creationId xmlns:p14="http://schemas.microsoft.com/office/powerpoint/2010/main" val="3252825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In graph number one, we can see the number of claims that we received daily during the CAT event. There is a large number of</a:t>
            </a:r>
            <a:r>
              <a:rPr lang="en-US">
                <a:ea typeface="Calibri"/>
                <a:cs typeface="Calibri"/>
              </a:rPr>
              <a:t> claims received specifically within the first 4 days following the event. Our model took these claims received and distributed them so that we were able to complete them all over the course of their SLA deadlines. </a:t>
            </a:r>
          </a:p>
          <a:p>
            <a:r>
              <a:rPr lang="en-US" dirty="0">
                <a:ea typeface="Calibri"/>
                <a:cs typeface="Calibri"/>
              </a:rPr>
              <a:t>The second graph shows how we assigned those claims and how there were two large peaks where the majority of claim assignments occurred both in the first four days and then again around day 10.</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562FDDA2-D307-7D41-8A9B-9D02DEE488BF}" type="slidenum">
              <a:rPr lang="en-US" smtClean="0"/>
              <a:t>9</a:t>
            </a:fld>
            <a:endParaRPr lang="en-US"/>
          </a:p>
        </p:txBody>
      </p:sp>
    </p:spTree>
    <p:extLst>
      <p:ext uri="{BB962C8B-B14F-4D97-AF65-F5344CB8AC3E}">
        <p14:creationId xmlns:p14="http://schemas.microsoft.com/office/powerpoint/2010/main" val="4280337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6BCEB-AFBC-5DD0-0226-80B83B79E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53F2D-28D2-1E14-902F-EC89AF65C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42A74-2720-3A59-BE26-457338ACDFF6}"/>
              </a:ext>
            </a:extLst>
          </p:cNvPr>
          <p:cNvSpPr>
            <a:spLocks noGrp="1"/>
          </p:cNvSpPr>
          <p:nvPr>
            <p:ph type="body" idx="1"/>
          </p:nvPr>
        </p:nvSpPr>
        <p:spPr/>
        <p:txBody>
          <a:bodyPr/>
          <a:lstStyle/>
          <a:p>
            <a:pPr rtl="0" fontAlgn="ctr"/>
            <a:r>
              <a:rPr lang="en-US" sz="1200" kern="1200">
                <a:solidFill>
                  <a:schemeClr val="tx1"/>
                </a:solidFill>
                <a:effectLst/>
                <a:latin typeface="+mn-lt"/>
                <a:ea typeface="+mn-ea"/>
                <a:cs typeface="+mn-cs"/>
              </a:rPr>
              <a:t>Model Performance (rename the slide)  - tying back to the outcome</a:t>
            </a:r>
          </a:p>
          <a:p>
            <a:pPr lvl="1" rtl="0" fontAlgn="ctr"/>
            <a:r>
              <a:rPr lang="en-US" sz="1200" kern="1200">
                <a:solidFill>
                  <a:schemeClr val="tx1"/>
                </a:solidFill>
                <a:effectLst/>
                <a:latin typeface="+mn-lt"/>
                <a:ea typeface="+mn-ea"/>
                <a:cs typeface="+mn-cs"/>
              </a:rPr>
              <a:t>Talk about Positive</a:t>
            </a:r>
          </a:p>
          <a:p>
            <a:pPr lvl="1" rtl="0" fontAlgn="ctr"/>
            <a:r>
              <a:rPr lang="en-US" sz="1200" kern="1200">
                <a:solidFill>
                  <a:schemeClr val="tx1"/>
                </a:solidFill>
                <a:effectLst/>
                <a:latin typeface="+mn-lt"/>
                <a:ea typeface="+mn-ea"/>
                <a:cs typeface="+mn-cs"/>
              </a:rPr>
              <a:t>Too much space for 1 slide</a:t>
            </a:r>
          </a:p>
          <a:p>
            <a:pPr lvl="1"/>
            <a:endParaRPr lang="en-US">
              <a:ea typeface="Calibri"/>
              <a:cs typeface="Calibri"/>
            </a:endParaRPr>
          </a:p>
          <a:p>
            <a:pPr lvl="1"/>
            <a:r>
              <a:rPr lang="en-US">
                <a:ea typeface="Calibri"/>
                <a:cs typeface="Calibri"/>
              </a:rPr>
              <a:t>Percentage completed prior to the SLA deadline, number of days delayed, were the claims completed within 28 days</a:t>
            </a:r>
          </a:p>
          <a:p>
            <a:endParaRPr lang="en-US">
              <a:ea typeface="Calibri"/>
              <a:cs typeface="Calibri"/>
            </a:endParaRPr>
          </a:p>
        </p:txBody>
      </p:sp>
      <p:sp>
        <p:nvSpPr>
          <p:cNvPr id="4" name="Slide Number Placeholder 3">
            <a:extLst>
              <a:ext uri="{FF2B5EF4-FFF2-40B4-BE49-F238E27FC236}">
                <a16:creationId xmlns:a16="http://schemas.microsoft.com/office/drawing/2014/main" id="{F3ED6E2B-B3E5-FCFA-677A-59FCCF89A12E}"/>
              </a:ext>
            </a:extLst>
          </p:cNvPr>
          <p:cNvSpPr>
            <a:spLocks noGrp="1"/>
          </p:cNvSpPr>
          <p:nvPr>
            <p:ph type="sldNum" sz="quarter" idx="5"/>
          </p:nvPr>
        </p:nvSpPr>
        <p:spPr/>
        <p:txBody>
          <a:bodyPr/>
          <a:lstStyle/>
          <a:p>
            <a:fld id="{562FDDA2-D307-7D41-8A9B-9D02DEE488BF}" type="slidenum">
              <a:rPr lang="en-US" smtClean="0"/>
              <a:t>10</a:t>
            </a:fld>
            <a:endParaRPr lang="en-US"/>
          </a:p>
        </p:txBody>
      </p:sp>
      <p:sp>
        <p:nvSpPr>
          <p:cNvPr id="5" name="Footer Placeholder 4">
            <a:extLst>
              <a:ext uri="{FF2B5EF4-FFF2-40B4-BE49-F238E27FC236}">
                <a16:creationId xmlns:a16="http://schemas.microsoft.com/office/drawing/2014/main" id="{60C7D342-CFE8-C004-15B4-7A3CBAF11B1C}"/>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877258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bullet points</a:t>
            </a:r>
          </a:p>
          <a:p>
            <a:endParaRPr lang="en-US">
              <a:ea typeface="Calibri"/>
              <a:cs typeface="Calibri"/>
            </a:endParaRPr>
          </a:p>
          <a:p>
            <a:r>
              <a:rPr lang="en-US"/>
              <a:t>Consider utilizing 3rd party adjusters</a:t>
            </a:r>
            <a:endParaRPr lang="en-US">
              <a:solidFill>
                <a:srgbClr val="444444"/>
              </a:solidFill>
            </a:endParaRPr>
          </a:p>
          <a:p>
            <a:r>
              <a:rPr lang="en-US"/>
              <a:t>Use text analysis for claim severity assignment</a:t>
            </a:r>
            <a:endParaRPr lang="en-US">
              <a:solidFill>
                <a:srgbClr val="444444"/>
              </a:solidFill>
            </a:endParaRPr>
          </a:p>
          <a:p>
            <a:r>
              <a:rPr lang="en-US"/>
              <a:t>Incentivize adjusters to improve skill level</a:t>
            </a:r>
            <a:endParaRPr lang="en-US">
              <a:solidFill>
                <a:srgbClr val="444444"/>
              </a:solidFill>
            </a:endParaRPr>
          </a:p>
          <a:p>
            <a:r>
              <a:rPr lang="en-US"/>
              <a:t>Utilize skill level 3+ adjusters regardless of travel preferences</a:t>
            </a:r>
            <a:endParaRPr lang="en-US">
              <a:solidFill>
                <a:srgbClr val="444444"/>
              </a:solidFill>
            </a:endParaRPr>
          </a:p>
          <a:p>
            <a:r>
              <a:rPr lang="en-US"/>
              <a:t>Adjusters with admin titles should train for CAT events</a:t>
            </a:r>
          </a:p>
        </p:txBody>
      </p:sp>
      <p:sp>
        <p:nvSpPr>
          <p:cNvPr id="4" name="Slide Number Placeholder 3"/>
          <p:cNvSpPr>
            <a:spLocks noGrp="1"/>
          </p:cNvSpPr>
          <p:nvPr>
            <p:ph type="sldNum" sz="quarter" idx="5"/>
          </p:nvPr>
        </p:nvSpPr>
        <p:spPr/>
        <p:txBody>
          <a:bodyPr/>
          <a:lstStyle/>
          <a:p>
            <a:fld id="{562FDDA2-D307-7D41-8A9B-9D02DEE488BF}" type="slidenum">
              <a:rPr lang="en-US" smtClean="0"/>
              <a:t>11</a:t>
            </a:fld>
            <a:endParaRPr lang="en-US"/>
          </a:p>
        </p:txBody>
      </p:sp>
      <p:sp>
        <p:nvSpPr>
          <p:cNvPr id="5" name="Footer Placeholder 4">
            <a:extLst>
              <a:ext uri="{FF2B5EF4-FFF2-40B4-BE49-F238E27FC236}">
                <a16:creationId xmlns:a16="http://schemas.microsoft.com/office/drawing/2014/main" id="{5AADF90D-7DB6-DFD8-6A44-B341F40DECD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966264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https://www.policygenius.com/homeowners-insurance/homeowners-insurance-statistics/#:~:text=$168%20is%20how%20much%20more%20homeowners%20pay,claim%20amount%20from%202016%20to%202020%20%5B3%5D </a:t>
            </a:r>
          </a:p>
          <a:p>
            <a:endParaRPr lang="en-US"/>
          </a:p>
          <a:p>
            <a:endParaRPr lang="en-US"/>
          </a:p>
          <a:p>
            <a:r>
              <a:rPr lang="en-US"/>
              <a:t>https://liveops.com/blog/the-hidden-costs-of-policyholder-churn-and-how-outsourcing-prevents-it/#:~:text=In%20insurance%2C%20churn%20is%20often,re%20not%20just%20losing%20premium.</a:t>
            </a:r>
          </a:p>
        </p:txBody>
      </p:sp>
      <p:sp>
        <p:nvSpPr>
          <p:cNvPr id="4" name="Slide Number Placeholder 3"/>
          <p:cNvSpPr>
            <a:spLocks noGrp="1"/>
          </p:cNvSpPr>
          <p:nvPr>
            <p:ph type="sldNum" sz="quarter" idx="5"/>
          </p:nvPr>
        </p:nvSpPr>
        <p:spPr/>
        <p:txBody>
          <a:bodyPr/>
          <a:lstStyle/>
          <a:p>
            <a:fld id="{562FDDA2-D307-7D41-8A9B-9D02DEE488BF}" type="slidenum">
              <a:rPr lang="en-US" smtClean="0"/>
              <a:t>13</a:t>
            </a:fld>
            <a:endParaRPr lang="en-US"/>
          </a:p>
        </p:txBody>
      </p:sp>
      <p:sp>
        <p:nvSpPr>
          <p:cNvPr id="5" name="Footer Placeholder 4">
            <a:extLst>
              <a:ext uri="{FF2B5EF4-FFF2-40B4-BE49-F238E27FC236}">
                <a16:creationId xmlns:a16="http://schemas.microsoft.com/office/drawing/2014/main" id="{A8B3891F-3AB6-0EC9-1FCA-DD6158394B3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761872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r>
              <a:rPr lang="en-US" sz="1200" kern="1200">
                <a:solidFill>
                  <a:schemeClr val="tx1"/>
                </a:solidFill>
                <a:effectLst/>
                <a:latin typeface="+mn-lt"/>
                <a:ea typeface="+mn-ea"/>
                <a:cs typeface="+mn-cs"/>
              </a:rPr>
              <a:t>Recap</a:t>
            </a:r>
          </a:p>
          <a:p>
            <a:pPr rtl="0" fontAlgn="ctr"/>
            <a:endParaRPr lang="en-US" sz="1200" kern="1200">
              <a:solidFill>
                <a:schemeClr val="tx1"/>
              </a:solidFill>
              <a:effectLst/>
              <a:latin typeface="+mn-lt"/>
              <a:ea typeface="+mn-ea"/>
              <a:cs typeface="+mn-cs"/>
            </a:endParaRPr>
          </a:p>
          <a:p>
            <a:pPr rtl="0" fontAlgn="ctr"/>
            <a:r>
              <a:rPr lang="en-US" sz="1200" kern="1200">
                <a:solidFill>
                  <a:schemeClr val="tx1"/>
                </a:solidFill>
                <a:effectLst/>
                <a:latin typeface="+mn-lt"/>
                <a:ea typeface="+mn-ea"/>
                <a:cs typeface="+mn-cs"/>
              </a:rPr>
              <a:t>Key Findings (2 slides total)</a:t>
            </a:r>
          </a:p>
          <a:p>
            <a:pPr lvl="1" rtl="0" fontAlgn="ctr"/>
            <a:r>
              <a:rPr lang="en-US" sz="1200" kern="1200">
                <a:solidFill>
                  <a:schemeClr val="tx1"/>
                </a:solidFill>
                <a:effectLst/>
                <a:latin typeface="+mn-lt"/>
                <a:ea typeface="+mn-ea"/>
                <a:cs typeface="+mn-cs"/>
              </a:rPr>
              <a:t>Rename the graphic</a:t>
            </a:r>
          </a:p>
          <a:p>
            <a:pPr lvl="1" rtl="0" fontAlgn="ctr"/>
            <a:r>
              <a:rPr lang="en-US" sz="1200" kern="1200">
                <a:solidFill>
                  <a:schemeClr val="tx1"/>
                </a:solidFill>
                <a:effectLst/>
                <a:latin typeface="+mn-lt"/>
                <a:ea typeface="+mn-ea"/>
                <a:cs typeface="+mn-cs"/>
              </a:rPr>
              <a:t>Explain the graphic - which metrics? By CAT? By COUNT?</a:t>
            </a:r>
          </a:p>
          <a:p>
            <a:pPr lvl="1" rtl="0" fontAlgn="ctr"/>
            <a:r>
              <a:rPr lang="en-US" sz="1200" kern="1200">
                <a:solidFill>
                  <a:schemeClr val="tx1"/>
                </a:solidFill>
                <a:effectLst/>
                <a:latin typeface="+mn-lt"/>
                <a:ea typeface="+mn-ea"/>
                <a:cs typeface="+mn-cs"/>
              </a:rPr>
              <a:t>How to increase productivity?</a:t>
            </a:r>
          </a:p>
          <a:p>
            <a:endParaRPr lang="en-US"/>
          </a:p>
        </p:txBody>
      </p:sp>
      <p:sp>
        <p:nvSpPr>
          <p:cNvPr id="4" name="Slide Number Placeholder 3"/>
          <p:cNvSpPr>
            <a:spLocks noGrp="1"/>
          </p:cNvSpPr>
          <p:nvPr>
            <p:ph type="sldNum" sz="quarter" idx="5"/>
          </p:nvPr>
        </p:nvSpPr>
        <p:spPr/>
        <p:txBody>
          <a:bodyPr/>
          <a:lstStyle/>
          <a:p>
            <a:fld id="{562FDDA2-D307-7D41-8A9B-9D02DEE488BF}" type="slidenum">
              <a:rPr lang="en-US" smtClean="0"/>
              <a:t>19</a:t>
            </a:fld>
            <a:endParaRPr lang="en-US"/>
          </a:p>
        </p:txBody>
      </p:sp>
      <p:sp>
        <p:nvSpPr>
          <p:cNvPr id="5" name="Footer Placeholder 4">
            <a:extLst>
              <a:ext uri="{FF2B5EF4-FFF2-40B4-BE49-F238E27FC236}">
                <a16:creationId xmlns:a16="http://schemas.microsoft.com/office/drawing/2014/main" id="{EBDF9639-270C-9071-6953-7C4777C1FBD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1104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B633E-2444-2CA8-6744-7B484E04A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6E16F-7E73-82F5-879B-430223B78B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1F2BA-C457-325D-FF3A-767C6FB9C076}"/>
              </a:ext>
            </a:extLst>
          </p:cNvPr>
          <p:cNvSpPr>
            <a:spLocks noGrp="1"/>
          </p:cNvSpPr>
          <p:nvPr>
            <p:ph type="body" idx="1"/>
          </p:nvPr>
        </p:nvSpPr>
        <p:spPr/>
        <p:txBody>
          <a:bodyPr/>
          <a:lstStyle/>
          <a:p>
            <a:pPr rtl="0" fontAlgn="ctr"/>
            <a:r>
              <a:rPr lang="en-US" sz="1200" kern="1200">
                <a:solidFill>
                  <a:schemeClr val="tx1"/>
                </a:solidFill>
                <a:effectLst/>
                <a:latin typeface="+mn-lt"/>
                <a:ea typeface="+mn-ea"/>
                <a:cs typeface="+mn-cs"/>
              </a:rPr>
              <a:t>Model Performance (rename the slide)  - tying back to the outcome</a:t>
            </a:r>
          </a:p>
          <a:p>
            <a:pPr lvl="1" rtl="0" fontAlgn="ctr"/>
            <a:r>
              <a:rPr lang="en-US" sz="1200" kern="1200">
                <a:solidFill>
                  <a:schemeClr val="tx1"/>
                </a:solidFill>
                <a:effectLst/>
                <a:latin typeface="+mn-lt"/>
                <a:ea typeface="+mn-ea"/>
                <a:cs typeface="+mn-cs"/>
              </a:rPr>
              <a:t>Talk about Positive</a:t>
            </a:r>
          </a:p>
          <a:p>
            <a:pPr lvl="1" rtl="0" fontAlgn="ctr"/>
            <a:r>
              <a:rPr lang="en-US" sz="1200" kern="1200">
                <a:solidFill>
                  <a:schemeClr val="tx1"/>
                </a:solidFill>
                <a:effectLst/>
                <a:latin typeface="+mn-lt"/>
                <a:ea typeface="+mn-ea"/>
                <a:cs typeface="+mn-cs"/>
              </a:rPr>
              <a:t>Too much space for 1 slide</a:t>
            </a:r>
          </a:p>
          <a:p>
            <a:endParaRPr lang="en-US"/>
          </a:p>
        </p:txBody>
      </p:sp>
      <p:sp>
        <p:nvSpPr>
          <p:cNvPr id="4" name="Slide Number Placeholder 3">
            <a:extLst>
              <a:ext uri="{FF2B5EF4-FFF2-40B4-BE49-F238E27FC236}">
                <a16:creationId xmlns:a16="http://schemas.microsoft.com/office/drawing/2014/main" id="{829074B6-C4C2-2629-2CBD-C8CBF034F5DB}"/>
              </a:ext>
            </a:extLst>
          </p:cNvPr>
          <p:cNvSpPr>
            <a:spLocks noGrp="1"/>
          </p:cNvSpPr>
          <p:nvPr>
            <p:ph type="sldNum" sz="quarter" idx="5"/>
          </p:nvPr>
        </p:nvSpPr>
        <p:spPr/>
        <p:txBody>
          <a:bodyPr/>
          <a:lstStyle/>
          <a:p>
            <a:fld id="{562FDDA2-D307-7D41-8A9B-9D02DEE488BF}" type="slidenum">
              <a:rPr lang="en-US" smtClean="0"/>
              <a:t>20</a:t>
            </a:fld>
            <a:endParaRPr lang="en-US"/>
          </a:p>
        </p:txBody>
      </p:sp>
      <p:sp>
        <p:nvSpPr>
          <p:cNvPr id="5" name="Footer Placeholder 4">
            <a:extLst>
              <a:ext uri="{FF2B5EF4-FFF2-40B4-BE49-F238E27FC236}">
                <a16:creationId xmlns:a16="http://schemas.microsoft.com/office/drawing/2014/main" id="{9F1631F4-BA4F-E261-423D-C40D36703E1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624058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2FDDA2-D307-7D41-8A9B-9D02DEE488BF}" type="slidenum">
              <a:rPr lang="en-US" smtClean="0"/>
              <a:t>21</a:t>
            </a:fld>
            <a:endParaRPr lang="en-US"/>
          </a:p>
        </p:txBody>
      </p:sp>
      <p:sp>
        <p:nvSpPr>
          <p:cNvPr id="5" name="Footer Placeholder 4">
            <a:extLst>
              <a:ext uri="{FF2B5EF4-FFF2-40B4-BE49-F238E27FC236}">
                <a16:creationId xmlns:a16="http://schemas.microsoft.com/office/drawing/2014/main" id="{037D2FD0-F2E9-4285-F16A-2D9F0A77E58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00023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CCA1B-2C2D-1028-84A7-AB6827738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64CD3-6575-A56E-6978-064F10AA4A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A1815B-B963-9D4C-E45B-92A2DC2E5581}"/>
              </a:ext>
            </a:extLst>
          </p:cNvPr>
          <p:cNvSpPr>
            <a:spLocks noGrp="1"/>
          </p:cNvSpPr>
          <p:nvPr>
            <p:ph type="body" idx="1"/>
          </p:nvPr>
        </p:nvSpPr>
        <p:spPr/>
        <p:txBody>
          <a:bodyPr/>
          <a:lstStyle/>
          <a:p>
            <a:r>
              <a:rPr lang="en-US"/>
              <a:t>Pop one section of web app at a time: explain each section of how the solution works. One Red animation at a time.</a:t>
            </a:r>
          </a:p>
          <a:p>
            <a:r>
              <a:rPr lang="en-US"/>
              <a:t>Have a story: create a persona who use this and how.</a:t>
            </a:r>
          </a:p>
          <a:p>
            <a:r>
              <a:rPr lang="en-US"/>
              <a:t>Explain the solution before showing the solution: dashboard operational view with metrics feeding; adjustment to features.</a:t>
            </a:r>
          </a:p>
        </p:txBody>
      </p:sp>
      <p:sp>
        <p:nvSpPr>
          <p:cNvPr id="4" name="Slide Number Placeholder 3">
            <a:extLst>
              <a:ext uri="{FF2B5EF4-FFF2-40B4-BE49-F238E27FC236}">
                <a16:creationId xmlns:a16="http://schemas.microsoft.com/office/drawing/2014/main" id="{E1922F83-41C7-D17C-E5CC-D2027D798084}"/>
              </a:ext>
            </a:extLst>
          </p:cNvPr>
          <p:cNvSpPr>
            <a:spLocks noGrp="1"/>
          </p:cNvSpPr>
          <p:nvPr>
            <p:ph type="sldNum" sz="quarter" idx="5"/>
          </p:nvPr>
        </p:nvSpPr>
        <p:spPr/>
        <p:txBody>
          <a:bodyPr/>
          <a:lstStyle/>
          <a:p>
            <a:fld id="{562FDDA2-D307-7D41-8A9B-9D02DEE488BF}" type="slidenum">
              <a:rPr lang="en-US" smtClean="0"/>
              <a:t>23</a:t>
            </a:fld>
            <a:endParaRPr lang="en-US"/>
          </a:p>
        </p:txBody>
      </p:sp>
      <p:sp>
        <p:nvSpPr>
          <p:cNvPr id="5" name="Footer Placeholder 4">
            <a:extLst>
              <a:ext uri="{FF2B5EF4-FFF2-40B4-BE49-F238E27FC236}">
                <a16:creationId xmlns:a16="http://schemas.microsoft.com/office/drawing/2014/main" id="{BC43BED8-9048-700C-F8AA-4101AB8A832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201313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Pop one section of web app at a time: explain each section of how the solution works. One Red animation at a time.</a:t>
            </a:r>
          </a:p>
          <a:p>
            <a:r>
              <a:rPr lang="en-US"/>
              <a:t>Have a story: create a persona who use this and how.</a:t>
            </a:r>
          </a:p>
          <a:p>
            <a:r>
              <a:rPr lang="en-US"/>
              <a:t>Explain the solution before showing the solution: dashboard operational view with metrics feeding; adjustment to features.</a:t>
            </a:r>
          </a:p>
        </p:txBody>
      </p:sp>
      <p:sp>
        <p:nvSpPr>
          <p:cNvPr id="4" name="Slide Number Placeholder 3"/>
          <p:cNvSpPr>
            <a:spLocks noGrp="1"/>
          </p:cNvSpPr>
          <p:nvPr>
            <p:ph type="sldNum" sz="quarter" idx="5"/>
          </p:nvPr>
        </p:nvSpPr>
        <p:spPr/>
        <p:txBody>
          <a:bodyPr/>
          <a:lstStyle/>
          <a:p>
            <a:fld id="{562FDDA2-D307-7D41-8A9B-9D02DEE488BF}" type="slidenum">
              <a:rPr lang="en-US" smtClean="0"/>
              <a:t>24</a:t>
            </a:fld>
            <a:endParaRPr lang="en-US"/>
          </a:p>
        </p:txBody>
      </p:sp>
      <p:sp>
        <p:nvSpPr>
          <p:cNvPr id="5" name="Footer Placeholder 4">
            <a:extLst>
              <a:ext uri="{FF2B5EF4-FFF2-40B4-BE49-F238E27FC236}">
                <a16:creationId xmlns:a16="http://schemas.microsoft.com/office/drawing/2014/main" id="{10D03C81-DC3F-6AE8-7AEA-9735937CACD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9573173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a:t>We need to optimize adjuster to claim matching</a:t>
            </a:r>
          </a:p>
          <a:p>
            <a:pPr>
              <a:lnSpc>
                <a:spcPct val="90000"/>
              </a:lnSpc>
              <a:spcBef>
                <a:spcPts val="1000"/>
              </a:spcBef>
            </a:pPr>
            <a:r>
              <a:rPr lang="en-US"/>
              <a:t>1 large CAT Event</a:t>
            </a:r>
          </a:p>
          <a:p>
            <a:pPr>
              <a:lnSpc>
                <a:spcPct val="90000"/>
              </a:lnSpc>
              <a:spcBef>
                <a:spcPts val="1000"/>
              </a:spcBef>
            </a:pPr>
            <a:r>
              <a:rPr lang="en-US"/>
              <a:t>Save Costs</a:t>
            </a:r>
          </a:p>
          <a:p>
            <a:pPr>
              <a:lnSpc>
                <a:spcPct val="90000"/>
              </a:lnSpc>
              <a:spcBef>
                <a:spcPts val="1000"/>
              </a:spcBef>
            </a:pPr>
            <a:r>
              <a:rPr lang="en-US"/>
              <a:t>Needs to be usable in the future/not limited to this event only</a:t>
            </a:r>
          </a:p>
          <a:p>
            <a:pPr>
              <a:lnSpc>
                <a:spcPct val="90000"/>
              </a:lnSpc>
              <a:spcBef>
                <a:spcPts val="1000"/>
              </a:spcBef>
            </a:pPr>
            <a:r>
              <a:rPr lang="en-US"/>
              <a:t>We built an optimization model that assigns adjusters to CAT severity events based on their proximity to the event – allowing for Travelers to minimize costs, follow standard regulations and retain customers by meeting SLA deadlines.</a:t>
            </a:r>
            <a:endParaRPr lang="en-US">
              <a:ea typeface="Calibri"/>
              <a:cs typeface="Calibri"/>
            </a:endParaRPr>
          </a:p>
        </p:txBody>
      </p:sp>
      <p:sp>
        <p:nvSpPr>
          <p:cNvPr id="4" name="Slide Number Placeholder 3"/>
          <p:cNvSpPr>
            <a:spLocks noGrp="1"/>
          </p:cNvSpPr>
          <p:nvPr>
            <p:ph type="sldNum" sz="quarter" idx="5"/>
          </p:nvPr>
        </p:nvSpPr>
        <p:spPr/>
        <p:txBody>
          <a:bodyPr/>
          <a:lstStyle/>
          <a:p>
            <a:fld id="{562FDDA2-D307-7D41-8A9B-9D02DEE488BF}" type="slidenum">
              <a:rPr lang="en-US" smtClean="0"/>
              <a:t>25</a:t>
            </a:fld>
            <a:endParaRPr lang="en-US"/>
          </a:p>
        </p:txBody>
      </p:sp>
      <p:sp>
        <p:nvSpPr>
          <p:cNvPr id="5" name="Footer Placeholder 4">
            <a:extLst>
              <a:ext uri="{FF2B5EF4-FFF2-40B4-BE49-F238E27FC236}">
                <a16:creationId xmlns:a16="http://schemas.microsoft.com/office/drawing/2014/main" id="{F7DA034B-59C4-ED6B-6A0A-83714CA572CB}"/>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597595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Ratio Adjuster/Claim: 1:10</a:t>
            </a:r>
          </a:p>
        </p:txBody>
      </p:sp>
      <p:sp>
        <p:nvSpPr>
          <p:cNvPr id="4" name="Slide Number Placeholder 3"/>
          <p:cNvSpPr>
            <a:spLocks noGrp="1"/>
          </p:cNvSpPr>
          <p:nvPr>
            <p:ph type="sldNum" sz="quarter" idx="5"/>
          </p:nvPr>
        </p:nvSpPr>
        <p:spPr/>
        <p:txBody>
          <a:bodyPr/>
          <a:lstStyle/>
          <a:p>
            <a:fld id="{562FDDA2-D307-7D41-8A9B-9D02DEE488BF}" type="slidenum">
              <a:rPr lang="en-US" smtClean="0"/>
              <a:t>27</a:t>
            </a:fld>
            <a:endParaRPr lang="en-US"/>
          </a:p>
        </p:txBody>
      </p:sp>
      <p:sp>
        <p:nvSpPr>
          <p:cNvPr id="5" name="Footer Placeholder 4">
            <a:extLst>
              <a:ext uri="{FF2B5EF4-FFF2-40B4-BE49-F238E27FC236}">
                <a16:creationId xmlns:a16="http://schemas.microsoft.com/office/drawing/2014/main" id="{80FFDCA2-E778-1C39-2C46-B2AD3FAB0BC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768547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Our team decided that the model we build should match adjusters to clusters, prioritizing the clusters with the most severe severity cases and moving inwards so that we can utilize all the adjusters in one place. We determined this could be a good cost saving measure as well, because it will cut down on costs associated with distance and would cut down on the number of delays that could potentially occur ensuring that we meet SLA deadlines and keep customers. </a:t>
            </a:r>
          </a:p>
          <a:p>
            <a:endParaRPr lang="en-US">
              <a:ea typeface="Calibri"/>
              <a:cs typeface="Calibri"/>
            </a:endParaRPr>
          </a:p>
          <a:p>
            <a:r>
              <a:rPr lang="en-US">
                <a:ea typeface="Calibri"/>
                <a:cs typeface="Calibri"/>
              </a:rPr>
              <a:t>Cluster decision &amp; Animation</a:t>
            </a:r>
          </a:p>
        </p:txBody>
      </p:sp>
      <p:sp>
        <p:nvSpPr>
          <p:cNvPr id="4" name="Slide Number Placeholder 3"/>
          <p:cNvSpPr>
            <a:spLocks noGrp="1"/>
          </p:cNvSpPr>
          <p:nvPr>
            <p:ph type="sldNum" sz="quarter" idx="5"/>
          </p:nvPr>
        </p:nvSpPr>
        <p:spPr/>
        <p:txBody>
          <a:bodyPr/>
          <a:lstStyle/>
          <a:p>
            <a:fld id="{562FDDA2-D307-7D41-8A9B-9D02DEE488BF}" type="slidenum">
              <a:rPr lang="en-US" smtClean="0"/>
              <a:t>28</a:t>
            </a:fld>
            <a:endParaRPr lang="en-US"/>
          </a:p>
        </p:txBody>
      </p:sp>
      <p:sp>
        <p:nvSpPr>
          <p:cNvPr id="5" name="Footer Placeholder 4">
            <a:extLst>
              <a:ext uri="{FF2B5EF4-FFF2-40B4-BE49-F238E27FC236}">
                <a16:creationId xmlns:a16="http://schemas.microsoft.com/office/drawing/2014/main" id="{DDA5DF13-4636-9AC1-10B8-42E657A28BFE}"/>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6438233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r>
              <a:rPr lang="en-US" sz="1200" kern="1200">
                <a:solidFill>
                  <a:schemeClr val="tx1"/>
                </a:solidFill>
                <a:effectLst/>
                <a:latin typeface="+mn-lt"/>
                <a:ea typeface="+mn-ea"/>
                <a:cs typeface="+mn-cs"/>
              </a:rPr>
              <a:t>Model Performance (rename the slide)  - tying back to the outcome</a:t>
            </a:r>
          </a:p>
          <a:p>
            <a:pPr lvl="1" rtl="0" fontAlgn="ctr"/>
            <a:r>
              <a:rPr lang="en-US" sz="1200" kern="1200">
                <a:solidFill>
                  <a:schemeClr val="tx1"/>
                </a:solidFill>
                <a:effectLst/>
                <a:latin typeface="+mn-lt"/>
                <a:ea typeface="+mn-ea"/>
                <a:cs typeface="+mn-cs"/>
              </a:rPr>
              <a:t>Talk about Positive</a:t>
            </a:r>
          </a:p>
          <a:p>
            <a:pPr lvl="1" rtl="0" fontAlgn="ctr"/>
            <a:r>
              <a:rPr lang="en-US" sz="1200" kern="1200">
                <a:solidFill>
                  <a:schemeClr val="tx1"/>
                </a:solidFill>
                <a:effectLst/>
                <a:latin typeface="+mn-lt"/>
                <a:ea typeface="+mn-ea"/>
                <a:cs typeface="+mn-cs"/>
              </a:rPr>
              <a:t>Too much space for 1 slide</a:t>
            </a:r>
          </a:p>
          <a:p>
            <a:endParaRPr lang="en-US"/>
          </a:p>
        </p:txBody>
      </p:sp>
      <p:sp>
        <p:nvSpPr>
          <p:cNvPr id="4" name="Slide Number Placeholder 3"/>
          <p:cNvSpPr>
            <a:spLocks noGrp="1"/>
          </p:cNvSpPr>
          <p:nvPr>
            <p:ph type="sldNum" sz="quarter" idx="5"/>
          </p:nvPr>
        </p:nvSpPr>
        <p:spPr/>
        <p:txBody>
          <a:bodyPr/>
          <a:lstStyle/>
          <a:p>
            <a:fld id="{562FDDA2-D307-7D41-8A9B-9D02DEE488BF}" type="slidenum">
              <a:rPr lang="en-US" smtClean="0"/>
              <a:t>30</a:t>
            </a:fld>
            <a:endParaRPr lang="en-US"/>
          </a:p>
        </p:txBody>
      </p:sp>
      <p:sp>
        <p:nvSpPr>
          <p:cNvPr id="5" name="Footer Placeholder 4">
            <a:extLst>
              <a:ext uri="{FF2B5EF4-FFF2-40B4-BE49-F238E27FC236}">
                <a16:creationId xmlns:a16="http://schemas.microsoft.com/office/drawing/2014/main" id="{EC9B8795-F153-1643-7B3E-EFCF9DEC2F7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4384147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Option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E29F9D3-1631-574E-B794-15810466C68F}"/>
              </a:ext>
            </a:extLst>
          </p:cNvPr>
          <p:cNvSpPr/>
          <p:nvPr/>
        </p:nvSpPr>
        <p:spPr>
          <a:xfrm>
            <a:off x="6039679" y="0"/>
            <a:ext cx="52652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C5C32C3-0E38-EF40-8753-699E473F0219}"/>
              </a:ext>
            </a:extLst>
          </p:cNvPr>
          <p:cNvPicPr>
            <a:picLocks noChangeAspect="1"/>
          </p:cNvPicPr>
          <p:nvPr/>
        </p:nvPicPr>
        <p:blipFill rotWithShape="1">
          <a:blip r:embed="rId2"/>
          <a:srcRect r="50000"/>
          <a:stretch/>
        </p:blipFill>
        <p:spPr>
          <a:xfrm>
            <a:off x="6096000" y="0"/>
            <a:ext cx="6096000" cy="6858000"/>
          </a:xfrm>
          <a:prstGeom prst="rect">
            <a:avLst/>
          </a:prstGeom>
        </p:spPr>
      </p:pic>
      <p:pic>
        <p:nvPicPr>
          <p:cNvPr id="11" name="Picture 10">
            <a:extLst>
              <a:ext uri="{FF2B5EF4-FFF2-40B4-BE49-F238E27FC236}">
                <a16:creationId xmlns:a16="http://schemas.microsoft.com/office/drawing/2014/main" id="{64356227-D7D4-F943-AFB2-F20F8B424051}"/>
              </a:ext>
            </a:extLst>
          </p:cNvPr>
          <p:cNvPicPr>
            <a:picLocks noChangeAspect="1"/>
          </p:cNvPicPr>
          <p:nvPr/>
        </p:nvPicPr>
        <p:blipFill>
          <a:blip r:embed="rId3"/>
          <a:stretch>
            <a:fillRect/>
          </a:stretch>
        </p:blipFill>
        <p:spPr>
          <a:xfrm>
            <a:off x="1598817" y="1983144"/>
            <a:ext cx="2853911" cy="2891711"/>
          </a:xfrm>
          <a:prstGeom prst="rect">
            <a:avLst/>
          </a:prstGeom>
        </p:spPr>
      </p:pic>
      <p:sp>
        <p:nvSpPr>
          <p:cNvPr id="3" name="Text Placeholder 2">
            <a:extLst>
              <a:ext uri="{FF2B5EF4-FFF2-40B4-BE49-F238E27FC236}">
                <a16:creationId xmlns:a16="http://schemas.microsoft.com/office/drawing/2014/main" id="{21C0DF3D-F69D-9941-B6AB-0FDADE794EF9}"/>
              </a:ext>
            </a:extLst>
          </p:cNvPr>
          <p:cNvSpPr>
            <a:spLocks noGrp="1"/>
          </p:cNvSpPr>
          <p:nvPr>
            <p:ph type="body" sz="quarter" idx="12" hasCustomPrompt="1"/>
          </p:nvPr>
        </p:nvSpPr>
        <p:spPr>
          <a:xfrm>
            <a:off x="6813549" y="2964400"/>
            <a:ext cx="4660900" cy="512762"/>
          </a:xfrm>
          <a:prstGeom prst="rect">
            <a:avLst/>
          </a:prstGeom>
        </p:spPr>
        <p:txBody>
          <a:bodyPr/>
          <a:lstStyle>
            <a:lvl1pPr marL="0" indent="0" algn="ctr">
              <a:buNone/>
              <a:defRPr b="1">
                <a:latin typeface="Arial" panose="020B0604020202020204" pitchFamily="34" charset="0"/>
                <a:cs typeface="Arial" panose="020B0604020202020204" pitchFamily="34" charset="0"/>
              </a:defRPr>
            </a:lvl1pPr>
            <a:lvl2pPr>
              <a:defRPr b="1">
                <a:latin typeface="Arial" panose="020B0604020202020204" pitchFamily="34" charset="0"/>
                <a:cs typeface="Arial" panose="020B0604020202020204" pitchFamily="34" charset="0"/>
              </a:defRPr>
            </a:lvl2pPr>
            <a:lvl3pPr>
              <a:defRPr b="1">
                <a:latin typeface="Arial" panose="020B0604020202020204" pitchFamily="34" charset="0"/>
                <a:cs typeface="Arial" panose="020B0604020202020204" pitchFamily="34" charset="0"/>
              </a:defRPr>
            </a:lvl3pPr>
            <a:lvl4pPr>
              <a:defRPr b="1">
                <a:latin typeface="Arial" panose="020B0604020202020204" pitchFamily="34" charset="0"/>
                <a:cs typeface="Arial" panose="020B0604020202020204" pitchFamily="34" charset="0"/>
              </a:defRPr>
            </a:lvl4pPr>
            <a:lvl5pPr>
              <a:defRPr b="1">
                <a:latin typeface="Arial" panose="020B0604020202020204" pitchFamily="34" charset="0"/>
                <a:cs typeface="Arial" panose="020B0604020202020204" pitchFamily="34" charset="0"/>
              </a:defRPr>
            </a:lvl5pPr>
          </a:lstStyle>
          <a:p>
            <a:pPr lvl="0"/>
            <a:r>
              <a:rPr lang="en-US"/>
              <a:t>Title</a:t>
            </a:r>
          </a:p>
        </p:txBody>
      </p:sp>
      <p:sp>
        <p:nvSpPr>
          <p:cNvPr id="10" name="Text Placeholder 2">
            <a:extLst>
              <a:ext uri="{FF2B5EF4-FFF2-40B4-BE49-F238E27FC236}">
                <a16:creationId xmlns:a16="http://schemas.microsoft.com/office/drawing/2014/main" id="{C1DA1688-B217-4843-B0D0-29E1D2028150}"/>
              </a:ext>
            </a:extLst>
          </p:cNvPr>
          <p:cNvSpPr>
            <a:spLocks noGrp="1"/>
          </p:cNvSpPr>
          <p:nvPr>
            <p:ph type="body" sz="quarter" idx="13" hasCustomPrompt="1"/>
          </p:nvPr>
        </p:nvSpPr>
        <p:spPr>
          <a:xfrm>
            <a:off x="6813549" y="3477162"/>
            <a:ext cx="4660900" cy="512762"/>
          </a:xfrm>
          <a:prstGeom prst="rect">
            <a:avLst/>
          </a:prstGeom>
        </p:spPr>
        <p:txBody>
          <a:bodyPr/>
          <a:lstStyle>
            <a:lvl1pPr marL="0" indent="0" algn="ctr">
              <a:buNone/>
              <a:defRPr sz="2000" b="1">
                <a:latin typeface="Arial" panose="020B0604020202020204" pitchFamily="34" charset="0"/>
                <a:cs typeface="Arial" panose="020B0604020202020204" pitchFamily="34" charset="0"/>
              </a:defRPr>
            </a:lvl1pPr>
            <a:lvl2pPr>
              <a:defRPr b="1">
                <a:latin typeface="Arial" panose="020B0604020202020204" pitchFamily="34" charset="0"/>
                <a:cs typeface="Arial" panose="020B0604020202020204" pitchFamily="34" charset="0"/>
              </a:defRPr>
            </a:lvl2pPr>
            <a:lvl3pPr>
              <a:defRPr b="1">
                <a:latin typeface="Arial" panose="020B0604020202020204" pitchFamily="34" charset="0"/>
                <a:cs typeface="Arial" panose="020B0604020202020204" pitchFamily="34" charset="0"/>
              </a:defRPr>
            </a:lvl3pPr>
            <a:lvl4pPr>
              <a:defRPr b="1">
                <a:latin typeface="Arial" panose="020B0604020202020204" pitchFamily="34" charset="0"/>
                <a:cs typeface="Arial" panose="020B0604020202020204" pitchFamily="34" charset="0"/>
              </a:defRPr>
            </a:lvl4pPr>
            <a:lvl5pPr>
              <a:defRPr b="1">
                <a:latin typeface="Arial" panose="020B0604020202020204" pitchFamily="34" charset="0"/>
                <a:cs typeface="Arial" panose="020B0604020202020204" pitchFamily="34" charset="0"/>
              </a:defRPr>
            </a:lvl5pPr>
          </a:lstStyle>
          <a:p>
            <a:pPr lvl="0"/>
            <a:r>
              <a:rPr lang="en-US"/>
              <a:t>Date</a:t>
            </a:r>
          </a:p>
        </p:txBody>
      </p:sp>
      <p:sp>
        <p:nvSpPr>
          <p:cNvPr id="2" name="Date Placeholder 1">
            <a:extLst>
              <a:ext uri="{FF2B5EF4-FFF2-40B4-BE49-F238E27FC236}">
                <a16:creationId xmlns:a16="http://schemas.microsoft.com/office/drawing/2014/main" id="{7A2AE1E2-432E-4858-A23E-2DA6A000F791}"/>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62E55EAC-2A06-F8F1-63C5-995402909C8B}"/>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B363A54D-BCD6-7842-5183-0C97A8B30AE5}"/>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66253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9982E9-2715-D941-B379-71A97DB17011}"/>
              </a:ext>
            </a:extLst>
          </p:cNvPr>
          <p:cNvPicPr>
            <a:picLocks noChangeAspect="1"/>
          </p:cNvPicPr>
          <p:nvPr/>
        </p:nvPicPr>
        <p:blipFill rotWithShape="1">
          <a:blip r:embed="rId2"/>
          <a:srcRect t="69902" r="1168" b="21932"/>
          <a:stretch/>
        </p:blipFill>
        <p:spPr>
          <a:xfrm>
            <a:off x="-1" y="6311590"/>
            <a:ext cx="12192001" cy="565634"/>
          </a:xfrm>
          <a:prstGeom prst="rect">
            <a:avLst/>
          </a:prstGeom>
        </p:spPr>
      </p:pic>
      <p:cxnSp>
        <p:nvCxnSpPr>
          <p:cNvPr id="3" name="Straight Connector 2">
            <a:extLst>
              <a:ext uri="{FF2B5EF4-FFF2-40B4-BE49-F238E27FC236}">
                <a16:creationId xmlns:a16="http://schemas.microsoft.com/office/drawing/2014/main" id="{D0C39C82-22A6-0A45-B0AE-051068866D21}"/>
              </a:ext>
            </a:extLst>
          </p:cNvPr>
          <p:cNvCxnSpPr>
            <a:cxnSpLocks/>
          </p:cNvCxnSpPr>
          <p:nvPr userDrawn="1"/>
        </p:nvCxnSpPr>
        <p:spPr>
          <a:xfrm>
            <a:off x="-1" y="6311590"/>
            <a:ext cx="1219200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itle 11">
            <a:extLst>
              <a:ext uri="{FF2B5EF4-FFF2-40B4-BE49-F238E27FC236}">
                <a16:creationId xmlns:a16="http://schemas.microsoft.com/office/drawing/2014/main" id="{FA6151DA-0E50-3747-B88F-29F646B3148B}"/>
              </a:ext>
            </a:extLst>
          </p:cNvPr>
          <p:cNvSpPr>
            <a:spLocks noGrp="1"/>
          </p:cNvSpPr>
          <p:nvPr>
            <p:ph type="title" hasCustomPrompt="1"/>
          </p:nvPr>
        </p:nvSpPr>
        <p:spPr>
          <a:xfrm>
            <a:off x="733096" y="354615"/>
            <a:ext cx="10515600" cy="1325563"/>
          </a:xfrm>
          <a:prstGeom prst="rect">
            <a:avLst/>
          </a:prstGeom>
        </p:spPr>
        <p:txBody>
          <a:bodyPr/>
          <a:lstStyle>
            <a:lvl1pPr>
              <a:defRPr sz="4400" b="1" i="0">
                <a:latin typeface="Arial" panose="020B0604020202020204" pitchFamily="34" charset="0"/>
                <a:cs typeface="Arial" panose="020B0604020202020204" pitchFamily="34" charset="0"/>
              </a:defRPr>
            </a:lvl1pPr>
          </a:lstStyle>
          <a:p>
            <a:r>
              <a:rPr lang="en-US"/>
              <a:t>Title</a:t>
            </a:r>
          </a:p>
        </p:txBody>
      </p:sp>
      <p:sp>
        <p:nvSpPr>
          <p:cNvPr id="15" name="Content Placeholder 14">
            <a:extLst>
              <a:ext uri="{FF2B5EF4-FFF2-40B4-BE49-F238E27FC236}">
                <a16:creationId xmlns:a16="http://schemas.microsoft.com/office/drawing/2014/main" id="{48378D0F-E7EF-4A4B-83B1-DE987880935F}"/>
              </a:ext>
            </a:extLst>
          </p:cNvPr>
          <p:cNvSpPr>
            <a:spLocks noGrp="1"/>
          </p:cNvSpPr>
          <p:nvPr>
            <p:ph sz="quarter" idx="10"/>
          </p:nvPr>
        </p:nvSpPr>
        <p:spPr>
          <a:xfrm>
            <a:off x="733425" y="2217738"/>
            <a:ext cx="10355263" cy="3752850"/>
          </a:xfrm>
          <a:prstGeom prst="rect">
            <a:avLst/>
          </a:prstGeom>
        </p:spPr>
        <p:txBody>
          <a:bodyPr/>
          <a:lstStyle>
            <a:lvl1pPr>
              <a:buClr>
                <a:srgbClr val="F7BF32"/>
              </a:buClr>
              <a:defRPr b="0" i="0">
                <a:latin typeface="Avenir Medium" panose="02000503020000020003" pitchFamily="2" charset="0"/>
              </a:defRPr>
            </a:lvl1pPr>
            <a:lvl2pPr>
              <a:buClr>
                <a:srgbClr val="F7BF32"/>
              </a:buClr>
              <a:defRPr b="0" i="0">
                <a:latin typeface="Avenir" panose="02000503020000020003" pitchFamily="2" charset="0"/>
              </a:defRPr>
            </a:lvl2pPr>
            <a:lvl3pPr>
              <a:buClr>
                <a:srgbClr val="F7BF32"/>
              </a:buClr>
              <a:defRPr b="0" i="0">
                <a:latin typeface="Avenir" panose="02000503020000020003" pitchFamily="2" charset="0"/>
              </a:defRPr>
            </a:lvl3pPr>
            <a:lvl4pPr>
              <a:buClr>
                <a:srgbClr val="F7BF32"/>
              </a:buClr>
              <a:defRPr b="0" i="0">
                <a:latin typeface="Avenir" panose="02000503020000020003" pitchFamily="2" charset="0"/>
              </a:defRPr>
            </a:lvl4pPr>
            <a:lvl5pPr>
              <a:buClr>
                <a:srgbClr val="F7BF32"/>
              </a:buClr>
              <a:defRPr b="0" i="0">
                <a:latin typeface="Avenir" panose="02000503020000020003"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B0B3E304-9640-679D-652E-BB3FC6C250AD}"/>
              </a:ext>
            </a:extLst>
          </p:cNvPr>
          <p:cNvSpPr>
            <a:spLocks noGrp="1"/>
          </p:cNvSpPr>
          <p:nvPr>
            <p:ph type="dt" sz="half" idx="11"/>
          </p:nvPr>
        </p:nvSpPr>
        <p:spPr/>
        <p:txBody>
          <a:bodyPr/>
          <a:lstStyle/>
          <a:p>
            <a:endParaRPr lang="en-US"/>
          </a:p>
        </p:txBody>
      </p:sp>
      <p:sp>
        <p:nvSpPr>
          <p:cNvPr id="4" name="Footer Placeholder 3">
            <a:extLst>
              <a:ext uri="{FF2B5EF4-FFF2-40B4-BE49-F238E27FC236}">
                <a16:creationId xmlns:a16="http://schemas.microsoft.com/office/drawing/2014/main" id="{F2123F6D-0984-0EC5-28B0-980D41A4492F}"/>
              </a:ext>
            </a:extLst>
          </p:cNvPr>
          <p:cNvSpPr>
            <a:spLocks noGrp="1"/>
          </p:cNvSpPr>
          <p:nvPr>
            <p:ph type="ftr" sz="quarter" idx="12"/>
          </p:nvPr>
        </p:nvSpPr>
        <p:spPr/>
        <p:txBody>
          <a:bodyPr/>
          <a:lstStyle/>
          <a:p>
            <a:endParaRPr lang="en-US"/>
          </a:p>
        </p:txBody>
      </p:sp>
      <p:sp>
        <p:nvSpPr>
          <p:cNvPr id="6" name="Slide Number Placeholder 5">
            <a:extLst>
              <a:ext uri="{FF2B5EF4-FFF2-40B4-BE49-F238E27FC236}">
                <a16:creationId xmlns:a16="http://schemas.microsoft.com/office/drawing/2014/main" id="{EAD74C83-704B-27BC-A270-F28D07F2C6D5}"/>
              </a:ext>
            </a:extLst>
          </p:cNvPr>
          <p:cNvSpPr>
            <a:spLocks noGrp="1"/>
          </p:cNvSpPr>
          <p:nvPr>
            <p:ph type="sldNum" sz="quarter" idx="13"/>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76393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verview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D4AF910-3B45-C642-BA40-7F26C292CBB7}"/>
              </a:ext>
            </a:extLst>
          </p:cNvPr>
          <p:cNvGrpSpPr/>
          <p:nvPr userDrawn="1"/>
        </p:nvGrpSpPr>
        <p:grpSpPr>
          <a:xfrm>
            <a:off x="0" y="0"/>
            <a:ext cx="6143872" cy="6858000"/>
            <a:chOff x="0" y="0"/>
            <a:chExt cx="6143872" cy="6858000"/>
          </a:xfrm>
        </p:grpSpPr>
        <p:sp>
          <p:nvSpPr>
            <p:cNvPr id="8" name="Rectangle 7">
              <a:extLst>
                <a:ext uri="{FF2B5EF4-FFF2-40B4-BE49-F238E27FC236}">
                  <a16:creationId xmlns:a16="http://schemas.microsoft.com/office/drawing/2014/main" id="{CC89D864-D3E3-854A-9727-A7FA3A3C3175}"/>
                </a:ext>
              </a:extLst>
            </p:cNvPr>
            <p:cNvSpPr/>
            <p:nvPr/>
          </p:nvSpPr>
          <p:spPr>
            <a:xfrm>
              <a:off x="5617345" y="0"/>
              <a:ext cx="52652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D8ED27C-6546-2A4D-8DF8-81E2F1D5CA75}"/>
                </a:ext>
              </a:extLst>
            </p:cNvPr>
            <p:cNvPicPr>
              <a:picLocks noChangeAspect="1"/>
            </p:cNvPicPr>
            <p:nvPr/>
          </p:nvPicPr>
          <p:blipFill rotWithShape="1">
            <a:blip r:embed="rId2"/>
            <a:srcRect r="50000"/>
            <a:stretch/>
          </p:blipFill>
          <p:spPr>
            <a:xfrm>
              <a:off x="0" y="0"/>
              <a:ext cx="6096000" cy="6858000"/>
            </a:xfrm>
            <a:prstGeom prst="rect">
              <a:avLst/>
            </a:prstGeom>
          </p:spPr>
        </p:pic>
      </p:grpSp>
      <p:sp>
        <p:nvSpPr>
          <p:cNvPr id="13" name="Text Placeholder 12">
            <a:extLst>
              <a:ext uri="{FF2B5EF4-FFF2-40B4-BE49-F238E27FC236}">
                <a16:creationId xmlns:a16="http://schemas.microsoft.com/office/drawing/2014/main" id="{B1061A9F-A15E-C64A-9549-79374FACE173}"/>
              </a:ext>
            </a:extLst>
          </p:cNvPr>
          <p:cNvSpPr>
            <a:spLocks noGrp="1"/>
          </p:cNvSpPr>
          <p:nvPr>
            <p:ph type="body" sz="quarter" idx="10" hasCustomPrompt="1"/>
          </p:nvPr>
        </p:nvSpPr>
        <p:spPr>
          <a:xfrm>
            <a:off x="695833" y="3229691"/>
            <a:ext cx="4702175" cy="398616"/>
          </a:xfrm>
          <a:prstGeom prst="rect">
            <a:avLst/>
          </a:prstGeom>
        </p:spPr>
        <p:txBody>
          <a:bodyPr/>
          <a:lstStyle>
            <a:lvl1pPr marL="0" indent="0" algn="ctr">
              <a:buNone/>
              <a:defRPr sz="3000" b="1" i="0">
                <a:latin typeface="Arial" panose="020B0604020202020204" pitchFamily="34" charset="0"/>
                <a:cs typeface="Arial" panose="020B0604020202020204" pitchFamily="34" charset="0"/>
              </a:defRPr>
            </a:lvl1pPr>
          </a:lstStyle>
          <a:p>
            <a:pPr lvl="0"/>
            <a:r>
              <a:rPr lang="en-US"/>
              <a:t>What We’ll Cover</a:t>
            </a:r>
          </a:p>
        </p:txBody>
      </p:sp>
      <p:sp>
        <p:nvSpPr>
          <p:cNvPr id="19" name="Text Placeholder 18">
            <a:extLst>
              <a:ext uri="{FF2B5EF4-FFF2-40B4-BE49-F238E27FC236}">
                <a16:creationId xmlns:a16="http://schemas.microsoft.com/office/drawing/2014/main" id="{1FA52A49-6633-E54F-9E51-57323147E959}"/>
              </a:ext>
            </a:extLst>
          </p:cNvPr>
          <p:cNvSpPr>
            <a:spLocks noGrp="1"/>
          </p:cNvSpPr>
          <p:nvPr>
            <p:ph type="body" sz="quarter" idx="12" hasCustomPrompt="1"/>
          </p:nvPr>
        </p:nvSpPr>
        <p:spPr>
          <a:xfrm>
            <a:off x="6791833" y="1128199"/>
            <a:ext cx="4704334" cy="4564678"/>
          </a:xfrm>
          <a:prstGeom prst="rect">
            <a:avLst/>
          </a:prstGeom>
        </p:spPr>
        <p:txBody>
          <a:bodyPr/>
          <a:lstStyle>
            <a:lvl1pPr marL="0" indent="0">
              <a:buNone/>
              <a:defRPr sz="1800" b="0" i="0">
                <a:latin typeface="Arial" panose="020B0604020202020204" pitchFamily="34" charset="0"/>
                <a:cs typeface="Arial" panose="020B0604020202020204" pitchFamily="34" charset="0"/>
              </a:defRPr>
            </a:lvl1pPr>
            <a:lvl2pPr marL="742950" indent="-285750">
              <a:lnSpc>
                <a:spcPct val="200000"/>
              </a:lnSpc>
              <a:buClr>
                <a:srgbClr val="FFC629"/>
              </a:buClr>
              <a:buFont typeface="Arial" panose="020B0604020202020204" pitchFamily="34" charset="0"/>
              <a:buChar char="•"/>
              <a:defRPr sz="1800" b="0" i="0"/>
            </a:lvl2pPr>
          </a:lstStyle>
          <a:p>
            <a:pPr>
              <a:lnSpc>
                <a:spcPct val="200000"/>
              </a:lnSpc>
            </a:pPr>
            <a:r>
              <a:rPr lang="en-US">
                <a:latin typeface="Avenir Medium" panose="02000503020000020003" pitchFamily="2" charset="0"/>
              </a:rPr>
              <a:t>Content</a:t>
            </a:r>
          </a:p>
          <a:p>
            <a:pPr>
              <a:lnSpc>
                <a:spcPct val="200000"/>
              </a:lnSpc>
            </a:pPr>
            <a:r>
              <a:rPr lang="en-US">
                <a:latin typeface="Avenir Medium" panose="02000503020000020003" pitchFamily="2" charset="0"/>
              </a:rPr>
              <a:t>Content</a:t>
            </a:r>
          </a:p>
          <a:p>
            <a:pPr marL="742950" lvl="1" indent="-285750">
              <a:lnSpc>
                <a:spcPct val="200000"/>
              </a:lnSpc>
              <a:buClr>
                <a:srgbClr val="FFC629"/>
              </a:buClr>
              <a:buFont typeface="Arial" panose="020B0604020202020204" pitchFamily="34" charset="0"/>
              <a:buChar char="•"/>
            </a:pPr>
            <a:r>
              <a:rPr lang="en-US">
                <a:latin typeface="Avenir Medium" panose="02000503020000020003" pitchFamily="2" charset="0"/>
              </a:rPr>
              <a:t>Content</a:t>
            </a:r>
          </a:p>
          <a:p>
            <a:pPr marL="742950" lvl="1" indent="-285750">
              <a:lnSpc>
                <a:spcPct val="200000"/>
              </a:lnSpc>
              <a:buClr>
                <a:srgbClr val="FFC629"/>
              </a:buClr>
              <a:buFont typeface="Arial" panose="020B0604020202020204" pitchFamily="34" charset="0"/>
              <a:buChar char="•"/>
            </a:pPr>
            <a:r>
              <a:rPr lang="en-US">
                <a:latin typeface="Avenir Medium" panose="02000503020000020003" pitchFamily="2" charset="0"/>
              </a:rPr>
              <a:t>Content</a:t>
            </a:r>
          </a:p>
          <a:p>
            <a:pPr marL="742950" lvl="1" indent="-285750">
              <a:lnSpc>
                <a:spcPct val="200000"/>
              </a:lnSpc>
              <a:buClr>
                <a:srgbClr val="FFC629"/>
              </a:buClr>
              <a:buFont typeface="Arial" panose="020B0604020202020204" pitchFamily="34" charset="0"/>
              <a:buChar char="•"/>
            </a:pPr>
            <a:r>
              <a:rPr lang="en-US">
                <a:latin typeface="Avenir Medium" panose="02000503020000020003" pitchFamily="2" charset="0"/>
              </a:rPr>
              <a:t>Content</a:t>
            </a:r>
          </a:p>
          <a:p>
            <a:pPr>
              <a:lnSpc>
                <a:spcPct val="200000"/>
              </a:lnSpc>
            </a:pPr>
            <a:r>
              <a:rPr lang="en-US">
                <a:latin typeface="Avenir Medium" panose="02000503020000020003" pitchFamily="2" charset="0"/>
              </a:rPr>
              <a:t>Content</a:t>
            </a:r>
          </a:p>
          <a:p>
            <a:pPr>
              <a:lnSpc>
                <a:spcPct val="200000"/>
              </a:lnSpc>
            </a:pPr>
            <a:r>
              <a:rPr lang="en-US">
                <a:latin typeface="Avenir Medium" panose="02000503020000020003" pitchFamily="2" charset="0"/>
              </a:rPr>
              <a:t>Content</a:t>
            </a:r>
          </a:p>
        </p:txBody>
      </p:sp>
      <p:sp>
        <p:nvSpPr>
          <p:cNvPr id="2" name="Date Placeholder 1">
            <a:extLst>
              <a:ext uri="{FF2B5EF4-FFF2-40B4-BE49-F238E27FC236}">
                <a16:creationId xmlns:a16="http://schemas.microsoft.com/office/drawing/2014/main" id="{E5F56920-DF85-5F69-C291-AE3743529DCA}"/>
              </a:ext>
            </a:extLst>
          </p:cNvPr>
          <p:cNvSpPr>
            <a:spLocks noGrp="1"/>
          </p:cNvSpPr>
          <p:nvPr>
            <p:ph type="dt" sz="half" idx="13"/>
          </p:nvPr>
        </p:nvSpPr>
        <p:spPr/>
        <p:txBody>
          <a:bodyPr/>
          <a:lstStyle/>
          <a:p>
            <a:endParaRPr lang="en-US"/>
          </a:p>
        </p:txBody>
      </p:sp>
      <p:sp>
        <p:nvSpPr>
          <p:cNvPr id="3" name="Footer Placeholder 2">
            <a:extLst>
              <a:ext uri="{FF2B5EF4-FFF2-40B4-BE49-F238E27FC236}">
                <a16:creationId xmlns:a16="http://schemas.microsoft.com/office/drawing/2014/main" id="{2D2D818E-F259-E863-647F-BE168B751AB6}"/>
              </a:ext>
            </a:extLst>
          </p:cNvPr>
          <p:cNvSpPr>
            <a:spLocks noGrp="1"/>
          </p:cNvSpPr>
          <p:nvPr>
            <p:ph type="ftr" sz="quarter" idx="14"/>
          </p:nvPr>
        </p:nvSpPr>
        <p:spPr/>
        <p:txBody>
          <a:bodyPr/>
          <a:lstStyle/>
          <a:p>
            <a:endParaRPr lang="en-US"/>
          </a:p>
        </p:txBody>
      </p:sp>
      <p:sp>
        <p:nvSpPr>
          <p:cNvPr id="4" name="Slide Number Placeholder 3">
            <a:extLst>
              <a:ext uri="{FF2B5EF4-FFF2-40B4-BE49-F238E27FC236}">
                <a16:creationId xmlns:a16="http://schemas.microsoft.com/office/drawing/2014/main" id="{661A7600-89D3-A774-2C3D-2BBDFD379A2E}"/>
              </a:ext>
            </a:extLst>
          </p:cNvPr>
          <p:cNvSpPr>
            <a:spLocks noGrp="1"/>
          </p:cNvSpPr>
          <p:nvPr>
            <p:ph type="sldNum" sz="quarter" idx="15"/>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3367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06B76FD-EBC2-924F-90F9-5FBB8B224E6C}"/>
              </a:ext>
            </a:extLst>
          </p:cNvPr>
          <p:cNvSpPr/>
          <p:nvPr/>
        </p:nvSpPr>
        <p:spPr>
          <a:xfrm>
            <a:off x="-1" y="6224584"/>
            <a:ext cx="12192001" cy="26077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0204431-1C59-AA44-82EC-D02845A982FA}"/>
              </a:ext>
            </a:extLst>
          </p:cNvPr>
          <p:cNvPicPr>
            <a:picLocks noChangeAspect="1"/>
          </p:cNvPicPr>
          <p:nvPr/>
        </p:nvPicPr>
        <p:blipFill rotWithShape="1">
          <a:blip r:embed="rId2"/>
          <a:srcRect t="91324" r="1434" b="242"/>
          <a:stretch/>
        </p:blipFill>
        <p:spPr>
          <a:xfrm>
            <a:off x="0" y="6279639"/>
            <a:ext cx="12192000" cy="578361"/>
          </a:xfrm>
          <a:prstGeom prst="rect">
            <a:avLst/>
          </a:prstGeom>
        </p:spPr>
      </p:pic>
      <p:cxnSp>
        <p:nvCxnSpPr>
          <p:cNvPr id="9" name="Straight Connector 8">
            <a:extLst>
              <a:ext uri="{FF2B5EF4-FFF2-40B4-BE49-F238E27FC236}">
                <a16:creationId xmlns:a16="http://schemas.microsoft.com/office/drawing/2014/main" id="{9E6176D2-EEF6-1043-9E18-99A5E6FB1DED}"/>
              </a:ext>
            </a:extLst>
          </p:cNvPr>
          <p:cNvCxnSpPr>
            <a:cxnSpLocks/>
          </p:cNvCxnSpPr>
          <p:nvPr/>
        </p:nvCxnSpPr>
        <p:spPr>
          <a:xfrm>
            <a:off x="-13856" y="1260574"/>
            <a:ext cx="6096001" cy="0"/>
          </a:xfrm>
          <a:prstGeom prst="line">
            <a:avLst/>
          </a:prstGeom>
          <a:ln w="28575">
            <a:solidFill>
              <a:srgbClr val="FFC629"/>
            </a:solidFill>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3B75B1AC-CF2D-704D-8913-3B88C08C39B0}"/>
              </a:ext>
            </a:extLst>
          </p:cNvPr>
          <p:cNvSpPr>
            <a:spLocks noGrp="1"/>
          </p:cNvSpPr>
          <p:nvPr>
            <p:ph type="body" sz="quarter" idx="10" hasCustomPrompt="1"/>
          </p:nvPr>
        </p:nvSpPr>
        <p:spPr>
          <a:xfrm>
            <a:off x="598083" y="600075"/>
            <a:ext cx="5680075" cy="660400"/>
          </a:xfrm>
          <a:prstGeom prst="rect">
            <a:avLst/>
          </a:prstGeom>
        </p:spPr>
        <p:txBody>
          <a:bodyPr/>
          <a:lstStyle>
            <a:lvl1pPr marL="0" indent="0">
              <a:buNone/>
              <a:defRPr sz="3000" b="1" i="0">
                <a:latin typeface="Arial" panose="020B0604020202020204" pitchFamily="34" charset="0"/>
                <a:cs typeface="Arial" panose="020B0604020202020204" pitchFamily="34" charset="0"/>
              </a:defRPr>
            </a:lvl1pPr>
          </a:lstStyle>
          <a:p>
            <a:pPr lvl="0"/>
            <a:r>
              <a:rPr lang="en-US"/>
              <a:t>Title</a:t>
            </a:r>
          </a:p>
        </p:txBody>
      </p:sp>
      <p:sp>
        <p:nvSpPr>
          <p:cNvPr id="20" name="Text Placeholder 19">
            <a:extLst>
              <a:ext uri="{FF2B5EF4-FFF2-40B4-BE49-F238E27FC236}">
                <a16:creationId xmlns:a16="http://schemas.microsoft.com/office/drawing/2014/main" id="{D8360B5A-D265-7849-A437-ACE53640BBA6}"/>
              </a:ext>
            </a:extLst>
          </p:cNvPr>
          <p:cNvSpPr>
            <a:spLocks noGrp="1"/>
          </p:cNvSpPr>
          <p:nvPr>
            <p:ph type="body" sz="quarter" idx="11" hasCustomPrompt="1"/>
          </p:nvPr>
        </p:nvSpPr>
        <p:spPr>
          <a:xfrm>
            <a:off x="598083" y="1752600"/>
            <a:ext cx="4257675" cy="3352800"/>
          </a:xfrm>
          <a:prstGeom prst="rect">
            <a:avLst/>
          </a:prstGeom>
        </p:spPr>
        <p:txBody>
          <a:bodyPr/>
          <a:lstStyle>
            <a:lvl1pPr marL="0" indent="0">
              <a:buClr>
                <a:srgbClr val="FFC629"/>
              </a:buClr>
              <a:buFont typeface="Arial" panose="020B0604020202020204" pitchFamily="34" charset="0"/>
              <a:buNone/>
              <a:defRPr sz="1500">
                <a:latin typeface="Arial" panose="020B0604020202020204" pitchFamily="34" charset="0"/>
                <a:cs typeface="Arial" panose="020B0604020202020204" pitchFamily="34" charset="0"/>
              </a:defRPr>
            </a:lvl1pPr>
            <a:lvl2pPr>
              <a:defRPr sz="1500"/>
            </a:lvl2pPr>
            <a:lvl3pPr>
              <a:defRPr sz="1500"/>
            </a:lvl3pPr>
            <a:lvl4pPr>
              <a:defRPr sz="1500"/>
            </a:lvl4pPr>
            <a:lvl5pPr>
              <a:defRPr sz="1500"/>
            </a:lvl5pPr>
          </a:lstStyle>
          <a:p>
            <a:r>
              <a:rPr lang="en-US" sz="1500" b="1">
                <a:latin typeface="Avenir Black" panose="02000503020000020003" pitchFamily="2" charset="0"/>
              </a:rPr>
              <a:t>Points:</a:t>
            </a:r>
          </a:p>
          <a:p>
            <a:endParaRPr lang="en-US" sz="1500">
              <a:latin typeface="Avenir Medium" panose="02000503020000020003" pitchFamily="2" charset="0"/>
            </a:endParaRPr>
          </a:p>
          <a:p>
            <a:pPr marL="285750" indent="-285750">
              <a:buClr>
                <a:srgbClr val="FFC629"/>
              </a:buClr>
              <a:buFont typeface="Arial" panose="020B0604020202020204" pitchFamily="34" charset="0"/>
              <a:buChar char="•"/>
            </a:pPr>
            <a:r>
              <a:rPr lang="en-US" sz="1500">
                <a:latin typeface="Avenir Medium" panose="02000503020000020003" pitchFamily="2" charset="0"/>
              </a:rPr>
              <a:t>Point 1</a:t>
            </a:r>
          </a:p>
          <a:p>
            <a:pPr marL="285750" indent="-285750">
              <a:buClr>
                <a:srgbClr val="FFC629"/>
              </a:buClr>
              <a:buFont typeface="Arial" panose="020B0604020202020204" pitchFamily="34" charset="0"/>
              <a:buChar char="•"/>
            </a:pPr>
            <a:r>
              <a:rPr lang="en-US" sz="1500">
                <a:latin typeface="Avenir Medium" panose="02000503020000020003" pitchFamily="2" charset="0"/>
              </a:rPr>
              <a:t>Point 2</a:t>
            </a:r>
          </a:p>
          <a:p>
            <a:pPr marL="285750" indent="-285750">
              <a:buClr>
                <a:srgbClr val="FFC629"/>
              </a:buClr>
              <a:buFont typeface="Arial" panose="020B0604020202020204" pitchFamily="34" charset="0"/>
              <a:buChar char="•"/>
            </a:pPr>
            <a:r>
              <a:rPr lang="en-US" sz="1500">
                <a:latin typeface="Avenir Medium" panose="02000503020000020003" pitchFamily="2" charset="0"/>
              </a:rPr>
              <a:t>Point 3</a:t>
            </a:r>
          </a:p>
          <a:p>
            <a:pPr marL="285750" indent="-285750">
              <a:buFont typeface="Arial" panose="020B0604020202020204" pitchFamily="34" charset="0"/>
              <a:buChar char="•"/>
            </a:pPr>
            <a:endParaRPr lang="en-US" sz="1500">
              <a:latin typeface="Avenir Medium" panose="02000503020000020003" pitchFamily="2" charset="0"/>
            </a:endParaRPr>
          </a:p>
          <a:p>
            <a:r>
              <a:rPr lang="en-US" sz="1500">
                <a:latin typeface="Avenir Medium" panose="02000503020000020003" pitchFamily="2" charset="0"/>
              </a:rPr>
              <a:t>Reinforce main points/message here with copy to explain to the consumer.</a:t>
            </a:r>
          </a:p>
        </p:txBody>
      </p:sp>
      <p:sp>
        <p:nvSpPr>
          <p:cNvPr id="22" name="Picture Placeholder 21">
            <a:extLst>
              <a:ext uri="{FF2B5EF4-FFF2-40B4-BE49-F238E27FC236}">
                <a16:creationId xmlns:a16="http://schemas.microsoft.com/office/drawing/2014/main" id="{DF874033-E928-1743-85FB-DC29CB426C56}"/>
              </a:ext>
            </a:extLst>
          </p:cNvPr>
          <p:cNvSpPr>
            <a:spLocks noGrp="1"/>
          </p:cNvSpPr>
          <p:nvPr>
            <p:ph type="pic" sz="quarter" idx="12"/>
          </p:nvPr>
        </p:nvSpPr>
        <p:spPr>
          <a:xfrm>
            <a:off x="6799667" y="1593184"/>
            <a:ext cx="4794250" cy="3892550"/>
          </a:xfrm>
          <a:prstGeom prst="rect">
            <a:avLst/>
          </a:prstGeom>
        </p:spPr>
        <p:txBody>
          <a:bodyPr/>
          <a:lstStyle>
            <a:lvl1pPr marL="0" indent="0">
              <a:buNone/>
              <a:defRPr/>
            </a:lvl1pPr>
          </a:lstStyle>
          <a:p>
            <a:endParaRPr lang="en-US"/>
          </a:p>
        </p:txBody>
      </p:sp>
      <p:sp>
        <p:nvSpPr>
          <p:cNvPr id="2" name="Date Placeholder 1">
            <a:extLst>
              <a:ext uri="{FF2B5EF4-FFF2-40B4-BE49-F238E27FC236}">
                <a16:creationId xmlns:a16="http://schemas.microsoft.com/office/drawing/2014/main" id="{635620DA-ABB9-3553-06AB-A95104752881}"/>
              </a:ext>
            </a:extLst>
          </p:cNvPr>
          <p:cNvSpPr>
            <a:spLocks noGrp="1"/>
          </p:cNvSpPr>
          <p:nvPr>
            <p:ph type="dt" sz="half" idx="13"/>
          </p:nvPr>
        </p:nvSpPr>
        <p:spPr/>
        <p:txBody>
          <a:bodyPr/>
          <a:lstStyle/>
          <a:p>
            <a:endParaRPr lang="en-US"/>
          </a:p>
        </p:txBody>
      </p:sp>
      <p:sp>
        <p:nvSpPr>
          <p:cNvPr id="3" name="Footer Placeholder 2">
            <a:extLst>
              <a:ext uri="{FF2B5EF4-FFF2-40B4-BE49-F238E27FC236}">
                <a16:creationId xmlns:a16="http://schemas.microsoft.com/office/drawing/2014/main" id="{AF987B65-A814-7948-DAC2-667ABEDD3A95}"/>
              </a:ext>
            </a:extLst>
          </p:cNvPr>
          <p:cNvSpPr>
            <a:spLocks noGrp="1"/>
          </p:cNvSpPr>
          <p:nvPr>
            <p:ph type="ftr" sz="quarter" idx="14"/>
          </p:nvPr>
        </p:nvSpPr>
        <p:spPr/>
        <p:txBody>
          <a:bodyPr/>
          <a:lstStyle/>
          <a:p>
            <a:endParaRPr lang="en-US"/>
          </a:p>
        </p:txBody>
      </p:sp>
      <p:sp>
        <p:nvSpPr>
          <p:cNvPr id="6" name="Slide Number Placeholder 5">
            <a:extLst>
              <a:ext uri="{FF2B5EF4-FFF2-40B4-BE49-F238E27FC236}">
                <a16:creationId xmlns:a16="http://schemas.microsoft.com/office/drawing/2014/main" id="{A0B89F0F-28D1-D0A0-DE65-C675AD0D5FF0}"/>
              </a:ext>
            </a:extLst>
          </p:cNvPr>
          <p:cNvSpPr>
            <a:spLocks noGrp="1"/>
          </p:cNvSpPr>
          <p:nvPr>
            <p:ph type="sldNum" sz="quarter" idx="15"/>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97304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9982E9-2715-D941-B379-71A97DB17011}"/>
              </a:ext>
            </a:extLst>
          </p:cNvPr>
          <p:cNvPicPr>
            <a:picLocks noChangeAspect="1"/>
          </p:cNvPicPr>
          <p:nvPr/>
        </p:nvPicPr>
        <p:blipFill rotWithShape="1">
          <a:blip r:embed="rId2"/>
          <a:srcRect t="69902" r="1168" b="21932"/>
          <a:stretch/>
        </p:blipFill>
        <p:spPr>
          <a:xfrm>
            <a:off x="-1" y="6311590"/>
            <a:ext cx="12192001" cy="565634"/>
          </a:xfrm>
          <a:prstGeom prst="rect">
            <a:avLst/>
          </a:prstGeom>
        </p:spPr>
      </p:pic>
      <p:cxnSp>
        <p:nvCxnSpPr>
          <p:cNvPr id="3" name="Straight Connector 2">
            <a:extLst>
              <a:ext uri="{FF2B5EF4-FFF2-40B4-BE49-F238E27FC236}">
                <a16:creationId xmlns:a16="http://schemas.microsoft.com/office/drawing/2014/main" id="{D0C39C82-22A6-0A45-B0AE-051068866D21}"/>
              </a:ext>
            </a:extLst>
          </p:cNvPr>
          <p:cNvCxnSpPr>
            <a:cxnSpLocks/>
          </p:cNvCxnSpPr>
          <p:nvPr userDrawn="1"/>
        </p:nvCxnSpPr>
        <p:spPr>
          <a:xfrm>
            <a:off x="-1" y="6311590"/>
            <a:ext cx="1219200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FE666336-3342-839D-9926-8DFF6EA34D00}"/>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268EC37C-F352-10ED-8633-BFE59DF1D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AA211E-D01D-503A-0C57-941694120694}"/>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55922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Option 2">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2C8967C-5DE1-8542-B6F8-DE583745C775}"/>
              </a:ext>
            </a:extLst>
          </p:cNvPr>
          <p:cNvGrpSpPr/>
          <p:nvPr userDrawn="1"/>
        </p:nvGrpSpPr>
        <p:grpSpPr>
          <a:xfrm>
            <a:off x="0" y="-1"/>
            <a:ext cx="12192000" cy="6858001"/>
            <a:chOff x="0" y="-1"/>
            <a:chExt cx="12192000" cy="6858001"/>
          </a:xfrm>
        </p:grpSpPr>
        <p:pic>
          <p:nvPicPr>
            <p:cNvPr id="8" name="Picture 7">
              <a:extLst>
                <a:ext uri="{FF2B5EF4-FFF2-40B4-BE49-F238E27FC236}">
                  <a16:creationId xmlns:a16="http://schemas.microsoft.com/office/drawing/2014/main" id="{E3F91AB2-125E-C949-8DAC-F0922653571D}"/>
                </a:ext>
              </a:extLst>
            </p:cNvPr>
            <p:cNvPicPr>
              <a:picLocks noChangeAspect="1"/>
            </p:cNvPicPr>
            <p:nvPr/>
          </p:nvPicPr>
          <p:blipFill rotWithShape="1">
            <a:blip r:embed="rId2">
              <a:alphaModFix amt="50000"/>
            </a:blip>
            <a:srcRect t="19272"/>
            <a:stretch/>
          </p:blipFill>
          <p:spPr>
            <a:xfrm>
              <a:off x="0" y="-1"/>
              <a:ext cx="12192000" cy="6858001"/>
            </a:xfrm>
            <a:prstGeom prst="rect">
              <a:avLst/>
            </a:prstGeom>
          </p:spPr>
        </p:pic>
        <p:cxnSp>
          <p:nvCxnSpPr>
            <p:cNvPr id="10" name="Straight Connector 9">
              <a:extLst>
                <a:ext uri="{FF2B5EF4-FFF2-40B4-BE49-F238E27FC236}">
                  <a16:creationId xmlns:a16="http://schemas.microsoft.com/office/drawing/2014/main" id="{DF6F952A-A865-544A-B2DA-A32AF5762272}"/>
                </a:ext>
              </a:extLst>
            </p:cNvPr>
            <p:cNvCxnSpPr/>
            <p:nvPr/>
          </p:nvCxnSpPr>
          <p:spPr>
            <a:xfrm>
              <a:off x="3672840" y="3857735"/>
              <a:ext cx="4846320" cy="0"/>
            </a:xfrm>
            <a:prstGeom prst="line">
              <a:avLst/>
            </a:prstGeom>
            <a:ln w="28575">
              <a:solidFill>
                <a:srgbClr val="FFC629"/>
              </a:solidFill>
            </a:ln>
          </p:spPr>
          <p:style>
            <a:lnRef idx="1">
              <a:schemeClr val="accent1"/>
            </a:lnRef>
            <a:fillRef idx="0">
              <a:schemeClr val="accent1"/>
            </a:fillRef>
            <a:effectRef idx="0">
              <a:schemeClr val="accent1"/>
            </a:effectRef>
            <a:fontRef idx="minor">
              <a:schemeClr val="tx1"/>
            </a:fontRef>
          </p:style>
        </p:cxnSp>
      </p:grpSp>
      <p:sp>
        <p:nvSpPr>
          <p:cNvPr id="6" name="Text Placeholder 12">
            <a:extLst>
              <a:ext uri="{FF2B5EF4-FFF2-40B4-BE49-F238E27FC236}">
                <a16:creationId xmlns:a16="http://schemas.microsoft.com/office/drawing/2014/main" id="{BDF5D72F-CC3C-2B4E-B192-FF761F67C873}"/>
              </a:ext>
            </a:extLst>
          </p:cNvPr>
          <p:cNvSpPr>
            <a:spLocks noGrp="1"/>
          </p:cNvSpPr>
          <p:nvPr>
            <p:ph type="body" sz="quarter" idx="11" hasCustomPrompt="1"/>
          </p:nvPr>
        </p:nvSpPr>
        <p:spPr>
          <a:xfrm>
            <a:off x="2808325" y="3247982"/>
            <a:ext cx="6575347" cy="553998"/>
          </a:xfrm>
          <a:prstGeom prst="rect">
            <a:avLst/>
          </a:prstGeom>
        </p:spPr>
        <p:txBody>
          <a:bodyPr/>
          <a:lstStyle>
            <a:lvl1pPr marL="0" indent="0" algn="ctr">
              <a:buNone/>
              <a:defRPr sz="3000" b="1" i="0">
                <a:solidFill>
                  <a:schemeClr val="tx1"/>
                </a:solidFill>
                <a:latin typeface="Arial" panose="020B0604020202020204" pitchFamily="34" charset="0"/>
                <a:cs typeface="Arial" panose="020B0604020202020204" pitchFamily="34" charset="0"/>
              </a:defRPr>
            </a:lvl1pPr>
          </a:lstStyle>
          <a:p>
            <a:pPr lvl="0"/>
            <a:r>
              <a:rPr lang="en-US"/>
              <a:t>Divider Title</a:t>
            </a:r>
          </a:p>
        </p:txBody>
      </p:sp>
    </p:spTree>
    <p:extLst>
      <p:ext uri="{BB962C8B-B14F-4D97-AF65-F5344CB8AC3E}">
        <p14:creationId xmlns:p14="http://schemas.microsoft.com/office/powerpoint/2010/main" val="1442555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25A00D-820B-394B-BB34-47EBF2ABECF4}"/>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D071227B-224F-8845-985A-7D474CAE570C}"/>
              </a:ext>
            </a:extLst>
          </p:cNvPr>
          <p:cNvSpPr/>
          <p:nvPr/>
        </p:nvSpPr>
        <p:spPr>
          <a:xfrm>
            <a:off x="-1" y="2958419"/>
            <a:ext cx="12192001" cy="9411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33FC234-CE84-CE4A-AEC5-3D8F75B4E49C}"/>
              </a:ext>
            </a:extLst>
          </p:cNvPr>
          <p:cNvSpPr txBox="1"/>
          <p:nvPr/>
        </p:nvSpPr>
        <p:spPr>
          <a:xfrm>
            <a:off x="1822703" y="3210350"/>
            <a:ext cx="8546592" cy="477054"/>
          </a:xfrm>
          <a:prstGeom prst="rect">
            <a:avLst/>
          </a:prstGeom>
          <a:noFill/>
        </p:spPr>
        <p:txBody>
          <a:bodyPr wrap="square" rtlCol="0">
            <a:spAutoFit/>
          </a:bodyPr>
          <a:lstStyle/>
          <a:p>
            <a:pPr algn="ctr"/>
            <a:r>
              <a:rPr lang="en-US" sz="2500">
                <a:solidFill>
                  <a:schemeClr val="bg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178959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a:p>
        </p:txBody>
      </p:sp>
    </p:spTree>
    <p:extLst>
      <p:ext uri="{BB962C8B-B14F-4D97-AF65-F5344CB8AC3E}">
        <p14:creationId xmlns:p14="http://schemas.microsoft.com/office/powerpoint/2010/main" val="53416533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jpeg"/><Relationship Id="rId2" Type="http://schemas.microsoft.com/office/2018/10/relationships/comments" Target="../comments/modernComment_10F_72952541.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8" Type="http://schemas.openxmlformats.org/officeDocument/2006/relationships/image" Target="../media/image14.svg"/><Relationship Id="rId3" Type="http://schemas.microsoft.com/office/2018/10/relationships/comments" Target="../comments/modernComment_102_FDC64558.xml"/><Relationship Id="rId7"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7.svg"/><Relationship Id="rId5" Type="http://schemas.openxmlformats.org/officeDocument/2006/relationships/image" Target="../media/image11.jpeg"/><Relationship Id="rId10" Type="http://schemas.openxmlformats.org/officeDocument/2006/relationships/image" Target="../media/image16.svg"/><Relationship Id="rId4" Type="http://schemas.openxmlformats.org/officeDocument/2006/relationships/image" Target="../media/image10.jpeg"/><Relationship Id="rId9" Type="http://schemas.openxmlformats.org/officeDocument/2006/relationships/image" Target="../media/image15.sv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18" Type="http://schemas.microsoft.com/office/2007/relationships/diagramDrawing" Target="../diagrams/drawing3.xml"/><Relationship Id="rId3" Type="http://schemas.microsoft.com/office/2018/10/relationships/comments" Target="../comments/modernComment_111_6EF89288.xml"/><Relationship Id="rId21" Type="http://schemas.openxmlformats.org/officeDocument/2006/relationships/diagramQuickStyle" Target="../diagrams/quickStyle4.xml"/><Relationship Id="rId7" Type="http://schemas.openxmlformats.org/officeDocument/2006/relationships/diagramColors" Target="../diagrams/colors1.xml"/><Relationship Id="rId12" Type="http://schemas.openxmlformats.org/officeDocument/2006/relationships/diagramColors" Target="../diagrams/colors2.xml"/><Relationship Id="rId17" Type="http://schemas.openxmlformats.org/officeDocument/2006/relationships/diagramColors" Target="../diagrams/colors3.xml"/><Relationship Id="rId2" Type="http://schemas.openxmlformats.org/officeDocument/2006/relationships/notesSlide" Target="../notesSlides/notesSlide3.xml"/><Relationship Id="rId16" Type="http://schemas.openxmlformats.org/officeDocument/2006/relationships/diagramQuickStyle" Target="../diagrams/quickStyle3.xml"/><Relationship Id="rId20" Type="http://schemas.openxmlformats.org/officeDocument/2006/relationships/diagramLayout" Target="../diagrams/layout4.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5" Type="http://schemas.openxmlformats.org/officeDocument/2006/relationships/diagramLayout" Target="../diagrams/layout3.xml"/><Relationship Id="rId23" Type="http://schemas.microsoft.com/office/2007/relationships/diagramDrawing" Target="../diagrams/drawing4.xml"/><Relationship Id="rId10" Type="http://schemas.openxmlformats.org/officeDocument/2006/relationships/diagramLayout" Target="../diagrams/layout2.xml"/><Relationship Id="rId19" Type="http://schemas.openxmlformats.org/officeDocument/2006/relationships/diagramData" Target="../diagrams/data4.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diagramData" Target="../diagrams/data3.xml"/><Relationship Id="rId22" Type="http://schemas.openxmlformats.org/officeDocument/2006/relationships/diagramColors" Target="../diagrams/colors4.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25.png"/><Relationship Id="rId7" Type="http://schemas.openxmlformats.org/officeDocument/2006/relationships/diagramQuickStyle" Target="../diagrams/quickStyle5.xml"/><Relationship Id="rId12" Type="http://schemas.openxmlformats.org/officeDocument/2006/relationships/image" Target="../media/image29.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Layout" Target="../diagrams/layout5.xml"/><Relationship Id="rId11" Type="http://schemas.openxmlformats.org/officeDocument/2006/relationships/image" Target="../media/image28.svg"/><Relationship Id="rId5" Type="http://schemas.openxmlformats.org/officeDocument/2006/relationships/diagramData" Target="../diagrams/data5.xml"/><Relationship Id="rId10" Type="http://schemas.openxmlformats.org/officeDocument/2006/relationships/image" Target="../media/image27.png"/><Relationship Id="rId4" Type="http://schemas.openxmlformats.org/officeDocument/2006/relationships/image" Target="../media/image26.png"/><Relationship Id="rId9" Type="http://schemas.microsoft.com/office/2007/relationships/diagramDrawing" Target="../diagrams/drawing5.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2.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39.png"/><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29.svg"/></Relationships>
</file>

<file path=ppt/slides/_rels/slide11.xml.rels><?xml version="1.0" encoding="UTF-8" standalone="yes"?>
<Relationships xmlns="http://schemas.openxmlformats.org/package/2006/relationships"><Relationship Id="rId3" Type="http://schemas.microsoft.com/office/2018/10/relationships/comments" Target="../comments/modernComment_109_DC174367.xml"/><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kennesawedu.sharepoint.com/sites/Team-ksu-datagrad/Shared%20Documents/Storm%20Troopers/Presentation/Storm%20Troopers%20Appendix.docx?web=1"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microsoft.com/office/2018/10/relationships/comments" Target="../comments/modernComment_123_4E6A28AB.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07_23EBA463.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108_5A13A557.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4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52.png"/><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9.png"/><Relationship Id="rId7"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54.svg"/><Relationship Id="rId7" Type="http://schemas.openxmlformats.org/officeDocument/2006/relationships/image" Target="../media/image58.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7.svg"/><Relationship Id="rId5" Type="http://schemas.openxmlformats.org/officeDocument/2006/relationships/image" Target="../media/image56.svg"/><Relationship Id="rId4" Type="http://schemas.openxmlformats.org/officeDocument/2006/relationships/image" Target="../media/image55.svg"/></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61.svg"/><Relationship Id="rId4" Type="http://schemas.openxmlformats.org/officeDocument/2006/relationships/image" Target="../media/image60.svg"/></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65.svg"/><Relationship Id="rId5" Type="http://schemas.openxmlformats.org/officeDocument/2006/relationships/image" Target="../media/image64.svg"/><Relationship Id="rId4" Type="http://schemas.openxmlformats.org/officeDocument/2006/relationships/image" Target="../media/image63.svg"/></Relationships>
</file>

<file path=ppt/slides/_rels/slide2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18/10/relationships/comments" Target="../comments/modernComment_10D_A6A2AFE8.xml"/><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171B0-B649-7145-AD15-573647914E46}"/>
              </a:ext>
            </a:extLst>
          </p:cNvPr>
          <p:cNvSpPr>
            <a:spLocks noGrp="1"/>
          </p:cNvSpPr>
          <p:nvPr>
            <p:ph type="body" sz="quarter" idx="12"/>
          </p:nvPr>
        </p:nvSpPr>
        <p:spPr>
          <a:xfrm>
            <a:off x="7179999" y="3121357"/>
            <a:ext cx="4222519" cy="1367775"/>
          </a:xfrm>
        </p:spPr>
        <p:txBody>
          <a:bodyPr lIns="91440" tIns="45720" rIns="91440" bIns="45720" anchor="t">
            <a:normAutofit/>
          </a:bodyPr>
          <a:lstStyle/>
          <a:p>
            <a:r>
              <a:rPr lang="en-US" sz="3600">
                <a:latin typeface="Avenir Black"/>
                <a:cs typeface="Arial"/>
              </a:rPr>
              <a:t>Analytical Results</a:t>
            </a:r>
            <a:endParaRPr lang="en-US" sz="3600">
              <a:latin typeface="Avenir Black"/>
            </a:endParaRPr>
          </a:p>
        </p:txBody>
      </p:sp>
      <p:sp>
        <p:nvSpPr>
          <p:cNvPr id="3" name="Text Placeholder 2">
            <a:extLst>
              <a:ext uri="{FF2B5EF4-FFF2-40B4-BE49-F238E27FC236}">
                <a16:creationId xmlns:a16="http://schemas.microsoft.com/office/drawing/2014/main" id="{C620C477-1C02-2D4A-8EE3-754FD6D05478}"/>
              </a:ext>
            </a:extLst>
          </p:cNvPr>
          <p:cNvSpPr>
            <a:spLocks noGrp="1"/>
          </p:cNvSpPr>
          <p:nvPr>
            <p:ph type="body" sz="quarter" idx="13"/>
          </p:nvPr>
        </p:nvSpPr>
        <p:spPr>
          <a:xfrm>
            <a:off x="6960809" y="4359824"/>
            <a:ext cx="4660900" cy="1450953"/>
          </a:xfrm>
        </p:spPr>
        <p:txBody>
          <a:bodyPr lIns="91440" tIns="45720" rIns="91440" bIns="45720" anchor="t">
            <a:normAutofit/>
          </a:bodyPr>
          <a:lstStyle/>
          <a:p>
            <a:r>
              <a:rPr lang="en-US" sz="2800">
                <a:latin typeface="Arial"/>
                <a:cs typeface="Arial"/>
              </a:rPr>
              <a:t>Storm Troopers</a:t>
            </a:r>
          </a:p>
          <a:p>
            <a:r>
              <a:rPr lang="en-US" sz="2800"/>
              <a:t>April 30</a:t>
            </a:r>
            <a:r>
              <a:rPr lang="en-US" sz="2800" baseline="30000"/>
              <a:t>th</a:t>
            </a:r>
            <a:r>
              <a:rPr lang="en-US" sz="2800"/>
              <a:t>, 2026</a:t>
            </a:r>
          </a:p>
          <a:p>
            <a:endParaRPr lang="en-US" sz="2800"/>
          </a:p>
        </p:txBody>
      </p:sp>
      <p:pic>
        <p:nvPicPr>
          <p:cNvPr id="5" name="Picture 4" descr="A black and red logo&#10;&#10;AI-generated content may be incorrect.">
            <a:extLst>
              <a:ext uri="{FF2B5EF4-FFF2-40B4-BE49-F238E27FC236}">
                <a16:creationId xmlns:a16="http://schemas.microsoft.com/office/drawing/2014/main" id="{3FDF48DC-B41D-ECE9-29B2-B7BBB4E3C5B3}"/>
              </a:ext>
            </a:extLst>
          </p:cNvPr>
          <p:cNvPicPr>
            <a:picLocks noChangeAspect="1"/>
          </p:cNvPicPr>
          <p:nvPr/>
        </p:nvPicPr>
        <p:blipFill>
          <a:blip r:embed="rId3"/>
          <a:srcRect t="33614" b="33614"/>
          <a:stretch>
            <a:fillRect/>
          </a:stretch>
        </p:blipFill>
        <p:spPr>
          <a:xfrm>
            <a:off x="6645909" y="966384"/>
            <a:ext cx="5290698" cy="1083984"/>
          </a:xfrm>
          <a:prstGeom prst="rect">
            <a:avLst/>
          </a:prstGeom>
        </p:spPr>
      </p:pic>
      <p:sp>
        <p:nvSpPr>
          <p:cNvPr id="7" name="Slide Number Placeholder 6">
            <a:extLst>
              <a:ext uri="{FF2B5EF4-FFF2-40B4-BE49-F238E27FC236}">
                <a16:creationId xmlns:a16="http://schemas.microsoft.com/office/drawing/2014/main" id="{283D6206-C7B0-B1AD-5831-6B58201640AB}"/>
              </a:ext>
            </a:extLst>
          </p:cNvPr>
          <p:cNvSpPr>
            <a:spLocks noGrp="1"/>
          </p:cNvSpPr>
          <p:nvPr>
            <p:ph type="sldNum" sz="quarter" idx="16"/>
          </p:nvPr>
        </p:nvSpPr>
        <p:spPr/>
        <p:txBody>
          <a:bodyPr/>
          <a:lstStyle/>
          <a:p>
            <a:fld id="{CC057153-B650-4DEB-B370-79DDCFDCE934}" type="slidenum">
              <a:rPr lang="en-US" sz="1600" smtClean="0">
                <a:latin typeface="Avenir Medium"/>
              </a:rPr>
              <a:t>1</a:t>
            </a:fld>
            <a:endParaRPr lang="en-US" sz="1600">
              <a:latin typeface="Avenir Medium"/>
            </a:endParaRPr>
          </a:p>
        </p:txBody>
      </p:sp>
    </p:spTree>
    <p:extLst>
      <p:ext uri="{BB962C8B-B14F-4D97-AF65-F5344CB8AC3E}">
        <p14:creationId xmlns:p14="http://schemas.microsoft.com/office/powerpoint/2010/main" val="4095078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9F34B-6D7C-AEE3-8254-505566D92409}"/>
              </a:ext>
            </a:extLst>
          </p:cNvPr>
          <p:cNvSpPr>
            <a:spLocks noGrp="1"/>
          </p:cNvSpPr>
          <p:nvPr>
            <p:ph type="title"/>
          </p:nvPr>
        </p:nvSpPr>
        <p:spPr>
          <a:xfrm>
            <a:off x="838200" y="209646"/>
            <a:ext cx="10515600" cy="1028423"/>
          </a:xfrm>
        </p:spPr>
        <p:txBody>
          <a:bodyPr lIns="91440" tIns="45720" rIns="91440" bIns="45720" anchor="t">
            <a:normAutofit/>
          </a:bodyPr>
          <a:lstStyle/>
          <a:p>
            <a:pPr algn="ctr"/>
            <a:r>
              <a:rPr lang="en-US" sz="4800"/>
              <a:t>Storm Troopers</a:t>
            </a:r>
          </a:p>
        </p:txBody>
      </p:sp>
      <p:sp>
        <p:nvSpPr>
          <p:cNvPr id="3" name="Content Placeholder 2">
            <a:extLst>
              <a:ext uri="{FF2B5EF4-FFF2-40B4-BE49-F238E27FC236}">
                <a16:creationId xmlns:a16="http://schemas.microsoft.com/office/drawing/2014/main" id="{3107B007-FC61-A038-D7E4-B80F6CF24142}"/>
              </a:ext>
            </a:extLst>
          </p:cNvPr>
          <p:cNvSpPr>
            <a:spLocks noGrp="1"/>
          </p:cNvSpPr>
          <p:nvPr>
            <p:ph sz="quarter" idx="10"/>
          </p:nvPr>
        </p:nvSpPr>
        <p:spPr/>
        <p:txBody>
          <a:bodyPr lIns="91440" tIns="45720" rIns="91440" bIns="45720" anchor="t"/>
          <a:lstStyle/>
          <a:p>
            <a:endParaRPr lang="en-US"/>
          </a:p>
          <a:p>
            <a:endParaRPr lang="en-US"/>
          </a:p>
          <a:p>
            <a:endParaRPr lang="en-US"/>
          </a:p>
          <a:p>
            <a:endParaRPr lang="en-US"/>
          </a:p>
          <a:p>
            <a:endParaRPr lang="en-US"/>
          </a:p>
        </p:txBody>
      </p:sp>
      <p:pic>
        <p:nvPicPr>
          <p:cNvPr id="5" name="Picture 4" descr="A person with curly hair smiling&#10;&#10;AI-generated content may be incorrect.">
            <a:extLst>
              <a:ext uri="{FF2B5EF4-FFF2-40B4-BE49-F238E27FC236}">
                <a16:creationId xmlns:a16="http://schemas.microsoft.com/office/drawing/2014/main" id="{2B2EAA90-EDF1-CF7E-E669-245250478EBC}"/>
              </a:ext>
            </a:extLst>
          </p:cNvPr>
          <p:cNvPicPr>
            <a:picLocks noChangeAspect="1"/>
          </p:cNvPicPr>
          <p:nvPr/>
        </p:nvPicPr>
        <p:blipFill>
          <a:blip r:embed="rId3"/>
          <a:srcRect l="8365" t="14261" r="7985" b="49043"/>
          <a:stretch>
            <a:fillRect/>
          </a:stretch>
        </p:blipFill>
        <p:spPr>
          <a:xfrm>
            <a:off x="557904" y="2114516"/>
            <a:ext cx="2129131" cy="2143769"/>
          </a:xfrm>
          <a:prstGeom prst="ellipse">
            <a:avLst/>
          </a:prstGeom>
        </p:spPr>
      </p:pic>
      <p:sp>
        <p:nvSpPr>
          <p:cNvPr id="6" name="TextBox 5">
            <a:extLst>
              <a:ext uri="{FF2B5EF4-FFF2-40B4-BE49-F238E27FC236}">
                <a16:creationId xmlns:a16="http://schemas.microsoft.com/office/drawing/2014/main" id="{332A63F4-75DB-D410-2C45-99836EA04B3A}"/>
              </a:ext>
            </a:extLst>
          </p:cNvPr>
          <p:cNvSpPr txBox="1"/>
          <p:nvPr/>
        </p:nvSpPr>
        <p:spPr>
          <a:xfrm>
            <a:off x="456239" y="4330357"/>
            <a:ext cx="23368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Arial" panose="020B0604020202020204" pitchFamily="34" charset="0"/>
                <a:ea typeface="Calibri"/>
                <a:cs typeface="Arial" panose="020B0604020202020204" pitchFamily="34" charset="0"/>
              </a:rPr>
              <a:t>Amanda Giddings </a:t>
            </a:r>
            <a:endParaRPr lang="en-US" sz="2000">
              <a:latin typeface="Arial" panose="020B0604020202020204" pitchFamily="34" charset="0"/>
              <a:cs typeface="Arial" panose="020B0604020202020204" pitchFamily="34" charset="0"/>
            </a:endParaRPr>
          </a:p>
        </p:txBody>
      </p:sp>
      <p:pic>
        <p:nvPicPr>
          <p:cNvPr id="7" name="Picture 6" descr="A person in a suit&#10;&#10;AI-generated content may be incorrect.">
            <a:extLst>
              <a:ext uri="{FF2B5EF4-FFF2-40B4-BE49-F238E27FC236}">
                <a16:creationId xmlns:a16="http://schemas.microsoft.com/office/drawing/2014/main" id="{921BF060-C7EF-E6CC-409B-7A227D286AC7}"/>
              </a:ext>
            </a:extLst>
          </p:cNvPr>
          <p:cNvPicPr>
            <a:picLocks noChangeAspect="1"/>
          </p:cNvPicPr>
          <p:nvPr/>
        </p:nvPicPr>
        <p:blipFill>
          <a:blip r:embed="rId4"/>
          <a:srcRect l="8682" t="13630" r="9968" b="48667"/>
          <a:stretch>
            <a:fillRect/>
          </a:stretch>
        </p:blipFill>
        <p:spPr>
          <a:xfrm>
            <a:off x="3372224" y="2053556"/>
            <a:ext cx="2241014" cy="2260607"/>
          </a:xfrm>
          <a:prstGeom prst="flowChartConnector">
            <a:avLst/>
          </a:prstGeom>
        </p:spPr>
      </p:pic>
      <p:sp>
        <p:nvSpPr>
          <p:cNvPr id="8" name="TextBox 7">
            <a:extLst>
              <a:ext uri="{FF2B5EF4-FFF2-40B4-BE49-F238E27FC236}">
                <a16:creationId xmlns:a16="http://schemas.microsoft.com/office/drawing/2014/main" id="{7D730E4F-9E1B-5496-AC3F-082CC8F0A326}"/>
              </a:ext>
            </a:extLst>
          </p:cNvPr>
          <p:cNvSpPr txBox="1"/>
          <p:nvPr/>
        </p:nvSpPr>
        <p:spPr>
          <a:xfrm>
            <a:off x="3476229" y="4319236"/>
            <a:ext cx="2032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latin typeface="Arial" panose="020B0604020202020204" pitchFamily="34" charset="0"/>
                <a:cs typeface="Arial" panose="020B0604020202020204" pitchFamily="34" charset="0"/>
              </a:rPr>
              <a:t>Simon Ravula</a:t>
            </a:r>
            <a:endParaRPr lang="en-US" sz="2000">
              <a:latin typeface="Arial" panose="020B0604020202020204" pitchFamily="34" charset="0"/>
              <a:ea typeface="Calibri" panose="020F0502020204030204"/>
              <a:cs typeface="Arial" panose="020B0604020202020204" pitchFamily="34" charset="0"/>
            </a:endParaRPr>
          </a:p>
        </p:txBody>
      </p:sp>
      <p:pic>
        <p:nvPicPr>
          <p:cNvPr id="9" name="Picture 8" descr="A person in a suit&#10;&#10;AI-generated content may be incorrect.">
            <a:extLst>
              <a:ext uri="{FF2B5EF4-FFF2-40B4-BE49-F238E27FC236}">
                <a16:creationId xmlns:a16="http://schemas.microsoft.com/office/drawing/2014/main" id="{62B31F7A-408F-3CD9-B3FB-9C0E6497A0C9}"/>
              </a:ext>
            </a:extLst>
          </p:cNvPr>
          <p:cNvPicPr>
            <a:picLocks noChangeAspect="1"/>
          </p:cNvPicPr>
          <p:nvPr/>
        </p:nvPicPr>
        <p:blipFill>
          <a:blip r:embed="rId5"/>
          <a:srcRect l="16963" t="11852" r="12820" b="36444"/>
          <a:stretch>
            <a:fillRect/>
          </a:stretch>
        </p:blipFill>
        <p:spPr>
          <a:xfrm>
            <a:off x="9276320" y="2053556"/>
            <a:ext cx="2240012" cy="2265688"/>
          </a:xfrm>
          <a:prstGeom prst="flowChartConnector">
            <a:avLst/>
          </a:prstGeom>
        </p:spPr>
      </p:pic>
      <p:sp>
        <p:nvSpPr>
          <p:cNvPr id="10" name="TextBox 9">
            <a:extLst>
              <a:ext uri="{FF2B5EF4-FFF2-40B4-BE49-F238E27FC236}">
                <a16:creationId xmlns:a16="http://schemas.microsoft.com/office/drawing/2014/main" id="{97AAF002-ECA9-4442-DF34-7CAD887147EE}"/>
              </a:ext>
            </a:extLst>
          </p:cNvPr>
          <p:cNvSpPr txBox="1"/>
          <p:nvPr/>
        </p:nvSpPr>
        <p:spPr>
          <a:xfrm>
            <a:off x="8891509" y="4258276"/>
            <a:ext cx="300736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latin typeface="Arial"/>
                <a:cs typeface="Arial"/>
              </a:rPr>
              <a:t>Daniel Juarez</a:t>
            </a:r>
            <a:endParaRPr lang="en-US" sz="2000">
              <a:latin typeface="Arial" panose="020B0604020202020204" pitchFamily="34" charset="0"/>
              <a:cs typeface="Arial" panose="020B0604020202020204" pitchFamily="34" charset="0"/>
            </a:endParaRPr>
          </a:p>
        </p:txBody>
      </p:sp>
      <p:pic>
        <p:nvPicPr>
          <p:cNvPr id="11" name="Picture 10" descr="A person with long hair wearing a blue and white polka dot shirt&#10;&#10;AI-generated content may be incorrect.">
            <a:extLst>
              <a:ext uri="{FF2B5EF4-FFF2-40B4-BE49-F238E27FC236}">
                <a16:creationId xmlns:a16="http://schemas.microsoft.com/office/drawing/2014/main" id="{B65362BA-B2F2-3F7D-31EE-3192952FBADB}"/>
              </a:ext>
            </a:extLst>
          </p:cNvPr>
          <p:cNvPicPr>
            <a:picLocks noChangeAspect="1"/>
          </p:cNvPicPr>
          <p:nvPr/>
        </p:nvPicPr>
        <p:blipFill>
          <a:blip r:embed="rId6"/>
          <a:srcRect t="1945" b="1945"/>
          <a:stretch>
            <a:fillRect/>
          </a:stretch>
        </p:blipFill>
        <p:spPr>
          <a:xfrm>
            <a:off x="6379584" y="2053555"/>
            <a:ext cx="2129131" cy="2143769"/>
          </a:xfrm>
          <a:prstGeom prst="ellipse">
            <a:avLst/>
          </a:prstGeom>
        </p:spPr>
      </p:pic>
      <p:sp>
        <p:nvSpPr>
          <p:cNvPr id="12" name="TextBox 11">
            <a:extLst>
              <a:ext uri="{FF2B5EF4-FFF2-40B4-BE49-F238E27FC236}">
                <a16:creationId xmlns:a16="http://schemas.microsoft.com/office/drawing/2014/main" id="{77F70809-B137-9DD5-235D-306C38C5EE9B}"/>
              </a:ext>
            </a:extLst>
          </p:cNvPr>
          <p:cNvSpPr txBox="1"/>
          <p:nvPr/>
        </p:nvSpPr>
        <p:spPr>
          <a:xfrm>
            <a:off x="6442950" y="4258276"/>
            <a:ext cx="200151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latin typeface="Arial" panose="020B0604020202020204" pitchFamily="34" charset="0"/>
                <a:cs typeface="Arial" panose="020B0604020202020204" pitchFamily="34" charset="0"/>
              </a:rPr>
              <a:t>An Truong</a:t>
            </a:r>
          </a:p>
        </p:txBody>
      </p:sp>
      <p:pic>
        <p:nvPicPr>
          <p:cNvPr id="13" name="Picture 12" descr="A white helmet with green eyes&#10;&#10;AI-generated content may be incorrect.">
            <a:extLst>
              <a:ext uri="{FF2B5EF4-FFF2-40B4-BE49-F238E27FC236}">
                <a16:creationId xmlns:a16="http://schemas.microsoft.com/office/drawing/2014/main" id="{E5022867-92D5-0404-AAEC-70C43C795EA2}"/>
              </a:ext>
            </a:extLst>
          </p:cNvPr>
          <p:cNvPicPr>
            <a:picLocks noChangeAspect="1"/>
          </p:cNvPicPr>
          <p:nvPr/>
        </p:nvPicPr>
        <p:blipFill>
          <a:blip r:embed="rId7"/>
          <a:stretch>
            <a:fillRect/>
          </a:stretch>
        </p:blipFill>
        <p:spPr>
          <a:xfrm>
            <a:off x="527737" y="1802027"/>
            <a:ext cx="2260256" cy="2461055"/>
          </a:xfrm>
          <a:prstGeom prst="rect">
            <a:avLst/>
          </a:prstGeom>
        </p:spPr>
      </p:pic>
      <p:pic>
        <p:nvPicPr>
          <p:cNvPr id="17" name="Picture 16" descr="A white helmet with green eyes&#10;&#10;AI-generated content may be incorrect.">
            <a:extLst>
              <a:ext uri="{FF2B5EF4-FFF2-40B4-BE49-F238E27FC236}">
                <a16:creationId xmlns:a16="http://schemas.microsoft.com/office/drawing/2014/main" id="{DC12ADB9-2F00-1BE6-150C-A2DA49281DA8}"/>
              </a:ext>
            </a:extLst>
          </p:cNvPr>
          <p:cNvPicPr>
            <a:picLocks noChangeAspect="1"/>
          </p:cNvPicPr>
          <p:nvPr/>
        </p:nvPicPr>
        <p:blipFill>
          <a:blip r:embed="rId7"/>
          <a:stretch>
            <a:fillRect/>
          </a:stretch>
        </p:blipFill>
        <p:spPr>
          <a:xfrm>
            <a:off x="3369791" y="1802027"/>
            <a:ext cx="2332337" cy="2512541"/>
          </a:xfrm>
          <a:prstGeom prst="rect">
            <a:avLst/>
          </a:prstGeom>
        </p:spPr>
      </p:pic>
      <p:pic>
        <p:nvPicPr>
          <p:cNvPr id="18" name="Picture 17" descr="A white helmet with green eyes&#10;&#10;AI-generated content may be incorrect.">
            <a:extLst>
              <a:ext uri="{FF2B5EF4-FFF2-40B4-BE49-F238E27FC236}">
                <a16:creationId xmlns:a16="http://schemas.microsoft.com/office/drawing/2014/main" id="{D849684C-1A45-3D13-1F8F-B4A7E55A9FEA}"/>
              </a:ext>
            </a:extLst>
          </p:cNvPr>
          <p:cNvPicPr>
            <a:picLocks noChangeAspect="1"/>
          </p:cNvPicPr>
          <p:nvPr/>
        </p:nvPicPr>
        <p:blipFill>
          <a:blip r:embed="rId7"/>
          <a:stretch>
            <a:fillRect/>
          </a:stretch>
        </p:blipFill>
        <p:spPr>
          <a:xfrm>
            <a:off x="6380689" y="1826217"/>
            <a:ext cx="2301445" cy="2461055"/>
          </a:xfrm>
          <a:prstGeom prst="rect">
            <a:avLst/>
          </a:prstGeom>
        </p:spPr>
      </p:pic>
      <p:pic>
        <p:nvPicPr>
          <p:cNvPr id="19" name="Picture 18" descr="A white helmet with green eyes&#10;&#10;AI-generated content may be incorrect.">
            <a:extLst>
              <a:ext uri="{FF2B5EF4-FFF2-40B4-BE49-F238E27FC236}">
                <a16:creationId xmlns:a16="http://schemas.microsoft.com/office/drawing/2014/main" id="{E7D5E3EF-E27D-39C0-468F-1464B2332E8A}"/>
              </a:ext>
            </a:extLst>
          </p:cNvPr>
          <p:cNvPicPr>
            <a:picLocks noChangeAspect="1"/>
          </p:cNvPicPr>
          <p:nvPr/>
        </p:nvPicPr>
        <p:blipFill>
          <a:blip r:embed="rId7"/>
          <a:stretch>
            <a:fillRect/>
          </a:stretch>
        </p:blipFill>
        <p:spPr>
          <a:xfrm>
            <a:off x="9187764" y="1802026"/>
            <a:ext cx="2322039" cy="2512541"/>
          </a:xfrm>
          <a:prstGeom prst="rect">
            <a:avLst/>
          </a:prstGeom>
        </p:spPr>
      </p:pic>
      <p:sp>
        <p:nvSpPr>
          <p:cNvPr id="14" name="Slide Number Placeholder 13">
            <a:extLst>
              <a:ext uri="{FF2B5EF4-FFF2-40B4-BE49-F238E27FC236}">
                <a16:creationId xmlns:a16="http://schemas.microsoft.com/office/drawing/2014/main" id="{049CD914-7F7C-E1D1-B433-D7A5DA4E5B36}"/>
              </a:ext>
            </a:extLst>
          </p:cNvPr>
          <p:cNvSpPr>
            <a:spLocks noGrp="1"/>
          </p:cNvSpPr>
          <p:nvPr>
            <p:ph type="sldNum" sz="quarter" idx="13"/>
          </p:nvPr>
        </p:nvSpPr>
        <p:spPr/>
        <p:txBody>
          <a:bodyPr/>
          <a:lstStyle/>
          <a:p>
            <a:fld id="{CC057153-B650-4DEB-B370-79DDCFDCE934}" type="slidenum">
              <a:rPr lang="en-US" sz="1600" smtClean="0">
                <a:latin typeface="Avenir Medium"/>
              </a:rPr>
              <a:t>2</a:t>
            </a:fld>
            <a:endParaRPr lang="en-US" sz="1600">
              <a:latin typeface="Avenir Medium"/>
            </a:endParaRPr>
          </a:p>
        </p:txBody>
      </p:sp>
    </p:spTree>
    <p:extLst>
      <p:ext uri="{BB962C8B-B14F-4D97-AF65-F5344CB8AC3E}">
        <p14:creationId xmlns:p14="http://schemas.microsoft.com/office/powerpoint/2010/main" val="1922377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par>
                                <p:cTn id="8" presetID="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ppt_x"/>
                                          </p:val>
                                        </p:tav>
                                        <p:tav tm="100000">
                                          <p:val>
                                            <p:strVal val="#ppt_x"/>
                                          </p:val>
                                        </p:tav>
                                      </p:tavLst>
                                    </p:anim>
                                    <p:anim calcmode="lin" valueType="num">
                                      <p:cBhvr additive="base">
                                        <p:cTn id="1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17"/>
                                        </p:tgtEl>
                                      </p:cBhvr>
                                    </p:animEffect>
                                    <p:set>
                                      <p:cBhvr>
                                        <p:cTn id="16" dur="1" fill="hold">
                                          <p:stCondLst>
                                            <p:cond delay="499"/>
                                          </p:stCondLst>
                                        </p:cTn>
                                        <p:tgtEl>
                                          <p:spTgt spid="17"/>
                                        </p:tgtEl>
                                        <p:attrNameLst>
                                          <p:attrName>style.visibility</p:attrName>
                                        </p:attrNameLst>
                                      </p:cBhvr>
                                      <p:to>
                                        <p:strVal val="hidden"/>
                                      </p:to>
                                    </p:set>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500"/>
                                        <p:tgtEl>
                                          <p:spTgt spid="18"/>
                                        </p:tgtEl>
                                      </p:cBhvr>
                                    </p:animEffect>
                                    <p:set>
                                      <p:cBhvr>
                                        <p:cTn id="25" dur="1" fill="hold">
                                          <p:stCondLst>
                                            <p:cond delay="499"/>
                                          </p:stCondLst>
                                        </p:cTn>
                                        <p:tgtEl>
                                          <p:spTgt spid="18"/>
                                        </p:tgtEl>
                                        <p:attrNameLst>
                                          <p:attrName>style.visibility</p:attrName>
                                        </p:attrNameLst>
                                      </p:cBhvr>
                                      <p:to>
                                        <p:strVal val="hidden"/>
                                      </p:to>
                                    </p:set>
                                  </p:childTnLst>
                                </p:cTn>
                              </p:par>
                              <p:par>
                                <p:cTn id="26" presetID="2" presetClass="entr" presetSubtype="4"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19"/>
                                        </p:tgtEl>
                                      </p:cBhvr>
                                    </p:animEffect>
                                    <p:set>
                                      <p:cBhvr>
                                        <p:cTn id="34" dur="1" fill="hold">
                                          <p:stCondLst>
                                            <p:cond delay="499"/>
                                          </p:stCondLst>
                                        </p:cTn>
                                        <p:tgtEl>
                                          <p:spTgt spid="19"/>
                                        </p:tgtEl>
                                        <p:attrNameLst>
                                          <p:attrName>style.visibility</p:attrName>
                                        </p:attrNameLst>
                                      </p:cBhvr>
                                      <p:to>
                                        <p:strVal val="hidden"/>
                                      </p:to>
                                    </p:set>
                                  </p:childTnLst>
                                </p:cTn>
                              </p:par>
                              <p:par>
                                <p:cTn id="35" presetID="2" presetClass="entr" presetSubtype="4"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2" grpId="0"/>
    </p:bldLst>
  </p:timing>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uilding that has been demolished&#10;&#10;AI-generated content may be incorrect.">
            <a:extLst>
              <a:ext uri="{FF2B5EF4-FFF2-40B4-BE49-F238E27FC236}">
                <a16:creationId xmlns:a16="http://schemas.microsoft.com/office/drawing/2014/main" id="{4CD1A02A-FEF1-0580-F44F-717C0BD6834F}"/>
              </a:ext>
            </a:extLst>
          </p:cNvPr>
          <p:cNvPicPr>
            <a:picLocks noChangeAspect="1"/>
          </p:cNvPicPr>
          <p:nvPr/>
        </p:nvPicPr>
        <p:blipFill>
          <a:blip r:embed="rId4"/>
          <a:stretch>
            <a:fillRect/>
          </a:stretch>
        </p:blipFill>
        <p:spPr>
          <a:xfrm>
            <a:off x="3088092" y="1472715"/>
            <a:ext cx="6025118" cy="4013791"/>
          </a:xfrm>
          <a:prstGeom prst="rect">
            <a:avLst/>
          </a:prstGeom>
        </p:spPr>
      </p:pic>
      <p:pic>
        <p:nvPicPr>
          <p:cNvPr id="6" name="Picture 5" descr="Natural Disasters --Tornado Pictures -- National Geographic">
            <a:extLst>
              <a:ext uri="{FF2B5EF4-FFF2-40B4-BE49-F238E27FC236}">
                <a16:creationId xmlns:a16="http://schemas.microsoft.com/office/drawing/2014/main" id="{72380EEF-1A4B-A0A4-A31F-A3FF8A63B1D4}"/>
              </a:ext>
            </a:extLst>
          </p:cNvPr>
          <p:cNvPicPr>
            <a:picLocks noChangeAspect="1"/>
          </p:cNvPicPr>
          <p:nvPr/>
        </p:nvPicPr>
        <p:blipFill>
          <a:blip r:embed="rId5"/>
          <a:stretch>
            <a:fillRect/>
          </a:stretch>
        </p:blipFill>
        <p:spPr>
          <a:xfrm>
            <a:off x="1754653" y="1087279"/>
            <a:ext cx="8467059" cy="4788194"/>
          </a:xfrm>
          <a:prstGeom prst="rect">
            <a:avLst/>
          </a:prstGeom>
        </p:spPr>
      </p:pic>
      <p:pic>
        <p:nvPicPr>
          <p:cNvPr id="9" name="Graphic 8" descr="Man outline">
            <a:extLst>
              <a:ext uri="{FF2B5EF4-FFF2-40B4-BE49-F238E27FC236}">
                <a16:creationId xmlns:a16="http://schemas.microsoft.com/office/drawing/2014/main" id="{501A1483-B31D-62A1-86E0-5D2995AADA8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81" y="3548486"/>
            <a:ext cx="2173923" cy="2182636"/>
          </a:xfrm>
          <a:prstGeom prst="rect">
            <a:avLst/>
          </a:prstGeom>
        </p:spPr>
      </p:pic>
      <p:sp>
        <p:nvSpPr>
          <p:cNvPr id="10" name="Arrow: Right 9">
            <a:extLst>
              <a:ext uri="{FF2B5EF4-FFF2-40B4-BE49-F238E27FC236}">
                <a16:creationId xmlns:a16="http://schemas.microsoft.com/office/drawing/2014/main" id="{17C8553A-6BC3-3312-2FC1-231EE18C4879}"/>
              </a:ext>
            </a:extLst>
          </p:cNvPr>
          <p:cNvSpPr/>
          <p:nvPr/>
        </p:nvSpPr>
        <p:spPr>
          <a:xfrm>
            <a:off x="2029907" y="4149888"/>
            <a:ext cx="1245232" cy="968508"/>
          </a:xfrm>
          <a:prstGeom prst="rightArrow">
            <a:avLst/>
          </a:prstGeom>
          <a:solidFill>
            <a:schemeClr val="tx2">
              <a:lumMod val="60000"/>
              <a:lumOff val="4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Graphic 73" descr="Man outline">
            <a:extLst>
              <a:ext uri="{FF2B5EF4-FFF2-40B4-BE49-F238E27FC236}">
                <a16:creationId xmlns:a16="http://schemas.microsoft.com/office/drawing/2014/main" id="{61269243-089D-9313-0F95-5A55C3B863B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21" y="834719"/>
            <a:ext cx="2180788" cy="2189501"/>
          </a:xfrm>
          <a:prstGeom prst="rect">
            <a:avLst/>
          </a:prstGeom>
        </p:spPr>
      </p:pic>
      <p:sp>
        <p:nvSpPr>
          <p:cNvPr id="76" name="Arrow: Right 75">
            <a:extLst>
              <a:ext uri="{FF2B5EF4-FFF2-40B4-BE49-F238E27FC236}">
                <a16:creationId xmlns:a16="http://schemas.microsoft.com/office/drawing/2014/main" id="{4F90F1BE-BE78-8A02-1E79-FFA0919694C8}"/>
              </a:ext>
            </a:extLst>
          </p:cNvPr>
          <p:cNvSpPr/>
          <p:nvPr/>
        </p:nvSpPr>
        <p:spPr>
          <a:xfrm>
            <a:off x="2018582" y="1469882"/>
            <a:ext cx="1272691" cy="995967"/>
          </a:xfrm>
          <a:prstGeom prst="rightArrow">
            <a:avLst/>
          </a:prstGeom>
          <a:solidFill>
            <a:schemeClr val="tx2">
              <a:lumMod val="60000"/>
              <a:lumOff val="4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 name="Group 81">
            <a:extLst>
              <a:ext uri="{FF2B5EF4-FFF2-40B4-BE49-F238E27FC236}">
                <a16:creationId xmlns:a16="http://schemas.microsoft.com/office/drawing/2014/main" id="{57F8EB97-7073-1598-B69E-527B68428D03}"/>
              </a:ext>
            </a:extLst>
          </p:cNvPr>
          <p:cNvGrpSpPr/>
          <p:nvPr/>
        </p:nvGrpSpPr>
        <p:grpSpPr>
          <a:xfrm>
            <a:off x="3316822" y="1386526"/>
            <a:ext cx="5005708" cy="1226658"/>
            <a:chOff x="6215185" y="4515337"/>
            <a:chExt cx="4089399" cy="914401"/>
          </a:xfrm>
        </p:grpSpPr>
        <p:pic>
          <p:nvPicPr>
            <p:cNvPr id="77" name="Graphic 76" descr="Document outline">
              <a:extLst>
                <a:ext uri="{FF2B5EF4-FFF2-40B4-BE49-F238E27FC236}">
                  <a16:creationId xmlns:a16="http://schemas.microsoft.com/office/drawing/2014/main" id="{BDF7A9FD-2EE4-5409-7B15-0DC35795DDC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15185" y="4515338"/>
              <a:ext cx="914400" cy="914400"/>
            </a:xfrm>
            <a:prstGeom prst="rect">
              <a:avLst/>
            </a:prstGeom>
          </p:spPr>
        </p:pic>
        <p:pic>
          <p:nvPicPr>
            <p:cNvPr id="78" name="Graphic 77" descr="Document outline">
              <a:extLst>
                <a:ext uri="{FF2B5EF4-FFF2-40B4-BE49-F238E27FC236}">
                  <a16:creationId xmlns:a16="http://schemas.microsoft.com/office/drawing/2014/main" id="{924572D0-1EC4-46FA-6F2E-78651CF0397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026031" y="4515338"/>
              <a:ext cx="914400" cy="914400"/>
            </a:xfrm>
            <a:prstGeom prst="rect">
              <a:avLst/>
            </a:prstGeom>
          </p:spPr>
        </p:pic>
        <p:pic>
          <p:nvPicPr>
            <p:cNvPr id="79" name="Graphic 78" descr="Document outline">
              <a:extLst>
                <a:ext uri="{FF2B5EF4-FFF2-40B4-BE49-F238E27FC236}">
                  <a16:creationId xmlns:a16="http://schemas.microsoft.com/office/drawing/2014/main" id="{3E0FD3BB-0039-B9EA-27B6-2F7555EB428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836876" y="4515337"/>
              <a:ext cx="914400" cy="914400"/>
            </a:xfrm>
            <a:prstGeom prst="rect">
              <a:avLst/>
            </a:prstGeom>
          </p:spPr>
        </p:pic>
        <p:pic>
          <p:nvPicPr>
            <p:cNvPr id="80" name="Graphic 79" descr="Document outline">
              <a:extLst>
                <a:ext uri="{FF2B5EF4-FFF2-40B4-BE49-F238E27FC236}">
                  <a16:creationId xmlns:a16="http://schemas.microsoft.com/office/drawing/2014/main" id="{25850F24-E6CC-4671-28FD-14C4B6A6BC3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28185" y="4515338"/>
              <a:ext cx="914400" cy="914400"/>
            </a:xfrm>
            <a:prstGeom prst="rect">
              <a:avLst/>
            </a:prstGeom>
          </p:spPr>
        </p:pic>
        <p:pic>
          <p:nvPicPr>
            <p:cNvPr id="81" name="Graphic 80" descr="Document outline">
              <a:extLst>
                <a:ext uri="{FF2B5EF4-FFF2-40B4-BE49-F238E27FC236}">
                  <a16:creationId xmlns:a16="http://schemas.microsoft.com/office/drawing/2014/main" id="{FE8F3B42-AF36-CEBF-2CCC-05025E35EF5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90184" y="4515337"/>
              <a:ext cx="914400" cy="914400"/>
            </a:xfrm>
            <a:prstGeom prst="rect">
              <a:avLst/>
            </a:prstGeom>
          </p:spPr>
        </p:pic>
      </p:grpSp>
      <p:grpSp>
        <p:nvGrpSpPr>
          <p:cNvPr id="13" name="Group 12">
            <a:extLst>
              <a:ext uri="{FF2B5EF4-FFF2-40B4-BE49-F238E27FC236}">
                <a16:creationId xmlns:a16="http://schemas.microsoft.com/office/drawing/2014/main" id="{E3D54002-D335-9B4F-B123-FFEB7B7EA057}"/>
              </a:ext>
            </a:extLst>
          </p:cNvPr>
          <p:cNvGrpSpPr/>
          <p:nvPr/>
        </p:nvGrpSpPr>
        <p:grpSpPr>
          <a:xfrm>
            <a:off x="3145201" y="3534986"/>
            <a:ext cx="5451390" cy="1226657"/>
            <a:chOff x="6215185" y="4515337"/>
            <a:chExt cx="4089399" cy="914401"/>
          </a:xfrm>
        </p:grpSpPr>
        <p:pic>
          <p:nvPicPr>
            <p:cNvPr id="4" name="Graphic 3" descr="Document outline">
              <a:extLst>
                <a:ext uri="{FF2B5EF4-FFF2-40B4-BE49-F238E27FC236}">
                  <a16:creationId xmlns:a16="http://schemas.microsoft.com/office/drawing/2014/main" id="{EB5281EF-ED87-AC45-4793-38B69BB9F47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215185" y="4515338"/>
              <a:ext cx="914400" cy="914400"/>
            </a:xfrm>
            <a:prstGeom prst="rect">
              <a:avLst/>
            </a:prstGeom>
          </p:spPr>
        </p:pic>
        <p:pic>
          <p:nvPicPr>
            <p:cNvPr id="5" name="Graphic 4" descr="Document outline">
              <a:extLst>
                <a:ext uri="{FF2B5EF4-FFF2-40B4-BE49-F238E27FC236}">
                  <a16:creationId xmlns:a16="http://schemas.microsoft.com/office/drawing/2014/main" id="{0D92D656-1CC1-185F-8446-112059B57D6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26031" y="4515338"/>
              <a:ext cx="914400" cy="914400"/>
            </a:xfrm>
            <a:prstGeom prst="rect">
              <a:avLst/>
            </a:prstGeom>
          </p:spPr>
        </p:pic>
        <p:pic>
          <p:nvPicPr>
            <p:cNvPr id="7" name="Graphic 6" descr="Document outline">
              <a:extLst>
                <a:ext uri="{FF2B5EF4-FFF2-40B4-BE49-F238E27FC236}">
                  <a16:creationId xmlns:a16="http://schemas.microsoft.com/office/drawing/2014/main" id="{F3914AC7-01D0-3674-053D-46EE98DB45B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836876" y="4515337"/>
              <a:ext cx="914400" cy="914400"/>
            </a:xfrm>
            <a:prstGeom prst="rect">
              <a:avLst/>
            </a:prstGeom>
          </p:spPr>
        </p:pic>
        <p:pic>
          <p:nvPicPr>
            <p:cNvPr id="11" name="Graphic 10" descr="Document outline">
              <a:extLst>
                <a:ext uri="{FF2B5EF4-FFF2-40B4-BE49-F238E27FC236}">
                  <a16:creationId xmlns:a16="http://schemas.microsoft.com/office/drawing/2014/main" id="{39956B3A-642D-BB9C-9C0F-78F7277DF06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628185" y="4515338"/>
              <a:ext cx="914400" cy="914400"/>
            </a:xfrm>
            <a:prstGeom prst="rect">
              <a:avLst/>
            </a:prstGeom>
          </p:spPr>
        </p:pic>
        <p:pic>
          <p:nvPicPr>
            <p:cNvPr id="12" name="Graphic 11" descr="Document outline">
              <a:extLst>
                <a:ext uri="{FF2B5EF4-FFF2-40B4-BE49-F238E27FC236}">
                  <a16:creationId xmlns:a16="http://schemas.microsoft.com/office/drawing/2014/main" id="{3CC69563-62AD-A60A-185B-EC17742C226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90184" y="4515337"/>
              <a:ext cx="914400" cy="914400"/>
            </a:xfrm>
            <a:prstGeom prst="rect">
              <a:avLst/>
            </a:prstGeom>
          </p:spPr>
        </p:pic>
      </p:grpSp>
      <p:grpSp>
        <p:nvGrpSpPr>
          <p:cNvPr id="25" name="Group 24">
            <a:extLst>
              <a:ext uri="{FF2B5EF4-FFF2-40B4-BE49-F238E27FC236}">
                <a16:creationId xmlns:a16="http://schemas.microsoft.com/office/drawing/2014/main" id="{A75DDC83-085D-4D78-9424-F46CBFC70D15}"/>
              </a:ext>
            </a:extLst>
          </p:cNvPr>
          <p:cNvGrpSpPr/>
          <p:nvPr/>
        </p:nvGrpSpPr>
        <p:grpSpPr>
          <a:xfrm>
            <a:off x="3092108" y="4761642"/>
            <a:ext cx="5648733" cy="1275097"/>
            <a:chOff x="6215185" y="4515337"/>
            <a:chExt cx="4089399" cy="914401"/>
          </a:xfrm>
        </p:grpSpPr>
        <p:pic>
          <p:nvPicPr>
            <p:cNvPr id="15" name="Graphic 14" descr="Document outline">
              <a:extLst>
                <a:ext uri="{FF2B5EF4-FFF2-40B4-BE49-F238E27FC236}">
                  <a16:creationId xmlns:a16="http://schemas.microsoft.com/office/drawing/2014/main" id="{3894C54A-4714-96EE-4C74-C5F569C5478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215185" y="4515338"/>
              <a:ext cx="914400" cy="914400"/>
            </a:xfrm>
            <a:prstGeom prst="rect">
              <a:avLst/>
            </a:prstGeom>
          </p:spPr>
        </p:pic>
        <p:pic>
          <p:nvPicPr>
            <p:cNvPr id="16" name="Graphic 15" descr="Document outline">
              <a:extLst>
                <a:ext uri="{FF2B5EF4-FFF2-40B4-BE49-F238E27FC236}">
                  <a16:creationId xmlns:a16="http://schemas.microsoft.com/office/drawing/2014/main" id="{A5619B39-0277-3421-B1A6-7E232CA94D3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26031" y="4515338"/>
              <a:ext cx="914400" cy="914400"/>
            </a:xfrm>
            <a:prstGeom prst="rect">
              <a:avLst/>
            </a:prstGeom>
          </p:spPr>
        </p:pic>
        <p:pic>
          <p:nvPicPr>
            <p:cNvPr id="22" name="Graphic 21" descr="Document outline">
              <a:extLst>
                <a:ext uri="{FF2B5EF4-FFF2-40B4-BE49-F238E27FC236}">
                  <a16:creationId xmlns:a16="http://schemas.microsoft.com/office/drawing/2014/main" id="{E70471CB-B3A3-B26A-5E84-7145445DAB4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836876" y="4515337"/>
              <a:ext cx="914400" cy="914400"/>
            </a:xfrm>
            <a:prstGeom prst="rect">
              <a:avLst/>
            </a:prstGeom>
          </p:spPr>
        </p:pic>
        <p:pic>
          <p:nvPicPr>
            <p:cNvPr id="23" name="Graphic 22" descr="Document outline">
              <a:extLst>
                <a:ext uri="{FF2B5EF4-FFF2-40B4-BE49-F238E27FC236}">
                  <a16:creationId xmlns:a16="http://schemas.microsoft.com/office/drawing/2014/main" id="{9B70E168-3AC8-4945-B978-9DA513D4363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628185" y="4515338"/>
              <a:ext cx="914400" cy="914400"/>
            </a:xfrm>
            <a:prstGeom prst="rect">
              <a:avLst/>
            </a:prstGeom>
          </p:spPr>
        </p:pic>
        <p:pic>
          <p:nvPicPr>
            <p:cNvPr id="24" name="Graphic 23" descr="Document outline">
              <a:extLst>
                <a:ext uri="{FF2B5EF4-FFF2-40B4-BE49-F238E27FC236}">
                  <a16:creationId xmlns:a16="http://schemas.microsoft.com/office/drawing/2014/main" id="{5CC2AC3E-085C-701A-8844-4A6333406C5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90184" y="4515337"/>
              <a:ext cx="914400" cy="914400"/>
            </a:xfrm>
            <a:prstGeom prst="rect">
              <a:avLst/>
            </a:prstGeom>
          </p:spPr>
        </p:pic>
      </p:grpSp>
      <p:sp>
        <p:nvSpPr>
          <p:cNvPr id="2" name="Title 1">
            <a:extLst>
              <a:ext uri="{FF2B5EF4-FFF2-40B4-BE49-F238E27FC236}">
                <a16:creationId xmlns:a16="http://schemas.microsoft.com/office/drawing/2014/main" id="{2F30ECBA-FB17-FF8B-D1AB-26F74DBB0AAA}"/>
              </a:ext>
            </a:extLst>
          </p:cNvPr>
          <p:cNvSpPr>
            <a:spLocks noGrp="1"/>
          </p:cNvSpPr>
          <p:nvPr>
            <p:ph type="title"/>
          </p:nvPr>
        </p:nvSpPr>
        <p:spPr>
          <a:xfrm>
            <a:off x="730382" y="171722"/>
            <a:ext cx="10515600" cy="1325563"/>
          </a:xfrm>
        </p:spPr>
        <p:txBody>
          <a:bodyPr lIns="91440" tIns="45720" rIns="91440" bIns="45720" anchor="t">
            <a:normAutofit/>
          </a:bodyPr>
          <a:lstStyle/>
          <a:p>
            <a:pPr algn="ctr"/>
            <a:r>
              <a:rPr lang="en-US" sz="4800">
                <a:latin typeface="Arial"/>
                <a:cs typeface="Arial"/>
              </a:rPr>
              <a:t>Current Challenge</a:t>
            </a:r>
            <a:endParaRPr lang="en-US" sz="4800"/>
          </a:p>
        </p:txBody>
      </p:sp>
      <p:sp>
        <p:nvSpPr>
          <p:cNvPr id="18" name="Arrow: Right 17">
            <a:extLst>
              <a:ext uri="{FF2B5EF4-FFF2-40B4-BE49-F238E27FC236}">
                <a16:creationId xmlns:a16="http://schemas.microsoft.com/office/drawing/2014/main" id="{07FA1618-7DEA-0C7C-2989-921CEE367E80}"/>
              </a:ext>
            </a:extLst>
          </p:cNvPr>
          <p:cNvSpPr/>
          <p:nvPr/>
        </p:nvSpPr>
        <p:spPr>
          <a:xfrm>
            <a:off x="8750884" y="4281693"/>
            <a:ext cx="1245232" cy="968508"/>
          </a:xfrm>
          <a:prstGeom prst="rightArrow">
            <a:avLst/>
          </a:prstGeom>
          <a:solidFill>
            <a:schemeClr val="tx2">
              <a:lumMod val="60000"/>
              <a:lumOff val="4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FFA0234D-1C99-47C9-66CC-94116ACCB808}"/>
              </a:ext>
            </a:extLst>
          </p:cNvPr>
          <p:cNvSpPr/>
          <p:nvPr/>
        </p:nvSpPr>
        <p:spPr>
          <a:xfrm>
            <a:off x="8761736" y="1519498"/>
            <a:ext cx="1245232" cy="968508"/>
          </a:xfrm>
          <a:prstGeom prst="rightArrow">
            <a:avLst/>
          </a:prstGeom>
          <a:solidFill>
            <a:schemeClr val="tx2">
              <a:lumMod val="60000"/>
              <a:lumOff val="4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descr="Smiling face outline with solid fill">
            <a:extLst>
              <a:ext uri="{FF2B5EF4-FFF2-40B4-BE49-F238E27FC236}">
                <a16:creationId xmlns:a16="http://schemas.microsoft.com/office/drawing/2014/main" id="{249D43AF-8E72-FC1C-8CC2-B5CAF7B8DD1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204551" y="1048207"/>
            <a:ext cx="1573427" cy="1566562"/>
          </a:xfrm>
          <a:prstGeom prst="rect">
            <a:avLst/>
          </a:prstGeom>
        </p:spPr>
      </p:pic>
      <p:sp>
        <p:nvSpPr>
          <p:cNvPr id="26" name="TextBox 25">
            <a:extLst>
              <a:ext uri="{FF2B5EF4-FFF2-40B4-BE49-F238E27FC236}">
                <a16:creationId xmlns:a16="http://schemas.microsoft.com/office/drawing/2014/main" id="{6CFCB154-C963-D963-6B39-3523F3698207}"/>
              </a:ext>
            </a:extLst>
          </p:cNvPr>
          <p:cNvSpPr txBox="1"/>
          <p:nvPr/>
        </p:nvSpPr>
        <p:spPr>
          <a:xfrm>
            <a:off x="65636" y="2979291"/>
            <a:ext cx="265371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b="1">
                <a:ea typeface="Calibri"/>
                <a:cs typeface="Calibri"/>
              </a:rPr>
              <a:t>Adjusters</a:t>
            </a:r>
          </a:p>
        </p:txBody>
      </p:sp>
      <p:sp>
        <p:nvSpPr>
          <p:cNvPr id="27" name="TextBox 26">
            <a:extLst>
              <a:ext uri="{FF2B5EF4-FFF2-40B4-BE49-F238E27FC236}">
                <a16:creationId xmlns:a16="http://schemas.microsoft.com/office/drawing/2014/main" id="{CC41A938-CBD2-6BF2-4DC2-CE2C51CA19E8}"/>
              </a:ext>
            </a:extLst>
          </p:cNvPr>
          <p:cNvSpPr txBox="1"/>
          <p:nvPr/>
        </p:nvSpPr>
        <p:spPr>
          <a:xfrm>
            <a:off x="4767624" y="2902155"/>
            <a:ext cx="210751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ea typeface="Calibri"/>
                <a:cs typeface="Calibri"/>
              </a:rPr>
              <a:t>Claims</a:t>
            </a:r>
            <a:endParaRPr lang="en-US" sz="3600">
              <a:ea typeface="Calibri" panose="020F0502020204030204"/>
              <a:cs typeface="Calibri" panose="020F0502020204030204"/>
            </a:endParaRPr>
          </a:p>
        </p:txBody>
      </p:sp>
      <p:pic>
        <p:nvPicPr>
          <p:cNvPr id="29" name="Graphic 28" descr="Sad face outline with solid fill">
            <a:extLst>
              <a:ext uri="{FF2B5EF4-FFF2-40B4-BE49-F238E27FC236}">
                <a16:creationId xmlns:a16="http://schemas.microsoft.com/office/drawing/2014/main" id="{C81226DB-4DEF-71BF-015A-55F3764EC99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208527" y="3983754"/>
            <a:ext cx="1573427" cy="1566562"/>
          </a:xfrm>
          <a:prstGeom prst="rect">
            <a:avLst/>
          </a:prstGeom>
        </p:spPr>
      </p:pic>
      <p:sp>
        <p:nvSpPr>
          <p:cNvPr id="30" name="TextBox 29">
            <a:extLst>
              <a:ext uri="{FF2B5EF4-FFF2-40B4-BE49-F238E27FC236}">
                <a16:creationId xmlns:a16="http://schemas.microsoft.com/office/drawing/2014/main" id="{54B54A79-1A5E-1D36-A313-91C09C8A8023}"/>
              </a:ext>
            </a:extLst>
          </p:cNvPr>
          <p:cNvSpPr txBox="1"/>
          <p:nvPr/>
        </p:nvSpPr>
        <p:spPr>
          <a:xfrm>
            <a:off x="9960480" y="2902154"/>
            <a:ext cx="202284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ea typeface="Calibri"/>
                <a:cs typeface="Calibri"/>
              </a:rPr>
              <a:t>Clients</a:t>
            </a:r>
            <a:endParaRPr lang="en-US" sz="3600"/>
          </a:p>
        </p:txBody>
      </p:sp>
      <p:sp>
        <p:nvSpPr>
          <p:cNvPr id="14" name="Slide Number Placeholder 13">
            <a:extLst>
              <a:ext uri="{FF2B5EF4-FFF2-40B4-BE49-F238E27FC236}">
                <a16:creationId xmlns:a16="http://schemas.microsoft.com/office/drawing/2014/main" id="{438EBFFB-87F5-DCF0-54CE-A68997D62E1A}"/>
              </a:ext>
            </a:extLst>
          </p:cNvPr>
          <p:cNvSpPr>
            <a:spLocks noGrp="1"/>
          </p:cNvSpPr>
          <p:nvPr>
            <p:ph type="sldNum" sz="quarter" idx="13"/>
          </p:nvPr>
        </p:nvSpPr>
        <p:spPr/>
        <p:txBody>
          <a:bodyPr/>
          <a:lstStyle/>
          <a:p>
            <a:fld id="{CC057153-B650-4DEB-B370-79DDCFDCE934}" type="slidenum">
              <a:rPr lang="en-US" sz="1600" smtClean="0">
                <a:latin typeface="Avenir Medium" panose="02000503020000020003"/>
              </a:rPr>
              <a:t>3</a:t>
            </a:fld>
            <a:endParaRPr lang="en-US" sz="1600">
              <a:latin typeface="Avenir Medium" panose="02000503020000020003"/>
            </a:endParaRPr>
          </a:p>
        </p:txBody>
      </p:sp>
    </p:spTree>
    <p:extLst>
      <p:ext uri="{BB962C8B-B14F-4D97-AF65-F5344CB8AC3E}">
        <p14:creationId xmlns:p14="http://schemas.microsoft.com/office/powerpoint/2010/main" val="4257629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4"/>
                                        </p:tgtEl>
                                        <p:attrNameLst>
                                          <p:attrName>style.visibility</p:attrName>
                                        </p:attrNameLst>
                                      </p:cBhvr>
                                      <p:to>
                                        <p:strVal val="visible"/>
                                      </p:to>
                                    </p:set>
                                    <p:animEffect transition="in" filter="fade">
                                      <p:cBhvr>
                                        <p:cTn id="23" dur="500"/>
                                        <p:tgtEl>
                                          <p:spTgt spid="7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2"/>
                                        </p:tgtEl>
                                        <p:attrNameLst>
                                          <p:attrName>style.visibility</p:attrName>
                                        </p:attrNameLst>
                                      </p:cBhvr>
                                      <p:to>
                                        <p:strVal val="visible"/>
                                      </p:to>
                                    </p:set>
                                    <p:animEffect transition="in" filter="fade">
                                      <p:cBhvr>
                                        <p:cTn id="35" dur="500"/>
                                        <p:tgtEl>
                                          <p:spTgt spid="8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p:tgtEl>
                                          <p:spTgt spid="9"/>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0"/>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10" presetClass="entr" presetSubtype="0"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6" grpId="0" animBg="1"/>
      <p:bldP spid="18" grpId="0" animBg="1"/>
      <p:bldP spid="20" grpId="0" animBg="1"/>
      <p:bldP spid="26" grpId="0"/>
      <p:bldP spid="27" grpId="0"/>
      <p:bldP spid="30" grpId="0"/>
    </p:bldLst>
  </p:timing>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69FD9-3F40-EC95-E408-66D8BD421F17}"/>
              </a:ext>
            </a:extLst>
          </p:cNvPr>
          <p:cNvSpPr>
            <a:spLocks noGrp="1"/>
          </p:cNvSpPr>
          <p:nvPr>
            <p:ph type="title"/>
          </p:nvPr>
        </p:nvSpPr>
        <p:spPr>
          <a:xfrm>
            <a:off x="714046" y="163704"/>
            <a:ext cx="10515600" cy="727736"/>
          </a:xfrm>
        </p:spPr>
        <p:txBody>
          <a:bodyPr>
            <a:noAutofit/>
          </a:bodyPr>
          <a:lstStyle/>
          <a:p>
            <a:pPr algn="ctr"/>
            <a:r>
              <a:rPr lang="en-US" sz="4800"/>
              <a:t>Executive Summary</a:t>
            </a:r>
          </a:p>
        </p:txBody>
      </p:sp>
      <p:graphicFrame>
        <p:nvGraphicFramePr>
          <p:cNvPr id="6" name="Diagram 5">
            <a:extLst>
              <a:ext uri="{FF2B5EF4-FFF2-40B4-BE49-F238E27FC236}">
                <a16:creationId xmlns:a16="http://schemas.microsoft.com/office/drawing/2014/main" id="{4B034C82-EE13-9734-07CB-E4609D1DEE10}"/>
              </a:ext>
            </a:extLst>
          </p:cNvPr>
          <p:cNvGraphicFramePr/>
          <p:nvPr>
            <p:extLst>
              <p:ext uri="{D42A27DB-BD31-4B8C-83A1-F6EECF244321}">
                <p14:modId xmlns:p14="http://schemas.microsoft.com/office/powerpoint/2010/main" val="3330005576"/>
              </p:ext>
            </p:extLst>
          </p:nvPr>
        </p:nvGraphicFramePr>
        <p:xfrm>
          <a:off x="910439" y="2368595"/>
          <a:ext cx="10122814" cy="10244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3" name="Diagram 2">
            <a:extLst>
              <a:ext uri="{FF2B5EF4-FFF2-40B4-BE49-F238E27FC236}">
                <a16:creationId xmlns:a16="http://schemas.microsoft.com/office/drawing/2014/main" id="{29F2D691-9EB1-D352-29F2-5A77E4E2248C}"/>
              </a:ext>
            </a:extLst>
          </p:cNvPr>
          <p:cNvGraphicFramePr/>
          <p:nvPr>
            <p:extLst>
              <p:ext uri="{D42A27DB-BD31-4B8C-83A1-F6EECF244321}">
                <p14:modId xmlns:p14="http://schemas.microsoft.com/office/powerpoint/2010/main" val="273522567"/>
              </p:ext>
            </p:extLst>
          </p:nvPr>
        </p:nvGraphicFramePr>
        <p:xfrm>
          <a:off x="910439" y="1043608"/>
          <a:ext cx="10122814" cy="117281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4" name="Diagram 3">
            <a:extLst>
              <a:ext uri="{FF2B5EF4-FFF2-40B4-BE49-F238E27FC236}">
                <a16:creationId xmlns:a16="http://schemas.microsoft.com/office/drawing/2014/main" id="{BEFEEB56-3D88-5CE5-66F8-60C403CD5F11}"/>
              </a:ext>
            </a:extLst>
          </p:cNvPr>
          <p:cNvGraphicFramePr/>
          <p:nvPr>
            <p:extLst>
              <p:ext uri="{D42A27DB-BD31-4B8C-83A1-F6EECF244321}">
                <p14:modId xmlns:p14="http://schemas.microsoft.com/office/powerpoint/2010/main" val="842932341"/>
              </p:ext>
            </p:extLst>
          </p:nvPr>
        </p:nvGraphicFramePr>
        <p:xfrm>
          <a:off x="910439" y="4721773"/>
          <a:ext cx="10122814" cy="1421990"/>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graphicFrame>
        <p:nvGraphicFramePr>
          <p:cNvPr id="5" name="Diagram 4">
            <a:extLst>
              <a:ext uri="{FF2B5EF4-FFF2-40B4-BE49-F238E27FC236}">
                <a16:creationId xmlns:a16="http://schemas.microsoft.com/office/drawing/2014/main" id="{5CEA9D45-558E-6CF6-55C4-B2EC16B3E19B}"/>
              </a:ext>
            </a:extLst>
          </p:cNvPr>
          <p:cNvGraphicFramePr/>
          <p:nvPr>
            <p:extLst>
              <p:ext uri="{D42A27DB-BD31-4B8C-83A1-F6EECF244321}">
                <p14:modId xmlns:p14="http://schemas.microsoft.com/office/powerpoint/2010/main" val="369958323"/>
              </p:ext>
            </p:extLst>
          </p:nvPr>
        </p:nvGraphicFramePr>
        <p:xfrm>
          <a:off x="910439" y="3545184"/>
          <a:ext cx="10122814" cy="1024421"/>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p:sp>
        <p:nvSpPr>
          <p:cNvPr id="8" name="Slide Number Placeholder 7">
            <a:extLst>
              <a:ext uri="{FF2B5EF4-FFF2-40B4-BE49-F238E27FC236}">
                <a16:creationId xmlns:a16="http://schemas.microsoft.com/office/drawing/2014/main" id="{96740D61-2115-B004-2714-EDA6F9995306}"/>
              </a:ext>
            </a:extLst>
          </p:cNvPr>
          <p:cNvSpPr>
            <a:spLocks noGrp="1"/>
          </p:cNvSpPr>
          <p:nvPr>
            <p:ph type="sldNum" sz="quarter" idx="13"/>
          </p:nvPr>
        </p:nvSpPr>
        <p:spPr/>
        <p:txBody>
          <a:bodyPr/>
          <a:lstStyle/>
          <a:p>
            <a:fld id="{CC057153-B650-4DEB-B370-79DDCFDCE934}" type="slidenum">
              <a:rPr lang="en-US" sz="1600" smtClean="0">
                <a:latin typeface="Avenir Medium"/>
              </a:rPr>
              <a:t>4</a:t>
            </a:fld>
            <a:endParaRPr lang="en-US" sz="1600">
              <a:latin typeface="Avenir Medium"/>
            </a:endParaRPr>
          </a:p>
        </p:txBody>
      </p:sp>
    </p:spTree>
    <p:extLst>
      <p:ext uri="{BB962C8B-B14F-4D97-AF65-F5344CB8AC3E}">
        <p14:creationId xmlns:p14="http://schemas.microsoft.com/office/powerpoint/2010/main" val="1861784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3" grpId="0">
        <p:bldAsOne/>
      </p:bldGraphic>
      <p:bldGraphic spid="4" grpId="0">
        <p:bldAsOne/>
      </p:bldGraphic>
      <p:bldGraphic spid="5" grpId="0">
        <p:bldAsOne/>
      </p:bldGraphic>
    </p:bldLst>
  </p:timing>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DB5FB-B55D-76A7-4CA6-7E553B41E21D}"/>
            </a:ext>
          </a:extLst>
        </p:cNvPr>
        <p:cNvGrpSpPr/>
        <p:nvPr/>
      </p:nvGrpSpPr>
      <p:grpSpPr>
        <a:xfrm>
          <a:off x="0" y="0"/>
          <a:ext cx="0" cy="0"/>
          <a:chOff x="0" y="0"/>
          <a:chExt cx="0" cy="0"/>
        </a:xfrm>
      </p:grpSpPr>
      <p:pic>
        <p:nvPicPr>
          <p:cNvPr id="9" name="Content Placeholder 4" descr="A white background with black text and black letters&#10;&#10;AI-generated content may be incorrect.">
            <a:extLst>
              <a:ext uri="{FF2B5EF4-FFF2-40B4-BE49-F238E27FC236}">
                <a16:creationId xmlns:a16="http://schemas.microsoft.com/office/drawing/2014/main" id="{E3C08E61-DCD3-62BA-C183-3FE681544556}"/>
              </a:ext>
            </a:extLst>
          </p:cNvPr>
          <p:cNvPicPr>
            <a:picLocks noChangeAspect="1"/>
          </p:cNvPicPr>
          <p:nvPr/>
        </p:nvPicPr>
        <p:blipFill>
          <a:blip r:embed="rId3"/>
          <a:srcRect l="1322" r="3470"/>
          <a:stretch>
            <a:fillRect/>
          </a:stretch>
        </p:blipFill>
        <p:spPr>
          <a:xfrm>
            <a:off x="2394105" y="97966"/>
            <a:ext cx="7452304" cy="1511180"/>
          </a:xfrm>
          <a:prstGeom prst="rect">
            <a:avLst/>
          </a:prstGeom>
          <a:ln>
            <a:solidFill>
              <a:schemeClr val="tx1"/>
            </a:solidFill>
          </a:ln>
        </p:spPr>
      </p:pic>
      <p:pic>
        <p:nvPicPr>
          <p:cNvPr id="18" name="Content Placeholder 4" descr="A screenshot of a map&#10;&#10;AI-generated content may be incorrect.">
            <a:extLst>
              <a:ext uri="{FF2B5EF4-FFF2-40B4-BE49-F238E27FC236}">
                <a16:creationId xmlns:a16="http://schemas.microsoft.com/office/drawing/2014/main" id="{4633A820-FF0A-A9F3-1CE9-D1ACF2E1BC43}"/>
              </a:ext>
            </a:extLst>
          </p:cNvPr>
          <p:cNvPicPr>
            <a:picLocks noChangeAspect="1"/>
          </p:cNvPicPr>
          <p:nvPr/>
        </p:nvPicPr>
        <p:blipFill>
          <a:blip r:embed="rId4"/>
          <a:srcRect l="-141" t="67840" r="53567" b="5381"/>
          <a:stretch>
            <a:fillRect/>
          </a:stretch>
        </p:blipFill>
        <p:spPr>
          <a:xfrm>
            <a:off x="2390704" y="1690587"/>
            <a:ext cx="3629508" cy="1481827"/>
          </a:xfrm>
          <a:prstGeom prst="rect">
            <a:avLst/>
          </a:prstGeom>
          <a:ln>
            <a:solidFill>
              <a:schemeClr val="tx1"/>
            </a:solidFill>
          </a:ln>
        </p:spPr>
      </p:pic>
      <p:sp>
        <p:nvSpPr>
          <p:cNvPr id="2" name="Title 1">
            <a:extLst>
              <a:ext uri="{FF2B5EF4-FFF2-40B4-BE49-F238E27FC236}">
                <a16:creationId xmlns:a16="http://schemas.microsoft.com/office/drawing/2014/main" id="{0B413E2B-39D0-C4AF-19CB-1EC499E1AF39}"/>
              </a:ext>
            </a:extLst>
          </p:cNvPr>
          <p:cNvSpPr>
            <a:spLocks noGrp="1"/>
          </p:cNvSpPr>
          <p:nvPr>
            <p:ph type="title"/>
          </p:nvPr>
        </p:nvSpPr>
        <p:spPr>
          <a:xfrm>
            <a:off x="604562" y="57844"/>
            <a:ext cx="10515600" cy="718405"/>
          </a:xfrm>
        </p:spPr>
        <p:txBody>
          <a:bodyPr lIns="91440" tIns="45720" rIns="91440" bIns="45720" anchor="t">
            <a:noAutofit/>
          </a:bodyPr>
          <a:lstStyle/>
          <a:p>
            <a:pPr algn="ctr"/>
            <a:r>
              <a:rPr lang="en-US" sz="4800">
                <a:latin typeface="Arial"/>
                <a:cs typeface="Arial"/>
              </a:rPr>
              <a:t>Application</a:t>
            </a:r>
            <a:endParaRPr lang="en-US" sz="4800"/>
          </a:p>
        </p:txBody>
      </p:sp>
      <p:pic>
        <p:nvPicPr>
          <p:cNvPr id="4" name="Content Placeholder 3" descr="A screenshot of a computer&#10;&#10;AI-generated content may be incorrect.">
            <a:extLst>
              <a:ext uri="{FF2B5EF4-FFF2-40B4-BE49-F238E27FC236}">
                <a16:creationId xmlns:a16="http://schemas.microsoft.com/office/drawing/2014/main" id="{AAFD32FE-3B8C-B9A4-BE20-A4F931E571FE}"/>
              </a:ext>
            </a:extLst>
          </p:cNvPr>
          <p:cNvPicPr>
            <a:picLocks noGrp="1" noChangeAspect="1"/>
          </p:cNvPicPr>
          <p:nvPr>
            <p:ph sz="quarter" idx="10"/>
          </p:nvPr>
        </p:nvPicPr>
        <p:blipFill>
          <a:blip r:embed="rId5"/>
          <a:srcRect l="62471" t="24451" r="-51" b="20100"/>
          <a:stretch>
            <a:fillRect/>
          </a:stretch>
        </p:blipFill>
        <p:spPr>
          <a:xfrm>
            <a:off x="2416130" y="3281097"/>
            <a:ext cx="3611020" cy="2950532"/>
          </a:xfrm>
          <a:prstGeom prst="rect">
            <a:avLst/>
          </a:prstGeom>
          <a:ln>
            <a:solidFill>
              <a:schemeClr val="tx1"/>
            </a:solidFill>
          </a:ln>
        </p:spPr>
      </p:pic>
      <p:sp>
        <p:nvSpPr>
          <p:cNvPr id="10" name="Arrow: Left 9">
            <a:extLst>
              <a:ext uri="{FF2B5EF4-FFF2-40B4-BE49-F238E27FC236}">
                <a16:creationId xmlns:a16="http://schemas.microsoft.com/office/drawing/2014/main" id="{ECD298B5-838E-008C-C742-B2595C6FD0A5}"/>
              </a:ext>
            </a:extLst>
          </p:cNvPr>
          <p:cNvSpPr/>
          <p:nvPr/>
        </p:nvSpPr>
        <p:spPr>
          <a:xfrm rot="7628390">
            <a:off x="2361917" y="5368840"/>
            <a:ext cx="1488911" cy="839614"/>
          </a:xfrm>
          <a:prstGeom prst="leftArrow">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FDD462A-C88C-403F-C92D-944A305A8F68}"/>
              </a:ext>
            </a:extLst>
          </p:cNvPr>
          <p:cNvSpPr/>
          <p:nvPr/>
        </p:nvSpPr>
        <p:spPr>
          <a:xfrm>
            <a:off x="130631" y="52229"/>
            <a:ext cx="2106894" cy="622033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E93BFCB-8C18-835E-E771-C5E669E65CB7}"/>
              </a:ext>
            </a:extLst>
          </p:cNvPr>
          <p:cNvSpPr/>
          <p:nvPr/>
        </p:nvSpPr>
        <p:spPr>
          <a:xfrm>
            <a:off x="2356385" y="1690587"/>
            <a:ext cx="3666763" cy="148182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2107ECD-39CD-7FA3-63EC-4F51B94327E0}"/>
              </a:ext>
            </a:extLst>
          </p:cNvPr>
          <p:cNvSpPr txBox="1"/>
          <p:nvPr/>
        </p:nvSpPr>
        <p:spPr>
          <a:xfrm>
            <a:off x="10301806" y="1263799"/>
            <a:ext cx="175956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latin typeface="Arial" panose="020B0604020202020204" pitchFamily="34" charset="0"/>
                <a:ea typeface="Calibri"/>
                <a:cs typeface="Arial" panose="020B0604020202020204" pitchFamily="34" charset="0"/>
              </a:rPr>
              <a:t>Storm Trooper Manager</a:t>
            </a:r>
          </a:p>
        </p:txBody>
      </p:sp>
      <p:pic>
        <p:nvPicPr>
          <p:cNvPr id="6" name="Picture 5" descr="A person in a garment&#10;&#10;AI-generated content may be incorrect.">
            <a:extLst>
              <a:ext uri="{FF2B5EF4-FFF2-40B4-BE49-F238E27FC236}">
                <a16:creationId xmlns:a16="http://schemas.microsoft.com/office/drawing/2014/main" id="{12FB1033-F9DF-64C0-BC58-DBA1D4F0FDC0}"/>
              </a:ext>
            </a:extLst>
          </p:cNvPr>
          <p:cNvPicPr>
            <a:picLocks noChangeAspect="1"/>
          </p:cNvPicPr>
          <p:nvPr/>
        </p:nvPicPr>
        <p:blipFill>
          <a:blip r:embed="rId6"/>
          <a:stretch>
            <a:fillRect/>
          </a:stretch>
        </p:blipFill>
        <p:spPr>
          <a:xfrm>
            <a:off x="9846409" y="2353470"/>
            <a:ext cx="2322111" cy="3915556"/>
          </a:xfrm>
          <a:prstGeom prst="rect">
            <a:avLst/>
          </a:prstGeom>
        </p:spPr>
      </p:pic>
      <p:sp>
        <p:nvSpPr>
          <p:cNvPr id="16" name="Slide Number Placeholder 15">
            <a:extLst>
              <a:ext uri="{FF2B5EF4-FFF2-40B4-BE49-F238E27FC236}">
                <a16:creationId xmlns:a16="http://schemas.microsoft.com/office/drawing/2014/main" id="{46731462-2BBF-50F6-696F-A7C46798BF5A}"/>
              </a:ext>
            </a:extLst>
          </p:cNvPr>
          <p:cNvSpPr>
            <a:spLocks noGrp="1"/>
          </p:cNvSpPr>
          <p:nvPr>
            <p:ph type="sldNum" sz="quarter" idx="13"/>
          </p:nvPr>
        </p:nvSpPr>
        <p:spPr/>
        <p:txBody>
          <a:bodyPr/>
          <a:lstStyle/>
          <a:p>
            <a:fld id="{CC057153-B650-4DEB-B370-79DDCFDCE934}" type="slidenum">
              <a:rPr lang="en-US" sz="1600" smtClean="0">
                <a:latin typeface="Avenir Medium"/>
              </a:rPr>
              <a:t>5</a:t>
            </a:fld>
            <a:endParaRPr lang="en-US" sz="1600">
              <a:latin typeface="Avenir Medium"/>
            </a:endParaRPr>
          </a:p>
        </p:txBody>
      </p:sp>
      <p:pic>
        <p:nvPicPr>
          <p:cNvPr id="15" name="Picture 14" descr="A screenshot of a phone&#10;&#10;AI-generated content may be incorrect.">
            <a:extLst>
              <a:ext uri="{FF2B5EF4-FFF2-40B4-BE49-F238E27FC236}">
                <a16:creationId xmlns:a16="http://schemas.microsoft.com/office/drawing/2014/main" id="{AC189338-B678-C600-F8B8-B70F93DC1067}"/>
              </a:ext>
            </a:extLst>
          </p:cNvPr>
          <p:cNvPicPr>
            <a:picLocks noChangeAspect="1"/>
          </p:cNvPicPr>
          <p:nvPr/>
        </p:nvPicPr>
        <p:blipFill>
          <a:blip r:embed="rId7"/>
          <a:srcRect r="5980" b="10370"/>
          <a:stretch>
            <a:fillRect/>
          </a:stretch>
        </p:blipFill>
        <p:spPr>
          <a:xfrm>
            <a:off x="194135" y="139147"/>
            <a:ext cx="2005670" cy="6123691"/>
          </a:xfrm>
          <a:prstGeom prst="rect">
            <a:avLst/>
          </a:prstGeom>
          <a:ln>
            <a:solidFill>
              <a:schemeClr val="tx1"/>
            </a:solidFill>
          </a:ln>
        </p:spPr>
      </p:pic>
      <p:sp>
        <p:nvSpPr>
          <p:cNvPr id="14" name="Rectangle 13">
            <a:extLst>
              <a:ext uri="{FF2B5EF4-FFF2-40B4-BE49-F238E27FC236}">
                <a16:creationId xmlns:a16="http://schemas.microsoft.com/office/drawing/2014/main" id="{CE884336-FF72-0371-06FB-345376796DE0}"/>
              </a:ext>
            </a:extLst>
          </p:cNvPr>
          <p:cNvSpPr/>
          <p:nvPr/>
        </p:nvSpPr>
        <p:spPr>
          <a:xfrm>
            <a:off x="2356770" y="54756"/>
            <a:ext cx="7498858" cy="159663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D076367-A0EC-F8D3-9FBE-565930526C70}"/>
              </a:ext>
            </a:extLst>
          </p:cNvPr>
          <p:cNvSpPr/>
          <p:nvPr/>
        </p:nvSpPr>
        <p:spPr>
          <a:xfrm>
            <a:off x="2388219" y="3281097"/>
            <a:ext cx="3630212" cy="29718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screenshot of a chat&#10;&#10;AI-generated content may be incorrect.">
            <a:extLst>
              <a:ext uri="{FF2B5EF4-FFF2-40B4-BE49-F238E27FC236}">
                <a16:creationId xmlns:a16="http://schemas.microsoft.com/office/drawing/2014/main" id="{66943ACE-B94A-01D7-E33E-F73E2B06C61F}"/>
              </a:ext>
            </a:extLst>
          </p:cNvPr>
          <p:cNvPicPr>
            <a:picLocks noChangeAspect="1"/>
          </p:cNvPicPr>
          <p:nvPr/>
        </p:nvPicPr>
        <p:blipFill>
          <a:blip r:embed="rId8"/>
          <a:srcRect l="-380" t="2533" r="42340" b="14910"/>
          <a:stretch>
            <a:fillRect/>
          </a:stretch>
        </p:blipFill>
        <p:spPr>
          <a:xfrm>
            <a:off x="6173110" y="1730677"/>
            <a:ext cx="3666763" cy="1846783"/>
          </a:xfrm>
          <a:prstGeom prst="rect">
            <a:avLst/>
          </a:prstGeom>
          <a:ln>
            <a:solidFill>
              <a:schemeClr val="tx1"/>
            </a:solidFill>
          </a:ln>
        </p:spPr>
      </p:pic>
      <p:sp>
        <p:nvSpPr>
          <p:cNvPr id="21" name="Rectangle 20">
            <a:extLst>
              <a:ext uri="{FF2B5EF4-FFF2-40B4-BE49-F238E27FC236}">
                <a16:creationId xmlns:a16="http://schemas.microsoft.com/office/drawing/2014/main" id="{3376C809-0D24-FE4D-E19B-CA6E3D6AEFD4}"/>
              </a:ext>
            </a:extLst>
          </p:cNvPr>
          <p:cNvSpPr/>
          <p:nvPr/>
        </p:nvSpPr>
        <p:spPr>
          <a:xfrm>
            <a:off x="6148788" y="1706261"/>
            <a:ext cx="3709635" cy="184678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4" descr="A screenshot of a computer&#10;&#10;AI-generated content may be incorrect.">
            <a:extLst>
              <a:ext uri="{FF2B5EF4-FFF2-40B4-BE49-F238E27FC236}">
                <a16:creationId xmlns:a16="http://schemas.microsoft.com/office/drawing/2014/main" id="{1C2DC9A9-3235-A4BE-3EBE-7649FB50C8D7}"/>
              </a:ext>
            </a:extLst>
          </p:cNvPr>
          <p:cNvPicPr>
            <a:picLocks noChangeAspect="1"/>
          </p:cNvPicPr>
          <p:nvPr/>
        </p:nvPicPr>
        <p:blipFill>
          <a:blip r:embed="rId9"/>
          <a:stretch>
            <a:fillRect/>
          </a:stretch>
        </p:blipFill>
        <p:spPr>
          <a:xfrm>
            <a:off x="6174531" y="3815664"/>
            <a:ext cx="3681097" cy="2420600"/>
          </a:xfrm>
          <a:prstGeom prst="rect">
            <a:avLst/>
          </a:prstGeom>
          <a:ln>
            <a:solidFill>
              <a:schemeClr val="tx1"/>
            </a:solidFill>
          </a:ln>
        </p:spPr>
      </p:pic>
      <p:sp>
        <p:nvSpPr>
          <p:cNvPr id="24" name="Rectangle 23">
            <a:extLst>
              <a:ext uri="{FF2B5EF4-FFF2-40B4-BE49-F238E27FC236}">
                <a16:creationId xmlns:a16="http://schemas.microsoft.com/office/drawing/2014/main" id="{0D69197A-C8DE-612F-E45A-064764E8EBBB}"/>
              </a:ext>
            </a:extLst>
          </p:cNvPr>
          <p:cNvSpPr/>
          <p:nvPr/>
        </p:nvSpPr>
        <p:spPr>
          <a:xfrm>
            <a:off x="6158664" y="3793197"/>
            <a:ext cx="3681097" cy="24384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Left 2">
            <a:extLst>
              <a:ext uri="{FF2B5EF4-FFF2-40B4-BE49-F238E27FC236}">
                <a16:creationId xmlns:a16="http://schemas.microsoft.com/office/drawing/2014/main" id="{22AE9D08-A502-7A2A-371F-13DD1A123E96}"/>
              </a:ext>
            </a:extLst>
          </p:cNvPr>
          <p:cNvSpPr/>
          <p:nvPr/>
        </p:nvSpPr>
        <p:spPr>
          <a:xfrm>
            <a:off x="10056863" y="478316"/>
            <a:ext cx="1530575" cy="785483"/>
          </a:xfrm>
          <a:prstGeom prst="leftArrow">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Left 4">
            <a:extLst>
              <a:ext uri="{FF2B5EF4-FFF2-40B4-BE49-F238E27FC236}">
                <a16:creationId xmlns:a16="http://schemas.microsoft.com/office/drawing/2014/main" id="{E4EEB885-8D47-FBC2-1823-3E2C0C8D1535}"/>
              </a:ext>
            </a:extLst>
          </p:cNvPr>
          <p:cNvSpPr/>
          <p:nvPr/>
        </p:nvSpPr>
        <p:spPr>
          <a:xfrm rot="1846430">
            <a:off x="1752965" y="3484188"/>
            <a:ext cx="1488911" cy="839614"/>
          </a:xfrm>
          <a:prstGeom prst="leftArrow">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Left 7">
            <a:extLst>
              <a:ext uri="{FF2B5EF4-FFF2-40B4-BE49-F238E27FC236}">
                <a16:creationId xmlns:a16="http://schemas.microsoft.com/office/drawing/2014/main" id="{87EC9A41-1E41-B754-2300-A538299324FE}"/>
              </a:ext>
            </a:extLst>
          </p:cNvPr>
          <p:cNvSpPr/>
          <p:nvPr/>
        </p:nvSpPr>
        <p:spPr>
          <a:xfrm rot="2761269">
            <a:off x="7760246" y="6044993"/>
            <a:ext cx="1206373" cy="643881"/>
          </a:xfrm>
          <a:prstGeom prst="leftArrow">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19F6E58-6FCB-2BFF-27CD-E89AD7642B01}"/>
              </a:ext>
            </a:extLst>
          </p:cNvPr>
          <p:cNvSpPr/>
          <p:nvPr/>
        </p:nvSpPr>
        <p:spPr>
          <a:xfrm>
            <a:off x="6266356" y="4624765"/>
            <a:ext cx="1730804" cy="275463"/>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80BF77A-3C14-DF8D-5416-D8D80CF1B949}"/>
              </a:ext>
            </a:extLst>
          </p:cNvPr>
          <p:cNvSpPr/>
          <p:nvPr/>
        </p:nvSpPr>
        <p:spPr>
          <a:xfrm>
            <a:off x="8053058" y="4624765"/>
            <a:ext cx="1730804" cy="275463"/>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524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par>
                                <p:cTn id="7" presetID="21" presetClass="entr" presetSubtype="1"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heel(1)">
                                      <p:cBhvr>
                                        <p:cTn id="9" dur="75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hidden"/>
                                      </p:to>
                                    </p:set>
                                  </p:childTnLst>
                                </p:cTn>
                              </p:par>
                              <p:par>
                                <p:cTn id="14" presetID="1"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par>
                                <p:cTn id="20" presetID="16" presetClass="entr" presetSubtype="21"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par>
                                <p:cTn id="23" presetID="42"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anim calcmode="lin" valueType="num">
                                      <p:cBhvr>
                                        <p:cTn id="26" dur="500" fill="hold"/>
                                        <p:tgtEl>
                                          <p:spTgt spid="13"/>
                                        </p:tgtEl>
                                        <p:attrNameLst>
                                          <p:attrName>ppt_x</p:attrName>
                                        </p:attrNameLst>
                                      </p:cBhvr>
                                      <p:tavLst>
                                        <p:tav tm="0">
                                          <p:val>
                                            <p:strVal val="#ppt_x"/>
                                          </p:val>
                                        </p:tav>
                                        <p:tav tm="100000">
                                          <p:val>
                                            <p:strVal val="#ppt_x"/>
                                          </p:val>
                                        </p:tav>
                                      </p:tavLst>
                                    </p:anim>
                                    <p:anim calcmode="lin" valueType="num">
                                      <p:cBhvr>
                                        <p:cTn id="27" dur="500" fill="hold"/>
                                        <p:tgtEl>
                                          <p:spTgt spid="13"/>
                                        </p:tgtEl>
                                        <p:attrNameLst>
                                          <p:attrName>ppt_y</p:attrName>
                                        </p:attrNameLst>
                                      </p:cBhvr>
                                      <p:tavLst>
                                        <p:tav tm="0">
                                          <p:val>
                                            <p:strVal val="#ppt_y+.1"/>
                                          </p:val>
                                        </p:tav>
                                        <p:tav tm="100000">
                                          <p:val>
                                            <p:strVal val="#ppt_y"/>
                                          </p:val>
                                        </p:tav>
                                      </p:tavLst>
                                    </p:anim>
                                  </p:childTnLst>
                                </p:cTn>
                              </p:par>
                              <p:par>
                                <p:cTn id="28" presetID="1" presetClass="entr" presetSubtype="0" fill="hold" nodeType="withEffect">
                                  <p:stCondLst>
                                    <p:cond delay="0"/>
                                  </p:stCondLst>
                                  <p:childTnLst>
                                    <p:set>
                                      <p:cBhvr>
                                        <p:cTn id="29" dur="1" fill="hold">
                                          <p:stCondLst>
                                            <p:cond delay="0"/>
                                          </p:stCondLst>
                                        </p:cTn>
                                        <p:tgtEl>
                                          <p:spTgt spid="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500" fill="hold"/>
                                        <p:tgtEl>
                                          <p:spTgt spid="11"/>
                                        </p:tgtEl>
                                        <p:attrNameLst>
                                          <p:attrName>ppt_x</p:attrName>
                                        </p:attrNameLst>
                                      </p:cBhvr>
                                      <p:tavLst>
                                        <p:tav tm="0">
                                          <p:val>
                                            <p:strVal val="#ppt_x"/>
                                          </p:val>
                                        </p:tav>
                                        <p:tav tm="100000">
                                          <p:val>
                                            <p:strVal val="#ppt_x"/>
                                          </p:val>
                                        </p:tav>
                                      </p:tavLst>
                                    </p:anim>
                                    <p:anim calcmode="lin" valueType="num">
                                      <p:cBhvr additive="base">
                                        <p:cTn id="35" dur="500" fill="hold"/>
                                        <p:tgtEl>
                                          <p:spTgt spid="11"/>
                                        </p:tgtEl>
                                        <p:attrNameLst>
                                          <p:attrName>ppt_y</p:attrName>
                                        </p:attrNameLst>
                                      </p:cBhvr>
                                      <p:tavLst>
                                        <p:tav tm="0">
                                          <p:val>
                                            <p:strVal val="1+#ppt_h/2"/>
                                          </p:val>
                                        </p:tav>
                                        <p:tav tm="100000">
                                          <p:val>
                                            <p:strVal val="#ppt_y"/>
                                          </p:val>
                                        </p:tav>
                                      </p:tavLst>
                                    </p:anim>
                                  </p:childTnLst>
                                </p:cTn>
                              </p:par>
                              <p:par>
                                <p:cTn id="36" presetID="16" presetClass="entr" presetSubtype="21" fill="hold" grpId="0"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barn(inVertical)">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5"/>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11"/>
                                        </p:tgtEl>
                                        <p:attrNameLst>
                                          <p:attrName>style.visibility</p:attrName>
                                        </p:attrNameLst>
                                      </p:cBhvr>
                                      <p:to>
                                        <p:strVal val="hidden"/>
                                      </p:to>
                                    </p:set>
                                  </p:childTnLst>
                                </p:cTn>
                              </p:par>
                              <p:par>
                                <p:cTn id="45" presetID="16" presetClass="entr" presetSubtype="21"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arn(inVertical)">
                                      <p:cBhvr>
                                        <p:cTn id="47" dur="500"/>
                                        <p:tgtEl>
                                          <p:spTgt spid="12"/>
                                        </p:tgtEl>
                                      </p:cBhvr>
                                    </p:animEffect>
                                  </p:childTnLst>
                                </p:cTn>
                              </p:par>
                              <p:par>
                                <p:cTn id="48" presetID="6" presetClass="entr" presetSubtype="16"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circle(in)">
                                      <p:cBhvr>
                                        <p:cTn id="50" dur="1000"/>
                                        <p:tgtEl>
                                          <p:spTgt spid="20"/>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barn(inVertical)">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xit" presetSubtype="4" fill="hold" grpId="1" nodeType="clickEffect">
                                  <p:stCondLst>
                                    <p:cond delay="0"/>
                                  </p:stCondLst>
                                  <p:childTnLst>
                                    <p:animEffect transition="out" filter="wipe(down)">
                                      <p:cBhvr>
                                        <p:cTn id="57" dur="10"/>
                                        <p:tgtEl>
                                          <p:spTgt spid="12"/>
                                        </p:tgtEl>
                                      </p:cBhvr>
                                    </p:animEffect>
                                    <p:set>
                                      <p:cBhvr>
                                        <p:cTn id="58" dur="1" fill="hold">
                                          <p:stCondLst>
                                            <p:cond delay="9"/>
                                          </p:stCondLst>
                                        </p:cTn>
                                        <p:tgtEl>
                                          <p:spTgt spid="12"/>
                                        </p:tgtEl>
                                        <p:attrNameLst>
                                          <p:attrName>style.visibility</p:attrName>
                                        </p:attrNameLst>
                                      </p:cBhvr>
                                      <p:to>
                                        <p:strVal val="hidden"/>
                                      </p:to>
                                    </p:set>
                                  </p:childTnLst>
                                </p:cTn>
                              </p:par>
                              <p:par>
                                <p:cTn id="59" presetID="22" presetClass="exit" presetSubtype="4" fill="hold" grpId="1" nodeType="withEffect">
                                  <p:stCondLst>
                                    <p:cond delay="0"/>
                                  </p:stCondLst>
                                  <p:childTnLst>
                                    <p:animEffect transition="out" filter="wipe(down)">
                                      <p:cBhvr>
                                        <p:cTn id="60" dur="10"/>
                                        <p:tgtEl>
                                          <p:spTgt spid="20"/>
                                        </p:tgtEl>
                                      </p:cBhvr>
                                    </p:animEffect>
                                    <p:set>
                                      <p:cBhvr>
                                        <p:cTn id="61" dur="1" fill="hold">
                                          <p:stCondLst>
                                            <p:cond delay="9"/>
                                          </p:stCondLst>
                                        </p:cTn>
                                        <p:tgtEl>
                                          <p:spTgt spid="20"/>
                                        </p:tgtEl>
                                        <p:attrNameLst>
                                          <p:attrName>style.visibility</p:attrName>
                                        </p:attrNameLst>
                                      </p:cBhvr>
                                      <p:to>
                                        <p:strVal val="hidden"/>
                                      </p:to>
                                    </p:set>
                                  </p:childTnLst>
                                </p:cTn>
                              </p:par>
                              <p:par>
                                <p:cTn id="62" presetID="1" presetClass="exit" presetSubtype="0" fill="hold" grpId="1" nodeType="withEffect">
                                  <p:stCondLst>
                                    <p:cond delay="0"/>
                                  </p:stCondLst>
                                  <p:childTnLst>
                                    <p:set>
                                      <p:cBhvr>
                                        <p:cTn id="63" dur="1" fill="hold">
                                          <p:stCondLst>
                                            <p:cond delay="9"/>
                                          </p:stCondLst>
                                        </p:cTn>
                                        <p:tgtEl>
                                          <p:spTgt spid="10"/>
                                        </p:tgtEl>
                                        <p:attrNameLst>
                                          <p:attrName>style.visibility</p:attrName>
                                        </p:attrNameLst>
                                      </p:cBhvr>
                                      <p:to>
                                        <p:strVal val="hidden"/>
                                      </p:to>
                                    </p:set>
                                  </p:childTnLst>
                                </p:cTn>
                              </p:par>
                              <p:par>
                                <p:cTn id="64" presetID="14" presetClass="entr" presetSubtype="1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randombar(horizontal)">
                                      <p:cBhvr>
                                        <p:cTn id="66" dur="500"/>
                                        <p:tgtEl>
                                          <p:spTgt spid="21"/>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 calcmode="lin" valueType="num">
                                      <p:cBhvr>
                                        <p:cTn id="69" dur="500" fill="hold"/>
                                        <p:tgtEl>
                                          <p:spTgt spid="24"/>
                                        </p:tgtEl>
                                        <p:attrNameLst>
                                          <p:attrName>ppt_w</p:attrName>
                                        </p:attrNameLst>
                                      </p:cBhvr>
                                      <p:tavLst>
                                        <p:tav tm="0">
                                          <p:val>
                                            <p:fltVal val="0"/>
                                          </p:val>
                                        </p:tav>
                                        <p:tav tm="100000">
                                          <p:val>
                                            <p:strVal val="#ppt_w"/>
                                          </p:val>
                                        </p:tav>
                                      </p:tavLst>
                                    </p:anim>
                                    <p:anim calcmode="lin" valueType="num">
                                      <p:cBhvr>
                                        <p:cTn id="70" dur="500" fill="hold"/>
                                        <p:tgtEl>
                                          <p:spTgt spid="24"/>
                                        </p:tgtEl>
                                        <p:attrNameLst>
                                          <p:attrName>ppt_h</p:attrName>
                                        </p:attrNameLst>
                                      </p:cBhvr>
                                      <p:tavLst>
                                        <p:tav tm="0">
                                          <p:val>
                                            <p:fltVal val="0"/>
                                          </p:val>
                                        </p:tav>
                                        <p:tav tm="100000">
                                          <p:val>
                                            <p:strVal val="#ppt_h"/>
                                          </p:val>
                                        </p:tav>
                                      </p:tavLst>
                                    </p:anim>
                                    <p:animEffect transition="in" filter="fade">
                                      <p:cBhvr>
                                        <p:cTn id="71" dur="500"/>
                                        <p:tgtEl>
                                          <p:spTgt spid="24"/>
                                        </p:tgtEl>
                                      </p:cBhvr>
                                    </p:animEffect>
                                  </p:childTnLst>
                                </p:cTn>
                              </p:par>
                              <p:par>
                                <p:cTn id="72" presetID="16" presetClass="entr" presetSubtype="21" fill="hold" grpId="0" nodeType="withEffect">
                                  <p:stCondLst>
                                    <p:cond delay="0"/>
                                  </p:stCondLst>
                                  <p:childTnLst>
                                    <p:set>
                                      <p:cBhvr>
                                        <p:cTn id="73" dur="1" fill="hold">
                                          <p:stCondLst>
                                            <p:cond delay="0"/>
                                          </p:stCondLst>
                                        </p:cTn>
                                        <p:tgtEl>
                                          <p:spTgt spid="8"/>
                                        </p:tgtEl>
                                        <p:attrNameLst>
                                          <p:attrName>style.visibility</p:attrName>
                                        </p:attrNameLst>
                                      </p:cBhvr>
                                      <p:to>
                                        <p:strVal val="visible"/>
                                      </p:to>
                                    </p:set>
                                    <p:animEffect transition="in" filter="barn(inVertical)">
                                      <p:cBhvr>
                                        <p:cTn id="74" dur="500"/>
                                        <p:tgtEl>
                                          <p:spTgt spid="8"/>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8"/>
                                        </p:tgtEl>
                                        <p:attrNameLst>
                                          <p:attrName>style.visibility</p:attrName>
                                        </p:attrNameLst>
                                      </p:cBhvr>
                                      <p:to>
                                        <p:strVal val="hidden"/>
                                      </p:to>
                                    </p:set>
                                  </p:childTnLst>
                                </p:cTn>
                              </p:par>
                              <p:par>
                                <p:cTn id="79" presetID="10" presetClass="exit" presetSubtype="0" fill="hold" grpId="1" nodeType="withEffect">
                                  <p:stCondLst>
                                    <p:cond delay="0"/>
                                  </p:stCondLst>
                                  <p:childTnLst>
                                    <p:animEffect transition="out" filter="fade">
                                      <p:cBhvr>
                                        <p:cTn id="80" dur="500"/>
                                        <p:tgtEl>
                                          <p:spTgt spid="21"/>
                                        </p:tgtEl>
                                      </p:cBhvr>
                                    </p:animEffect>
                                    <p:set>
                                      <p:cBhvr>
                                        <p:cTn id="81" dur="1" fill="hold">
                                          <p:stCondLst>
                                            <p:cond delay="499"/>
                                          </p:stCondLst>
                                        </p:cTn>
                                        <p:tgtEl>
                                          <p:spTgt spid="21"/>
                                        </p:tgtEl>
                                        <p:attrNameLst>
                                          <p:attrName>style.visibility</p:attrName>
                                        </p:attrNameLst>
                                      </p:cBhvr>
                                      <p:to>
                                        <p:strVal val="hidden"/>
                                      </p:to>
                                    </p:set>
                                  </p:childTnLst>
                                </p:cTn>
                              </p:par>
                              <p:par>
                                <p:cTn id="82" presetID="1" presetClass="exit" presetSubtype="0" fill="hold" grpId="1" nodeType="withEffect">
                                  <p:stCondLst>
                                    <p:cond delay="0"/>
                                  </p:stCondLst>
                                  <p:childTnLst>
                                    <p:set>
                                      <p:cBhvr>
                                        <p:cTn id="83" dur="1" fill="hold">
                                          <p:stCondLst>
                                            <p:cond delay="0"/>
                                          </p:stCondLst>
                                        </p:cTn>
                                        <p:tgtEl>
                                          <p:spTgt spid="24"/>
                                        </p:tgtEl>
                                        <p:attrNameLst>
                                          <p:attrName>style.visibility</p:attrName>
                                        </p:attrNameLst>
                                      </p:cBhvr>
                                      <p:to>
                                        <p:strVal val="hidden"/>
                                      </p:to>
                                    </p:set>
                                  </p:childTnLst>
                                </p:cTn>
                              </p:par>
                              <p:par>
                                <p:cTn id="84" presetID="53" presetClass="entr" presetSubtype="16" fill="hold" grpId="0" nodeType="withEffect">
                                  <p:stCondLst>
                                    <p:cond delay="0"/>
                                  </p:stCondLst>
                                  <p:childTnLst>
                                    <p:set>
                                      <p:cBhvr>
                                        <p:cTn id="85" dur="1" fill="hold">
                                          <p:stCondLst>
                                            <p:cond delay="0"/>
                                          </p:stCondLst>
                                        </p:cTn>
                                        <p:tgtEl>
                                          <p:spTgt spid="17"/>
                                        </p:tgtEl>
                                        <p:attrNameLst>
                                          <p:attrName>style.visibility</p:attrName>
                                        </p:attrNameLst>
                                      </p:cBhvr>
                                      <p:to>
                                        <p:strVal val="visible"/>
                                      </p:to>
                                    </p:set>
                                    <p:anim calcmode="lin" valueType="num">
                                      <p:cBhvr>
                                        <p:cTn id="86" dur="500" fill="hold"/>
                                        <p:tgtEl>
                                          <p:spTgt spid="17"/>
                                        </p:tgtEl>
                                        <p:attrNameLst>
                                          <p:attrName>ppt_w</p:attrName>
                                        </p:attrNameLst>
                                      </p:cBhvr>
                                      <p:tavLst>
                                        <p:tav tm="0">
                                          <p:val>
                                            <p:fltVal val="0"/>
                                          </p:val>
                                        </p:tav>
                                        <p:tav tm="100000">
                                          <p:val>
                                            <p:strVal val="#ppt_w"/>
                                          </p:val>
                                        </p:tav>
                                      </p:tavLst>
                                    </p:anim>
                                    <p:anim calcmode="lin" valueType="num">
                                      <p:cBhvr>
                                        <p:cTn id="87" dur="500" fill="hold"/>
                                        <p:tgtEl>
                                          <p:spTgt spid="17"/>
                                        </p:tgtEl>
                                        <p:attrNameLst>
                                          <p:attrName>ppt_h</p:attrName>
                                        </p:attrNameLst>
                                      </p:cBhvr>
                                      <p:tavLst>
                                        <p:tav tm="0">
                                          <p:val>
                                            <p:fltVal val="0"/>
                                          </p:val>
                                        </p:tav>
                                        <p:tav tm="100000">
                                          <p:val>
                                            <p:strVal val="#ppt_h"/>
                                          </p:val>
                                        </p:tav>
                                      </p:tavLst>
                                    </p:anim>
                                    <p:animEffect transition="in" filter="fade">
                                      <p:cBhvr>
                                        <p:cTn id="88" dur="500"/>
                                        <p:tgtEl>
                                          <p:spTgt spid="17"/>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p:cTn id="91" dur="500" fill="hold"/>
                                        <p:tgtEl>
                                          <p:spTgt spid="19"/>
                                        </p:tgtEl>
                                        <p:attrNameLst>
                                          <p:attrName>ppt_w</p:attrName>
                                        </p:attrNameLst>
                                      </p:cBhvr>
                                      <p:tavLst>
                                        <p:tav tm="0">
                                          <p:val>
                                            <p:fltVal val="0"/>
                                          </p:val>
                                        </p:tav>
                                        <p:tav tm="100000">
                                          <p:val>
                                            <p:strVal val="#ppt_w"/>
                                          </p:val>
                                        </p:tav>
                                      </p:tavLst>
                                    </p:anim>
                                    <p:anim calcmode="lin" valueType="num">
                                      <p:cBhvr>
                                        <p:cTn id="92" dur="500" fill="hold"/>
                                        <p:tgtEl>
                                          <p:spTgt spid="19"/>
                                        </p:tgtEl>
                                        <p:attrNameLst>
                                          <p:attrName>ppt_h</p:attrName>
                                        </p:attrNameLst>
                                      </p:cBhvr>
                                      <p:tavLst>
                                        <p:tav tm="0">
                                          <p:val>
                                            <p:fltVal val="0"/>
                                          </p:val>
                                        </p:tav>
                                        <p:tav tm="100000">
                                          <p:val>
                                            <p:strVal val="#ppt_h"/>
                                          </p:val>
                                        </p:tav>
                                      </p:tavLst>
                                    </p:anim>
                                    <p:animEffect transition="in" filter="fade">
                                      <p:cBhvr>
                                        <p:cTn id="93" dur="500"/>
                                        <p:tgtEl>
                                          <p:spTgt spid="19"/>
                                        </p:tgtEl>
                                      </p:cBhvr>
                                    </p:animEffect>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4"/>
                                        </p:tgtEl>
                                        <p:attrNameLst>
                                          <p:attrName>style.visibility</p:attrName>
                                        </p:attrNameLst>
                                      </p:cBhvr>
                                      <p:to>
                                        <p:strVal val="visible"/>
                                      </p:to>
                                    </p:set>
                                    <p:animEffect transition="in" filter="fade">
                                      <p:cBhvr>
                                        <p:cTn id="98" dur="1000"/>
                                        <p:tgtEl>
                                          <p:spTgt spid="14"/>
                                        </p:tgtEl>
                                      </p:cBhvr>
                                    </p:animEffect>
                                    <p:anim calcmode="lin" valueType="num">
                                      <p:cBhvr>
                                        <p:cTn id="99" dur="1000" fill="hold"/>
                                        <p:tgtEl>
                                          <p:spTgt spid="14"/>
                                        </p:tgtEl>
                                        <p:attrNameLst>
                                          <p:attrName>ppt_x</p:attrName>
                                        </p:attrNameLst>
                                      </p:cBhvr>
                                      <p:tavLst>
                                        <p:tav tm="0">
                                          <p:val>
                                            <p:strVal val="#ppt_x"/>
                                          </p:val>
                                        </p:tav>
                                        <p:tav tm="100000">
                                          <p:val>
                                            <p:strVal val="#ppt_x"/>
                                          </p:val>
                                        </p:tav>
                                      </p:tavLst>
                                    </p:anim>
                                    <p:anim calcmode="lin" valueType="num">
                                      <p:cBhvr>
                                        <p:cTn id="100" dur="1000" fill="hold"/>
                                        <p:tgtEl>
                                          <p:spTgt spid="14"/>
                                        </p:tgtEl>
                                        <p:attrNameLst>
                                          <p:attrName>ppt_y</p:attrName>
                                        </p:attrNameLst>
                                      </p:cBhvr>
                                      <p:tavLst>
                                        <p:tav tm="0">
                                          <p:val>
                                            <p:strVal val="#ppt_y+.1"/>
                                          </p:val>
                                        </p:tav>
                                        <p:tav tm="100000">
                                          <p:val>
                                            <p:strVal val="#ppt_y"/>
                                          </p:val>
                                        </p:tav>
                                      </p:tavLst>
                                    </p:anim>
                                  </p:childTnLst>
                                </p:cTn>
                              </p:par>
                              <p:par>
                                <p:cTn id="101" presetID="10" presetClass="entr" presetSubtype="0" fill="hold" grpId="0" nodeType="withEffect">
                                  <p:stCondLst>
                                    <p:cond delay="500"/>
                                  </p:stCondLst>
                                  <p:childTnLst>
                                    <p:set>
                                      <p:cBhvr>
                                        <p:cTn id="102" dur="1" fill="hold">
                                          <p:stCondLst>
                                            <p:cond delay="0"/>
                                          </p:stCondLst>
                                        </p:cTn>
                                        <p:tgtEl>
                                          <p:spTgt spid="3"/>
                                        </p:tgtEl>
                                        <p:attrNameLst>
                                          <p:attrName>style.visibility</p:attrName>
                                        </p:attrNameLst>
                                      </p:cBhvr>
                                      <p:to>
                                        <p:strVal val="visible"/>
                                      </p:to>
                                    </p:set>
                                    <p:animEffect transition="in" filter="fade">
                                      <p:cBhvr>
                                        <p:cTn id="10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animBg="1"/>
      <p:bldP spid="10" grpId="1" animBg="1"/>
      <p:bldP spid="11" grpId="0" animBg="1"/>
      <p:bldP spid="11" grpId="1" animBg="1"/>
      <p:bldP spid="12" grpId="0" animBg="1"/>
      <p:bldP spid="12" grpId="1" animBg="1"/>
      <p:bldP spid="7" grpId="0"/>
      <p:bldP spid="14" grpId="0" animBg="1"/>
      <p:bldP spid="20" grpId="0" animBg="1"/>
      <p:bldP spid="20" grpId="1" animBg="1"/>
      <p:bldP spid="21" grpId="0" animBg="1"/>
      <p:bldP spid="21" grpId="1" animBg="1"/>
      <p:bldP spid="24" grpId="0" animBg="1"/>
      <p:bldP spid="24" grpId="1" animBg="1"/>
      <p:bldP spid="3" grpId="0" animBg="1"/>
      <p:bldP spid="5" grpId="0" animBg="1"/>
      <p:bldP spid="5" grpId="1" animBg="1"/>
      <p:bldP spid="8" grpId="0" animBg="1"/>
      <p:bldP spid="8" grpId="1" animBg="1"/>
      <p:bldP spid="17"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CA914-D397-34FA-6B7D-C4E962684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79B69-4F17-2383-CB93-F8E35A80365C}"/>
              </a:ext>
            </a:extLst>
          </p:cNvPr>
          <p:cNvSpPr>
            <a:spLocks noGrp="1"/>
          </p:cNvSpPr>
          <p:nvPr>
            <p:ph type="title"/>
          </p:nvPr>
        </p:nvSpPr>
        <p:spPr>
          <a:xfrm>
            <a:off x="598184" y="127623"/>
            <a:ext cx="10515600" cy="709403"/>
          </a:xfrm>
        </p:spPr>
        <p:txBody>
          <a:bodyPr vert="horz" lIns="91440" tIns="45720" rIns="91440" bIns="45720" rtlCol="0" anchor="t">
            <a:noAutofit/>
          </a:bodyPr>
          <a:lstStyle/>
          <a:p>
            <a:pPr algn="ctr"/>
            <a:r>
              <a:rPr lang="en-US" sz="4800">
                <a:latin typeface="Arial"/>
                <a:cs typeface="Arial"/>
              </a:rPr>
              <a:t>What powers the solution?</a:t>
            </a:r>
            <a:endParaRPr lang="en-US" sz="4800"/>
          </a:p>
        </p:txBody>
      </p:sp>
      <p:pic>
        <p:nvPicPr>
          <p:cNvPr id="5" name="Picture 4" descr="A map with lines and dots&#10;&#10;AI-generated content may be incorrect.">
            <a:extLst>
              <a:ext uri="{FF2B5EF4-FFF2-40B4-BE49-F238E27FC236}">
                <a16:creationId xmlns:a16="http://schemas.microsoft.com/office/drawing/2014/main" id="{529E086F-6781-19B2-5AEF-1E6A163E0DEE}"/>
              </a:ext>
            </a:extLst>
          </p:cNvPr>
          <p:cNvPicPr>
            <a:picLocks noChangeAspect="1"/>
          </p:cNvPicPr>
          <p:nvPr/>
        </p:nvPicPr>
        <p:blipFill>
          <a:blip r:embed="rId3"/>
          <a:stretch>
            <a:fillRect/>
          </a:stretch>
        </p:blipFill>
        <p:spPr>
          <a:xfrm>
            <a:off x="4996659" y="1911676"/>
            <a:ext cx="6101934" cy="4019972"/>
          </a:xfrm>
          <a:prstGeom prst="rect">
            <a:avLst/>
          </a:prstGeom>
        </p:spPr>
      </p:pic>
      <p:pic>
        <p:nvPicPr>
          <p:cNvPr id="7" name="Picture 6" descr="A map of the united states with red circles and green dots&#10;&#10;AI-generated content may be incorrect.">
            <a:extLst>
              <a:ext uri="{FF2B5EF4-FFF2-40B4-BE49-F238E27FC236}">
                <a16:creationId xmlns:a16="http://schemas.microsoft.com/office/drawing/2014/main" id="{0BBF0A8F-DEAB-72C2-1809-FE226ACD505D}"/>
              </a:ext>
            </a:extLst>
          </p:cNvPr>
          <p:cNvPicPr>
            <a:picLocks noChangeAspect="1"/>
          </p:cNvPicPr>
          <p:nvPr/>
        </p:nvPicPr>
        <p:blipFill>
          <a:blip r:embed="rId4"/>
          <a:stretch>
            <a:fillRect/>
          </a:stretch>
        </p:blipFill>
        <p:spPr>
          <a:xfrm>
            <a:off x="4995345" y="1916122"/>
            <a:ext cx="6093300" cy="4014111"/>
          </a:xfrm>
          <a:prstGeom prst="rect">
            <a:avLst/>
          </a:prstGeom>
        </p:spPr>
      </p:pic>
      <p:graphicFrame>
        <p:nvGraphicFramePr>
          <p:cNvPr id="4" name="Content Placeholder 2">
            <a:extLst>
              <a:ext uri="{FF2B5EF4-FFF2-40B4-BE49-F238E27FC236}">
                <a16:creationId xmlns:a16="http://schemas.microsoft.com/office/drawing/2014/main" id="{E0361F1B-3DEF-E24E-D93B-A309A6143F33}"/>
              </a:ext>
            </a:extLst>
          </p:cNvPr>
          <p:cNvGraphicFramePr/>
          <p:nvPr>
            <p:extLst>
              <p:ext uri="{D42A27DB-BD31-4B8C-83A1-F6EECF244321}">
                <p14:modId xmlns:p14="http://schemas.microsoft.com/office/powerpoint/2010/main" val="1667087686"/>
              </p:ext>
            </p:extLst>
          </p:nvPr>
        </p:nvGraphicFramePr>
        <p:xfrm>
          <a:off x="733207" y="2083082"/>
          <a:ext cx="3300497" cy="31139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7" name="TextBox 86">
            <a:extLst>
              <a:ext uri="{FF2B5EF4-FFF2-40B4-BE49-F238E27FC236}">
                <a16:creationId xmlns:a16="http://schemas.microsoft.com/office/drawing/2014/main" id="{53840243-F4AE-4623-198C-E695F4AF7448}"/>
              </a:ext>
            </a:extLst>
          </p:cNvPr>
          <p:cNvSpPr txBox="1"/>
          <p:nvPr/>
        </p:nvSpPr>
        <p:spPr>
          <a:xfrm>
            <a:off x="678417" y="2237118"/>
            <a:ext cx="3937651" cy="3539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b="1">
                <a:latin typeface="Arial"/>
                <a:cs typeface="Arial"/>
              </a:rPr>
              <a:t>LINEAR PROGRAMMING RULES:</a:t>
            </a:r>
          </a:p>
        </p:txBody>
      </p:sp>
      <p:sp>
        <p:nvSpPr>
          <p:cNvPr id="43" name="TextBox 42">
            <a:extLst>
              <a:ext uri="{FF2B5EF4-FFF2-40B4-BE49-F238E27FC236}">
                <a16:creationId xmlns:a16="http://schemas.microsoft.com/office/drawing/2014/main" id="{5DBFA414-05C8-6B0D-F7A1-7821CCB3B040}"/>
              </a:ext>
            </a:extLst>
          </p:cNvPr>
          <p:cNvSpPr txBox="1"/>
          <p:nvPr/>
        </p:nvSpPr>
        <p:spPr>
          <a:xfrm>
            <a:off x="2344995" y="1012770"/>
            <a:ext cx="7501795" cy="58477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Arial"/>
                <a:cs typeface="Arial"/>
              </a:rPr>
              <a:t>The Purpose:</a:t>
            </a:r>
            <a:r>
              <a:rPr lang="en-US" sz="1600">
                <a:latin typeface="Arial"/>
                <a:cs typeface="Arial"/>
              </a:rPr>
              <a:t> </a:t>
            </a:r>
            <a:r>
              <a:rPr lang="en-US" sz="1600">
                <a:solidFill>
                  <a:srgbClr val="000000"/>
                </a:solidFill>
                <a:latin typeface="Arial"/>
                <a:ea typeface="+mn-lt"/>
                <a:cs typeface="Arial"/>
              </a:rPr>
              <a:t>Assigning the right adjusters to the right claims at the right time </a:t>
            </a:r>
            <a:endParaRPr lang="en-US" sz="1600">
              <a:latin typeface="Arial"/>
              <a:cs typeface="Arial"/>
            </a:endParaRPr>
          </a:p>
          <a:p>
            <a:pPr algn="ctr"/>
            <a:r>
              <a:rPr lang="en-US" sz="1600" b="1">
                <a:solidFill>
                  <a:srgbClr val="000000"/>
                </a:solidFill>
                <a:latin typeface="Arial"/>
                <a:cs typeface="Arial"/>
              </a:rPr>
              <a:t>The Impact:</a:t>
            </a:r>
            <a:r>
              <a:rPr lang="en-US" sz="1600">
                <a:solidFill>
                  <a:srgbClr val="000000"/>
                </a:solidFill>
                <a:latin typeface="Arial"/>
                <a:cs typeface="Arial"/>
              </a:rPr>
              <a:t> </a:t>
            </a:r>
            <a:r>
              <a:rPr lang="en-US" sz="1600">
                <a:solidFill>
                  <a:srgbClr val="000000"/>
                </a:solidFill>
                <a:latin typeface="Arial"/>
                <a:ea typeface="+mn-lt"/>
                <a:cs typeface="Arial"/>
              </a:rPr>
              <a:t>Minimize waste of resources, save on cost and time</a:t>
            </a:r>
            <a:endParaRPr lang="en-US" sz="1600">
              <a:solidFill>
                <a:srgbClr val="000000"/>
              </a:solidFill>
              <a:latin typeface="Arial"/>
              <a:cs typeface="Arial"/>
            </a:endParaRPr>
          </a:p>
        </p:txBody>
      </p:sp>
      <p:pic>
        <p:nvPicPr>
          <p:cNvPr id="16" name="Picture 15" descr="A map of the united states with red and green circles&#10;&#10;AI-generated content may be incorrect.">
            <a:extLst>
              <a:ext uri="{FF2B5EF4-FFF2-40B4-BE49-F238E27FC236}">
                <a16:creationId xmlns:a16="http://schemas.microsoft.com/office/drawing/2014/main" id="{0D793B95-39BA-3FAF-15B1-F697FFBE1565}"/>
              </a:ext>
            </a:extLst>
          </p:cNvPr>
          <p:cNvPicPr>
            <a:picLocks noChangeAspect="1"/>
          </p:cNvPicPr>
          <p:nvPr/>
        </p:nvPicPr>
        <p:blipFill>
          <a:blip r:embed="rId10"/>
          <a:stretch>
            <a:fillRect/>
          </a:stretch>
        </p:blipFill>
        <p:spPr>
          <a:xfrm>
            <a:off x="4993857" y="1914357"/>
            <a:ext cx="6133330" cy="4051319"/>
          </a:xfrm>
          <a:prstGeom prst="rect">
            <a:avLst/>
          </a:prstGeom>
        </p:spPr>
      </p:pic>
      <p:sp>
        <p:nvSpPr>
          <p:cNvPr id="6" name="Slide Number Placeholder 5">
            <a:extLst>
              <a:ext uri="{FF2B5EF4-FFF2-40B4-BE49-F238E27FC236}">
                <a16:creationId xmlns:a16="http://schemas.microsoft.com/office/drawing/2014/main" id="{A1682C3E-36D2-BC09-8017-01E431B1C504}"/>
              </a:ext>
            </a:extLst>
          </p:cNvPr>
          <p:cNvSpPr>
            <a:spLocks noGrp="1"/>
          </p:cNvSpPr>
          <p:nvPr>
            <p:ph type="sldNum" sz="quarter" idx="13"/>
          </p:nvPr>
        </p:nvSpPr>
        <p:spPr/>
        <p:txBody>
          <a:bodyPr/>
          <a:lstStyle/>
          <a:p>
            <a:fld id="{CC057153-B650-4DEB-B370-79DDCFDCE934}" type="slidenum">
              <a:rPr lang="en-US" sz="1600" smtClean="0">
                <a:latin typeface="Avenir Medium"/>
              </a:rPr>
              <a:t>6</a:t>
            </a:fld>
            <a:endParaRPr lang="en-US" sz="1600">
              <a:latin typeface="Avenir Medium"/>
            </a:endParaRPr>
          </a:p>
        </p:txBody>
      </p:sp>
      <p:sp>
        <p:nvSpPr>
          <p:cNvPr id="18" name="Rectangle: Rounded Corners 17">
            <a:extLst>
              <a:ext uri="{FF2B5EF4-FFF2-40B4-BE49-F238E27FC236}">
                <a16:creationId xmlns:a16="http://schemas.microsoft.com/office/drawing/2014/main" id="{35CBA8E7-836A-3B39-A30A-F6021F6278EF}"/>
              </a:ext>
            </a:extLst>
          </p:cNvPr>
          <p:cNvSpPr/>
          <p:nvPr/>
        </p:nvSpPr>
        <p:spPr>
          <a:xfrm rot="20940000">
            <a:off x="9292479" y="2952835"/>
            <a:ext cx="627680" cy="1532195"/>
          </a:xfrm>
          <a:prstGeom prst="roundRect">
            <a:avLst/>
          </a:prstGeom>
          <a:noFill/>
          <a:ln w="28575">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18A0DF04-EE98-861F-C3DE-893CFABAD1D2}"/>
              </a:ext>
            </a:extLst>
          </p:cNvPr>
          <p:cNvSpPr/>
          <p:nvPr/>
        </p:nvSpPr>
        <p:spPr>
          <a:xfrm rot="3540000">
            <a:off x="7892282" y="2290984"/>
            <a:ext cx="711571" cy="3433700"/>
          </a:xfrm>
          <a:prstGeom prst="round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D6C23BD7-3013-3442-B902-1F40923C3B0F}"/>
              </a:ext>
            </a:extLst>
          </p:cNvPr>
          <p:cNvSpPr/>
          <p:nvPr/>
        </p:nvSpPr>
        <p:spPr>
          <a:xfrm rot="360000">
            <a:off x="9052358" y="2965978"/>
            <a:ext cx="648654" cy="2091459"/>
          </a:xfrm>
          <a:prstGeom prst="roundRect">
            <a:avLst/>
          </a:prstGeom>
          <a:noFill/>
          <a:ln w="28575">
            <a:solidFill>
              <a:srgbClr val="00B05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descr="Close with solid fill">
            <a:extLst>
              <a:ext uri="{FF2B5EF4-FFF2-40B4-BE49-F238E27FC236}">
                <a16:creationId xmlns:a16="http://schemas.microsoft.com/office/drawing/2014/main" id="{FBE4520A-D89D-DA6A-1A51-BFA69973CD0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042495" y="2644215"/>
            <a:ext cx="458049" cy="458049"/>
          </a:xfrm>
          <a:prstGeom prst="rect">
            <a:avLst/>
          </a:prstGeom>
        </p:spPr>
      </p:pic>
      <p:pic>
        <p:nvPicPr>
          <p:cNvPr id="8" name="Graphic 7" descr="Checkmark with solid fill">
            <a:extLst>
              <a:ext uri="{FF2B5EF4-FFF2-40B4-BE49-F238E27FC236}">
                <a16:creationId xmlns:a16="http://schemas.microsoft.com/office/drawing/2014/main" id="{B0B850D1-5D4D-DFAD-FFD4-BB87E27DC8C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089692" y="3182015"/>
            <a:ext cx="458048" cy="458048"/>
          </a:xfrm>
          <a:prstGeom prst="rect">
            <a:avLst/>
          </a:prstGeom>
        </p:spPr>
      </p:pic>
      <p:pic>
        <p:nvPicPr>
          <p:cNvPr id="9" name="Graphic 8" descr="Checkmark with solid fill">
            <a:extLst>
              <a:ext uri="{FF2B5EF4-FFF2-40B4-BE49-F238E27FC236}">
                <a16:creationId xmlns:a16="http://schemas.microsoft.com/office/drawing/2014/main" id="{E42E5F4B-4F05-49FB-AEA1-6F62156A84D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095862" y="3199976"/>
            <a:ext cx="458048" cy="458048"/>
          </a:xfrm>
          <a:prstGeom prst="rect">
            <a:avLst/>
          </a:prstGeom>
        </p:spPr>
      </p:pic>
      <p:pic>
        <p:nvPicPr>
          <p:cNvPr id="12" name="Graphic 11" descr="Checkmark with solid fill">
            <a:extLst>
              <a:ext uri="{FF2B5EF4-FFF2-40B4-BE49-F238E27FC236}">
                <a16:creationId xmlns:a16="http://schemas.microsoft.com/office/drawing/2014/main" id="{CE7520C9-4528-2CE8-C8A2-A71CB72B4B4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083727" y="2655400"/>
            <a:ext cx="458048" cy="458048"/>
          </a:xfrm>
          <a:prstGeom prst="rect">
            <a:avLst/>
          </a:prstGeom>
        </p:spPr>
      </p:pic>
      <p:pic>
        <p:nvPicPr>
          <p:cNvPr id="13" name="Graphic 12" descr="Close with solid fill">
            <a:extLst>
              <a:ext uri="{FF2B5EF4-FFF2-40B4-BE49-F238E27FC236}">
                <a16:creationId xmlns:a16="http://schemas.microsoft.com/office/drawing/2014/main" id="{58FD6987-4C67-98C5-F24F-C025A0656E2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068968" y="3166603"/>
            <a:ext cx="458049" cy="458049"/>
          </a:xfrm>
          <a:prstGeom prst="rect">
            <a:avLst/>
          </a:prstGeom>
        </p:spPr>
      </p:pic>
      <p:pic>
        <p:nvPicPr>
          <p:cNvPr id="14" name="Graphic 13" descr="Checkmark with solid fill">
            <a:extLst>
              <a:ext uri="{FF2B5EF4-FFF2-40B4-BE49-F238E27FC236}">
                <a16:creationId xmlns:a16="http://schemas.microsoft.com/office/drawing/2014/main" id="{8351B763-0B54-57D9-2C60-CA37C1AC54A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089692" y="2655400"/>
            <a:ext cx="458048" cy="458048"/>
          </a:xfrm>
          <a:prstGeom prst="rect">
            <a:avLst/>
          </a:prstGeom>
        </p:spPr>
      </p:pic>
    </p:spTree>
    <p:extLst>
      <p:ext uri="{BB962C8B-B14F-4D97-AF65-F5344CB8AC3E}">
        <p14:creationId xmlns:p14="http://schemas.microsoft.com/office/powerpoint/2010/main" val="323214245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ppt_x"/>
                                          </p:val>
                                        </p:tav>
                                        <p:tav tm="100000">
                                          <p:val>
                                            <p:strVal val="#ppt_x"/>
                                          </p:val>
                                        </p:tav>
                                      </p:tavLst>
                                    </p:anim>
                                    <p:anim calcmode="lin" valueType="num">
                                      <p:cBhvr additive="base">
                                        <p:cTn id="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p:tgtEl>
                                          <p:spTgt spid="16"/>
                                        </p:tgtEl>
                                        <p:attrNameLst>
                                          <p:attrName>ppt_y</p:attrName>
                                        </p:attrNameLst>
                                      </p:cBhvr>
                                      <p:tavLst>
                                        <p:tav tm="0">
                                          <p:val>
                                            <p:strVal val="#ppt_y+#ppt_h*1.125000"/>
                                          </p:val>
                                        </p:tav>
                                        <p:tav tm="100000">
                                          <p:val>
                                            <p:strVal val="#ppt_y"/>
                                          </p:val>
                                        </p:tav>
                                      </p:tavLst>
                                    </p:anim>
                                    <p:animEffect transition="in" filter="wipe(up)">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nodeType="clickEffect">
                                  <p:stCondLst>
                                    <p:cond delay="0"/>
                                  </p:stCondLst>
                                  <p:childTnLst>
                                    <p:animEffect transition="out" filter="fade">
                                      <p:cBhvr>
                                        <p:cTn id="18" dur="500"/>
                                        <p:tgtEl>
                                          <p:spTgt spid="16"/>
                                        </p:tgtEl>
                                      </p:cBhvr>
                                    </p:animEffect>
                                    <p:set>
                                      <p:cBhvr>
                                        <p:cTn id="19" dur="1" fill="hold">
                                          <p:stCondLst>
                                            <p:cond delay="499"/>
                                          </p:stCondLst>
                                        </p:cTn>
                                        <p:tgtEl>
                                          <p:spTgt spid="16"/>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xit" presetSubtype="21" fill="hold" nodeType="clickEffect">
                                  <p:stCondLst>
                                    <p:cond delay="0"/>
                                  </p:stCondLst>
                                  <p:childTnLst>
                                    <p:animEffect transition="out" filter="barn(inVertical)">
                                      <p:cBhvr>
                                        <p:cTn id="36" dur="500"/>
                                        <p:tgtEl>
                                          <p:spTgt spid="5"/>
                                        </p:tgtEl>
                                      </p:cBhvr>
                                    </p:animEffect>
                                    <p:set>
                                      <p:cBhvr>
                                        <p:cTn id="37" dur="1" fill="hold">
                                          <p:stCondLst>
                                            <p:cond delay="499"/>
                                          </p:stCondLst>
                                        </p:cTn>
                                        <p:tgtEl>
                                          <p:spTgt spid="5"/>
                                        </p:tgtEl>
                                        <p:attrNameLst>
                                          <p:attrName>style.visibility</p:attrName>
                                        </p:attrNameLst>
                                      </p:cBhvr>
                                      <p:to>
                                        <p:strVal val="hidden"/>
                                      </p:to>
                                    </p:set>
                                  </p:childTnLst>
                                </p:cTn>
                              </p:par>
                              <p:par>
                                <p:cTn id="38" presetID="16" presetClass="entr" presetSubtype="21" fill="hold"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barn(inVertical)">
                                      <p:cBhvr>
                                        <p:cTn id="40" dur="5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18"/>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3"/>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8"/>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25"/>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12"/>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13"/>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0" presetClass="exit" presetSubtype="0" fill="hold" grpId="1" nodeType="clickEffect">
                                  <p:stCondLst>
                                    <p:cond delay="0"/>
                                  </p:stCondLst>
                                  <p:childTnLst>
                                    <p:animEffect transition="out" filter="fade">
                                      <p:cBhvr>
                                        <p:cTn id="92" dur="500"/>
                                        <p:tgtEl>
                                          <p:spTgt spid="27"/>
                                        </p:tgtEl>
                                      </p:cBhvr>
                                    </p:animEffect>
                                    <p:set>
                                      <p:cBhvr>
                                        <p:cTn id="93" dur="1" fill="hold">
                                          <p:stCondLst>
                                            <p:cond delay="499"/>
                                          </p:stCondLst>
                                        </p:cTn>
                                        <p:tgtEl>
                                          <p:spTgt spid="27"/>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9"/>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14"/>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500"/>
                                        <p:tgtEl>
                                          <p:spTgt spid="7"/>
                                        </p:tgtEl>
                                      </p:cBhvr>
                                    </p:animEffect>
                                    <p:set>
                                      <p:cBhvr>
                                        <p:cTn id="100" dur="1" fill="hold">
                                          <p:stCondLst>
                                            <p:cond delay="499"/>
                                          </p:stCondLst>
                                        </p:cTn>
                                        <p:tgtEl>
                                          <p:spTgt spid="7"/>
                                        </p:tgtEl>
                                        <p:attrNameLst>
                                          <p:attrName>style.visibility</p:attrName>
                                        </p:attrNameLst>
                                      </p:cBhvr>
                                      <p:to>
                                        <p:strVal val="hidden"/>
                                      </p:to>
                                    </p:set>
                                  </p:childTnLst>
                                </p:cTn>
                              </p:par>
                              <p:par>
                                <p:cTn id="101" presetID="10" presetClass="entr" presetSubtype="0" fill="hold" nodeType="withEffect">
                                  <p:stCondLst>
                                    <p:cond delay="0"/>
                                  </p:stCondLst>
                                  <p:childTnLst>
                                    <p:set>
                                      <p:cBhvr>
                                        <p:cTn id="102" dur="1" fill="hold">
                                          <p:stCondLst>
                                            <p:cond delay="0"/>
                                          </p:stCondLst>
                                        </p:cTn>
                                        <p:tgtEl>
                                          <p:spTgt spid="5"/>
                                        </p:tgtEl>
                                        <p:attrNameLst>
                                          <p:attrName>style.visibility</p:attrName>
                                        </p:attrNameLst>
                                      </p:cBhvr>
                                      <p:to>
                                        <p:strVal val="visible"/>
                                      </p:to>
                                    </p:set>
                                    <p:animEffect transition="in" filter="fade">
                                      <p:cBhvr>
                                        <p:cTn id="103" dur="500"/>
                                        <p:tgtEl>
                                          <p:spTgt spid="5"/>
                                        </p:tgtEl>
                                      </p:cBhvr>
                                    </p:animEffect>
                                  </p:childTnLst>
                                </p:cTn>
                              </p:par>
                            </p:childTnLst>
                          </p:cTn>
                        </p:par>
                      </p:childTnLst>
                    </p:cTn>
                  </p:par>
                  <p:par>
                    <p:cTn id="104" fill="hold">
                      <p:stCondLst>
                        <p:cond delay="indefinite"/>
                      </p:stCondLst>
                      <p:childTnLst>
                        <p:par>
                          <p:cTn id="105" fill="hold">
                            <p:stCondLst>
                              <p:cond delay="0"/>
                            </p:stCondLst>
                            <p:childTnLst>
                              <p:par>
                                <p:cTn id="106" presetID="2" presetClass="exit" presetSubtype="4" fill="hold" grpId="1" nodeType="clickEffect">
                                  <p:stCondLst>
                                    <p:cond delay="0"/>
                                  </p:stCondLst>
                                  <p:childTnLst>
                                    <p:anim calcmode="lin" valueType="num">
                                      <p:cBhvr additive="base">
                                        <p:cTn id="107" dur="500"/>
                                        <p:tgtEl>
                                          <p:spTgt spid="4"/>
                                        </p:tgtEl>
                                        <p:attrNameLst>
                                          <p:attrName>ppt_x</p:attrName>
                                        </p:attrNameLst>
                                      </p:cBhvr>
                                      <p:tavLst>
                                        <p:tav tm="0">
                                          <p:val>
                                            <p:strVal val="ppt_x"/>
                                          </p:val>
                                        </p:tav>
                                        <p:tav tm="100000">
                                          <p:val>
                                            <p:strVal val="ppt_x"/>
                                          </p:val>
                                        </p:tav>
                                      </p:tavLst>
                                    </p:anim>
                                    <p:anim calcmode="lin" valueType="num">
                                      <p:cBhvr additive="base">
                                        <p:cTn id="108" dur="500"/>
                                        <p:tgtEl>
                                          <p:spTgt spid="4"/>
                                        </p:tgtEl>
                                        <p:attrNameLst>
                                          <p:attrName>ppt_y</p:attrName>
                                        </p:attrNameLst>
                                      </p:cBhvr>
                                      <p:tavLst>
                                        <p:tav tm="0">
                                          <p:val>
                                            <p:strVal val="ppt_y"/>
                                          </p:val>
                                        </p:tav>
                                        <p:tav tm="100000">
                                          <p:val>
                                            <p:strVal val="1+ppt_h/2"/>
                                          </p:val>
                                        </p:tav>
                                      </p:tavLst>
                                    </p:anim>
                                    <p:set>
                                      <p:cBhvr>
                                        <p:cTn id="109" dur="1" fill="hold">
                                          <p:stCondLst>
                                            <p:cond delay="499"/>
                                          </p:stCondLst>
                                        </p:cTn>
                                        <p:tgtEl>
                                          <p:spTgt spid="4"/>
                                        </p:tgtEl>
                                        <p:attrNameLst>
                                          <p:attrName>style.visibility</p:attrName>
                                        </p:attrNameLst>
                                      </p:cBhvr>
                                      <p:to>
                                        <p:strVal val="hidden"/>
                                      </p:to>
                                    </p:set>
                                  </p:childTnLst>
                                </p:cTn>
                              </p:par>
                              <p:par>
                                <p:cTn id="110" presetID="2" presetClass="exit" presetSubtype="4" fill="hold" grpId="1" nodeType="withEffect">
                                  <p:stCondLst>
                                    <p:cond delay="0"/>
                                  </p:stCondLst>
                                  <p:childTnLst>
                                    <p:anim calcmode="lin" valueType="num">
                                      <p:cBhvr additive="base">
                                        <p:cTn id="111" dur="500"/>
                                        <p:tgtEl>
                                          <p:spTgt spid="87"/>
                                        </p:tgtEl>
                                        <p:attrNameLst>
                                          <p:attrName>ppt_x</p:attrName>
                                        </p:attrNameLst>
                                      </p:cBhvr>
                                      <p:tavLst>
                                        <p:tav tm="0">
                                          <p:val>
                                            <p:strVal val="ppt_x"/>
                                          </p:val>
                                        </p:tav>
                                        <p:tav tm="100000">
                                          <p:val>
                                            <p:strVal val="ppt_x"/>
                                          </p:val>
                                        </p:tav>
                                      </p:tavLst>
                                    </p:anim>
                                    <p:anim calcmode="lin" valueType="num">
                                      <p:cBhvr additive="base">
                                        <p:cTn id="112" dur="500"/>
                                        <p:tgtEl>
                                          <p:spTgt spid="87"/>
                                        </p:tgtEl>
                                        <p:attrNameLst>
                                          <p:attrName>ppt_y</p:attrName>
                                        </p:attrNameLst>
                                      </p:cBhvr>
                                      <p:tavLst>
                                        <p:tav tm="0">
                                          <p:val>
                                            <p:strVal val="ppt_y"/>
                                          </p:val>
                                        </p:tav>
                                        <p:tav tm="100000">
                                          <p:val>
                                            <p:strVal val="1+ppt_h/2"/>
                                          </p:val>
                                        </p:tav>
                                      </p:tavLst>
                                    </p:anim>
                                    <p:set>
                                      <p:cBhvr>
                                        <p:cTn id="113" dur="1" fill="hold">
                                          <p:stCondLst>
                                            <p:cond delay="499"/>
                                          </p:stCondLst>
                                        </p:cTn>
                                        <p:tgtEl>
                                          <p:spTgt spid="87"/>
                                        </p:tgtEl>
                                        <p:attrNameLst>
                                          <p:attrName>style.visibility</p:attrName>
                                        </p:attrNameLst>
                                      </p:cBhvr>
                                      <p:to>
                                        <p:strVal val="hidden"/>
                                      </p:to>
                                    </p:set>
                                  </p:childTnLst>
                                </p:cTn>
                              </p:par>
                              <p:par>
                                <p:cTn id="114" presetID="16" presetClass="exit" presetSubtype="21" fill="hold" nodeType="withEffect">
                                  <p:stCondLst>
                                    <p:cond delay="0"/>
                                  </p:stCondLst>
                                  <p:childTnLst>
                                    <p:animEffect transition="out" filter="barn(inVertical)">
                                      <p:cBhvr>
                                        <p:cTn id="115" dur="500"/>
                                        <p:tgtEl>
                                          <p:spTgt spid="5"/>
                                        </p:tgtEl>
                                      </p:cBhvr>
                                    </p:animEffect>
                                    <p:set>
                                      <p:cBhvr>
                                        <p:cTn id="116" dur="1" fill="hold">
                                          <p:stCondLst>
                                            <p:cond delay="499"/>
                                          </p:stCondLst>
                                        </p:cTn>
                                        <p:tgtEl>
                                          <p:spTgt spid="5"/>
                                        </p:tgtEl>
                                        <p:attrNameLst>
                                          <p:attrName>style.visibility</p:attrName>
                                        </p:attrNameLst>
                                      </p:cBhvr>
                                      <p:to>
                                        <p:strVal val="hidden"/>
                                      </p:to>
                                    </p:set>
                                  </p:childTnLst>
                                </p:cTn>
                              </p:par>
                              <p:par>
                                <p:cTn id="117" presetID="10" presetClass="exit" presetSubtype="0" fill="hold" grpId="1" nodeType="withEffect">
                                  <p:stCondLst>
                                    <p:cond delay="0"/>
                                  </p:stCondLst>
                                  <p:childTnLst>
                                    <p:animEffect transition="out" filter="fade">
                                      <p:cBhvr>
                                        <p:cTn id="118" dur="500"/>
                                        <p:tgtEl>
                                          <p:spTgt spid="43"/>
                                        </p:tgtEl>
                                      </p:cBhvr>
                                    </p:animEffect>
                                    <p:set>
                                      <p:cBhvr>
                                        <p:cTn id="119" dur="1" fill="hold">
                                          <p:stCondLst>
                                            <p:cond delay="499"/>
                                          </p:stCondLst>
                                        </p:cTn>
                                        <p:tgtEl>
                                          <p:spTgt spid="43"/>
                                        </p:tgtEl>
                                        <p:attrNameLst>
                                          <p:attrName>style.visibility</p:attrName>
                                        </p:attrNameLst>
                                      </p:cBhvr>
                                      <p:to>
                                        <p:strVal val="hidden"/>
                                      </p:to>
                                    </p:set>
                                  </p:childTnLst>
                                </p:cTn>
                              </p:par>
                              <p:par>
                                <p:cTn id="120" presetID="10" presetClass="exit" presetSubtype="0" fill="hold" grpId="0" nodeType="withEffect">
                                  <p:stCondLst>
                                    <p:cond delay="0"/>
                                  </p:stCondLst>
                                  <p:childTnLst>
                                    <p:animEffect transition="out" filter="fade">
                                      <p:cBhvr>
                                        <p:cTn id="121" dur="500"/>
                                        <p:tgtEl>
                                          <p:spTgt spid="2"/>
                                        </p:tgtEl>
                                      </p:cBhvr>
                                    </p:animEffect>
                                    <p:set>
                                      <p:cBhvr>
                                        <p:cTn id="122"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4" grpId="0">
        <p:bldAsOne/>
      </p:bldGraphic>
      <p:bldGraphic spid="4" grpId="1">
        <p:bldAsOne/>
      </p:bldGraphic>
      <p:bldP spid="87" grpId="0"/>
      <p:bldP spid="87" grpId="1"/>
      <p:bldP spid="43" grpId="0" animBg="1"/>
      <p:bldP spid="43" grpId="1" animBg="1"/>
      <p:bldP spid="18" grpId="0" animBg="1"/>
      <p:bldP spid="18" grpId="1" animBg="1"/>
      <p:bldP spid="25" grpId="0" animBg="1"/>
      <p:bldP spid="25" grpId="1" animBg="1"/>
      <p:bldP spid="27" grpId="0" animBg="1"/>
      <p:bldP spid="27"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4C6A4-FEDA-50AD-DAE8-6F855A3BC861}"/>
              </a:ext>
            </a:extLst>
          </p:cNvPr>
          <p:cNvSpPr>
            <a:spLocks noGrp="1"/>
          </p:cNvSpPr>
          <p:nvPr>
            <p:ph type="title"/>
          </p:nvPr>
        </p:nvSpPr>
        <p:spPr>
          <a:xfrm>
            <a:off x="734448" y="167374"/>
            <a:ext cx="10515600" cy="793393"/>
          </a:xfrm>
        </p:spPr>
        <p:txBody>
          <a:bodyPr>
            <a:normAutofit/>
          </a:bodyPr>
          <a:lstStyle/>
          <a:p>
            <a:pPr algn="ctr"/>
            <a:r>
              <a:rPr lang="en-US" sz="4800">
                <a:latin typeface="Arial"/>
                <a:cs typeface="Arial"/>
              </a:rPr>
              <a:t>Optimized Travel Routes</a:t>
            </a:r>
            <a:endParaRPr lang="en-US" sz="4800"/>
          </a:p>
        </p:txBody>
      </p:sp>
      <p:pic>
        <p:nvPicPr>
          <p:cNvPr id="9" name="Content Placeholder 8" descr="A map with a line going through it&#10;&#10;AI-generated content may be incorrect.">
            <a:extLst>
              <a:ext uri="{FF2B5EF4-FFF2-40B4-BE49-F238E27FC236}">
                <a16:creationId xmlns:a16="http://schemas.microsoft.com/office/drawing/2014/main" id="{EDBD750C-A641-06A4-18BA-EB5113543F0D}"/>
              </a:ext>
            </a:extLst>
          </p:cNvPr>
          <p:cNvPicPr>
            <a:picLocks noGrp="1" noChangeAspect="1"/>
          </p:cNvPicPr>
          <p:nvPr>
            <p:ph sz="quarter" idx="10"/>
          </p:nvPr>
        </p:nvPicPr>
        <p:blipFill>
          <a:blip r:embed="rId2"/>
          <a:stretch>
            <a:fillRect/>
          </a:stretch>
        </p:blipFill>
        <p:spPr>
          <a:xfrm>
            <a:off x="734448" y="2875481"/>
            <a:ext cx="3699701" cy="2715453"/>
          </a:xfrm>
          <a:prstGeom prst="rect">
            <a:avLst/>
          </a:prstGeom>
          <a:ln w="12700">
            <a:solidFill>
              <a:schemeClr val="tx1"/>
            </a:solidFill>
          </a:ln>
        </p:spPr>
      </p:pic>
      <p:sp>
        <p:nvSpPr>
          <p:cNvPr id="4" name="Slide Number Placeholder 3">
            <a:extLst>
              <a:ext uri="{FF2B5EF4-FFF2-40B4-BE49-F238E27FC236}">
                <a16:creationId xmlns:a16="http://schemas.microsoft.com/office/drawing/2014/main" id="{C6C04373-DA35-2D5F-A2D8-CC72389BDB3E}"/>
              </a:ext>
            </a:extLst>
          </p:cNvPr>
          <p:cNvSpPr>
            <a:spLocks noGrp="1"/>
          </p:cNvSpPr>
          <p:nvPr>
            <p:ph type="sldNum" sz="quarter" idx="13"/>
          </p:nvPr>
        </p:nvSpPr>
        <p:spPr/>
        <p:txBody>
          <a:bodyPr/>
          <a:lstStyle/>
          <a:p>
            <a:fld id="{CC057153-B650-4DEB-B370-79DDCFDCE934}" type="slidenum">
              <a:rPr lang="en-US" smtClean="0"/>
              <a:t>7</a:t>
            </a:fld>
            <a:endParaRPr lang="en-US"/>
          </a:p>
        </p:txBody>
      </p:sp>
      <p:sp>
        <p:nvSpPr>
          <p:cNvPr id="6" name="TextBox 5">
            <a:extLst>
              <a:ext uri="{FF2B5EF4-FFF2-40B4-BE49-F238E27FC236}">
                <a16:creationId xmlns:a16="http://schemas.microsoft.com/office/drawing/2014/main" id="{06AF414C-D440-6A7C-60F3-66209E37BDB5}"/>
              </a:ext>
            </a:extLst>
          </p:cNvPr>
          <p:cNvSpPr txBox="1"/>
          <p:nvPr/>
        </p:nvSpPr>
        <p:spPr>
          <a:xfrm>
            <a:off x="3478877" y="1062632"/>
            <a:ext cx="4755743" cy="35394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700" b="1">
                <a:solidFill>
                  <a:srgbClr val="000000"/>
                </a:solidFill>
                <a:latin typeface="Arial"/>
                <a:ea typeface="+mn-lt"/>
                <a:cs typeface="Arial"/>
              </a:rPr>
              <a:t>Impact: </a:t>
            </a:r>
            <a:r>
              <a:rPr lang="en-US" sz="1700">
                <a:solidFill>
                  <a:srgbClr val="000000"/>
                </a:solidFill>
                <a:latin typeface="Arial"/>
                <a:ea typeface="+mn-lt"/>
                <a:cs typeface="Arial"/>
              </a:rPr>
              <a:t>Reduced Travel cost, Transit time </a:t>
            </a:r>
            <a:endParaRPr lang="en-US" sz="1700">
              <a:latin typeface="Arial"/>
              <a:cs typeface="Arial"/>
            </a:endParaRPr>
          </a:p>
        </p:txBody>
      </p:sp>
      <p:pic>
        <p:nvPicPr>
          <p:cNvPr id="8" name="Picture 7" descr="A map with a route&#10;&#10;AI-generated content may be incorrect.">
            <a:extLst>
              <a:ext uri="{FF2B5EF4-FFF2-40B4-BE49-F238E27FC236}">
                <a16:creationId xmlns:a16="http://schemas.microsoft.com/office/drawing/2014/main" id="{1B9F362A-9534-A0CC-FD39-956F61ABF7AD}"/>
              </a:ext>
            </a:extLst>
          </p:cNvPr>
          <p:cNvPicPr>
            <a:picLocks noChangeAspect="1"/>
          </p:cNvPicPr>
          <p:nvPr/>
        </p:nvPicPr>
        <p:blipFill>
          <a:blip r:embed="rId3"/>
          <a:stretch>
            <a:fillRect/>
          </a:stretch>
        </p:blipFill>
        <p:spPr>
          <a:xfrm>
            <a:off x="4138966" y="3018036"/>
            <a:ext cx="3695296" cy="2729246"/>
          </a:xfrm>
          <a:prstGeom prst="rect">
            <a:avLst/>
          </a:prstGeom>
          <a:ln w="12700">
            <a:solidFill>
              <a:schemeClr val="tx1"/>
            </a:solidFill>
          </a:ln>
        </p:spPr>
      </p:pic>
      <p:pic>
        <p:nvPicPr>
          <p:cNvPr id="10" name="Picture 9" descr="A map with red dots and lines&#10;&#10;AI-generated content may be incorrect.">
            <a:extLst>
              <a:ext uri="{FF2B5EF4-FFF2-40B4-BE49-F238E27FC236}">
                <a16:creationId xmlns:a16="http://schemas.microsoft.com/office/drawing/2014/main" id="{13E5B587-6595-8BD9-4DF7-C0DBFBBFA21A}"/>
              </a:ext>
            </a:extLst>
          </p:cNvPr>
          <p:cNvPicPr>
            <a:picLocks noChangeAspect="1"/>
          </p:cNvPicPr>
          <p:nvPr/>
        </p:nvPicPr>
        <p:blipFill>
          <a:blip r:embed="rId4"/>
          <a:stretch>
            <a:fillRect/>
          </a:stretch>
        </p:blipFill>
        <p:spPr>
          <a:xfrm>
            <a:off x="7569359" y="3156423"/>
            <a:ext cx="4063262" cy="2756941"/>
          </a:xfrm>
          <a:prstGeom prst="rect">
            <a:avLst/>
          </a:prstGeom>
          <a:ln w="12700">
            <a:solidFill>
              <a:schemeClr val="tx1"/>
            </a:solidFill>
          </a:ln>
        </p:spPr>
      </p:pic>
      <p:sp>
        <p:nvSpPr>
          <p:cNvPr id="15" name="TextBox 14">
            <a:extLst>
              <a:ext uri="{FF2B5EF4-FFF2-40B4-BE49-F238E27FC236}">
                <a16:creationId xmlns:a16="http://schemas.microsoft.com/office/drawing/2014/main" id="{EB681E71-756D-2A29-CF22-DD6F66030893}"/>
              </a:ext>
            </a:extLst>
          </p:cNvPr>
          <p:cNvSpPr txBox="1"/>
          <p:nvPr/>
        </p:nvSpPr>
        <p:spPr>
          <a:xfrm>
            <a:off x="6272416" y="1605926"/>
            <a:ext cx="3915958" cy="954107"/>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Arial"/>
                <a:ea typeface="Calibri"/>
                <a:cs typeface="Arial"/>
              </a:rPr>
              <a:t>Avg % of Workday Spent Traveling:</a:t>
            </a:r>
            <a:endParaRPr lang="en-US"/>
          </a:p>
          <a:p>
            <a:pPr algn="ctr">
              <a:lnSpc>
                <a:spcPct val="150000"/>
              </a:lnSpc>
            </a:pPr>
            <a:r>
              <a:rPr lang="en-US" sz="1600">
                <a:latin typeface="Arial"/>
                <a:ea typeface="Calibri"/>
                <a:cs typeface="Arial"/>
              </a:rPr>
              <a:t>Typical: 15% - 25%</a:t>
            </a:r>
          </a:p>
          <a:p>
            <a:pPr algn="ctr"/>
            <a:r>
              <a:rPr lang="en-US" sz="1600">
                <a:highlight>
                  <a:srgbClr val="00FF00"/>
                </a:highlight>
                <a:latin typeface="Arial"/>
                <a:ea typeface="Calibri"/>
                <a:cs typeface="Arial"/>
              </a:rPr>
              <a:t>Our LP Model:</a:t>
            </a:r>
            <a:r>
              <a:rPr lang="en-US" sz="1600" b="1">
                <a:highlight>
                  <a:srgbClr val="00FF00"/>
                </a:highlight>
                <a:latin typeface="Arial"/>
                <a:ea typeface="Calibri"/>
                <a:cs typeface="Arial"/>
              </a:rPr>
              <a:t> ~5% - 11%</a:t>
            </a:r>
          </a:p>
        </p:txBody>
      </p:sp>
      <p:sp>
        <p:nvSpPr>
          <p:cNvPr id="16" name="TextBox 15">
            <a:extLst>
              <a:ext uri="{FF2B5EF4-FFF2-40B4-BE49-F238E27FC236}">
                <a16:creationId xmlns:a16="http://schemas.microsoft.com/office/drawing/2014/main" id="{963D76FB-C78D-2B27-2A30-512C6D8F2772}"/>
              </a:ext>
            </a:extLst>
          </p:cNvPr>
          <p:cNvSpPr txBox="1"/>
          <p:nvPr/>
        </p:nvSpPr>
        <p:spPr>
          <a:xfrm>
            <a:off x="1497681" y="1605925"/>
            <a:ext cx="3964894" cy="954107"/>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Arial"/>
                <a:ea typeface="Calibri"/>
                <a:cs typeface="Arial"/>
              </a:rPr>
              <a:t>Avg Percentage of Adjusters Flying:</a:t>
            </a:r>
            <a:endParaRPr lang="en-US"/>
          </a:p>
          <a:p>
            <a:pPr algn="ctr">
              <a:lnSpc>
                <a:spcPct val="150000"/>
              </a:lnSpc>
            </a:pPr>
            <a:r>
              <a:rPr lang="en-US" sz="1600">
                <a:latin typeface="Arial"/>
                <a:ea typeface="Calibri"/>
                <a:cs typeface="Arial"/>
              </a:rPr>
              <a:t>Typical: 55% - 65%</a:t>
            </a:r>
          </a:p>
          <a:p>
            <a:pPr algn="ctr"/>
            <a:r>
              <a:rPr lang="en-US" sz="1600">
                <a:solidFill>
                  <a:srgbClr val="000000"/>
                </a:solidFill>
                <a:highlight>
                  <a:srgbClr val="00FF00"/>
                </a:highlight>
                <a:latin typeface="Arial"/>
                <a:ea typeface="Calibri"/>
                <a:cs typeface="Arial"/>
              </a:rPr>
              <a:t>Our LP Model:</a:t>
            </a:r>
            <a:r>
              <a:rPr lang="en-US" sz="1600" b="1">
                <a:solidFill>
                  <a:srgbClr val="000000"/>
                </a:solidFill>
                <a:highlight>
                  <a:srgbClr val="00FF00"/>
                </a:highlight>
                <a:latin typeface="Arial"/>
                <a:ea typeface="Calibri"/>
                <a:cs typeface="Arial"/>
              </a:rPr>
              <a:t> ~43%</a:t>
            </a:r>
          </a:p>
        </p:txBody>
      </p:sp>
      <p:sp>
        <p:nvSpPr>
          <p:cNvPr id="18" name="Arrow: Down 17">
            <a:extLst>
              <a:ext uri="{FF2B5EF4-FFF2-40B4-BE49-F238E27FC236}">
                <a16:creationId xmlns:a16="http://schemas.microsoft.com/office/drawing/2014/main" id="{FC23F9C0-EF31-E48E-73AB-77ECC11AF2DD}"/>
              </a:ext>
            </a:extLst>
          </p:cNvPr>
          <p:cNvSpPr/>
          <p:nvPr/>
        </p:nvSpPr>
        <p:spPr>
          <a:xfrm rot="12360000">
            <a:off x="1530018" y="3752034"/>
            <a:ext cx="122609" cy="477906"/>
          </a:xfrm>
          <a:prstGeom prst="downArrow">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Arrow: Down 19">
            <a:extLst>
              <a:ext uri="{FF2B5EF4-FFF2-40B4-BE49-F238E27FC236}">
                <a16:creationId xmlns:a16="http://schemas.microsoft.com/office/drawing/2014/main" id="{15C3212E-8935-68D4-7641-CCB22402D47D}"/>
              </a:ext>
            </a:extLst>
          </p:cNvPr>
          <p:cNvSpPr/>
          <p:nvPr/>
        </p:nvSpPr>
        <p:spPr>
          <a:xfrm rot="10140000">
            <a:off x="4738884" y="4467467"/>
            <a:ext cx="122609" cy="477906"/>
          </a:xfrm>
          <a:prstGeom prst="downArrow">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Arrow: Down 21">
            <a:extLst>
              <a:ext uri="{FF2B5EF4-FFF2-40B4-BE49-F238E27FC236}">
                <a16:creationId xmlns:a16="http://schemas.microsoft.com/office/drawing/2014/main" id="{90D41360-325F-2EA0-F3B7-3FB02BB97FD2}"/>
              </a:ext>
            </a:extLst>
          </p:cNvPr>
          <p:cNvSpPr/>
          <p:nvPr/>
        </p:nvSpPr>
        <p:spPr>
          <a:xfrm rot="6900000">
            <a:off x="10491984" y="4590234"/>
            <a:ext cx="122609" cy="477906"/>
          </a:xfrm>
          <a:prstGeom prst="downArrow">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Oval 23">
            <a:extLst>
              <a:ext uri="{FF2B5EF4-FFF2-40B4-BE49-F238E27FC236}">
                <a16:creationId xmlns:a16="http://schemas.microsoft.com/office/drawing/2014/main" id="{9E1F23E9-70BC-FA0F-C7B0-F55EED892539}"/>
              </a:ext>
            </a:extLst>
          </p:cNvPr>
          <p:cNvSpPr/>
          <p:nvPr/>
        </p:nvSpPr>
        <p:spPr>
          <a:xfrm rot="3060000">
            <a:off x="6711813" y="4211228"/>
            <a:ext cx="591542" cy="1301510"/>
          </a:xfrm>
          <a:prstGeom prst="ellipse">
            <a:avLst/>
          </a:prstGeom>
          <a:noFill/>
          <a:ln>
            <a:solidFill>
              <a:srgbClr val="C00000"/>
            </a:solidFill>
            <a:prstDash val="dash"/>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 name="Oval 25">
            <a:extLst>
              <a:ext uri="{FF2B5EF4-FFF2-40B4-BE49-F238E27FC236}">
                <a16:creationId xmlns:a16="http://schemas.microsoft.com/office/drawing/2014/main" id="{0375208B-A058-FD30-56A1-3C2695916B7F}"/>
              </a:ext>
            </a:extLst>
          </p:cNvPr>
          <p:cNvSpPr/>
          <p:nvPr/>
        </p:nvSpPr>
        <p:spPr>
          <a:xfrm rot="8220000">
            <a:off x="3161554" y="4991136"/>
            <a:ext cx="509482" cy="609845"/>
          </a:xfrm>
          <a:prstGeom prst="ellipse">
            <a:avLst/>
          </a:prstGeom>
          <a:noFill/>
          <a:ln>
            <a:solidFill>
              <a:srgbClr val="C00000"/>
            </a:solidFill>
            <a:prstDash val="dash"/>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 name="Oval 27">
            <a:extLst>
              <a:ext uri="{FF2B5EF4-FFF2-40B4-BE49-F238E27FC236}">
                <a16:creationId xmlns:a16="http://schemas.microsoft.com/office/drawing/2014/main" id="{51A5CB71-4AD5-AEC8-E5CA-BD0033BFBEB9}"/>
              </a:ext>
            </a:extLst>
          </p:cNvPr>
          <p:cNvSpPr/>
          <p:nvPr/>
        </p:nvSpPr>
        <p:spPr>
          <a:xfrm rot="3600000">
            <a:off x="9429678" y="3795668"/>
            <a:ext cx="902204" cy="2075233"/>
          </a:xfrm>
          <a:prstGeom prst="ellipse">
            <a:avLst/>
          </a:prstGeom>
          <a:noFill/>
          <a:ln>
            <a:solidFill>
              <a:srgbClr val="C00000"/>
            </a:solidFill>
            <a:prstDash val="dash"/>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 name="TextBox 28">
            <a:extLst>
              <a:ext uri="{FF2B5EF4-FFF2-40B4-BE49-F238E27FC236}">
                <a16:creationId xmlns:a16="http://schemas.microsoft.com/office/drawing/2014/main" id="{9B326FE9-D4B8-99E9-2AFA-2FD3C22AE029}"/>
              </a:ext>
            </a:extLst>
          </p:cNvPr>
          <p:cNvSpPr txBox="1"/>
          <p:nvPr/>
        </p:nvSpPr>
        <p:spPr>
          <a:xfrm>
            <a:off x="4217569" y="1606009"/>
            <a:ext cx="327491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rial"/>
                <a:cs typeface="Arial"/>
              </a:rPr>
              <a:t>Fewer flights taken</a:t>
            </a:r>
            <a:endParaRPr lang="en-US"/>
          </a:p>
          <a:p>
            <a:pPr algn="ctr"/>
            <a:r>
              <a:rPr lang="en-US" b="1">
                <a:latin typeface="Arial"/>
                <a:cs typeface="Arial"/>
              </a:rPr>
              <a:t>Less time spent traveling</a:t>
            </a:r>
          </a:p>
        </p:txBody>
      </p:sp>
      <p:sp>
        <p:nvSpPr>
          <p:cNvPr id="3" name="TextBox 2">
            <a:extLst>
              <a:ext uri="{FF2B5EF4-FFF2-40B4-BE49-F238E27FC236}">
                <a16:creationId xmlns:a16="http://schemas.microsoft.com/office/drawing/2014/main" id="{60499553-2953-1716-64F3-ADAF99AD160B}"/>
              </a:ext>
            </a:extLst>
          </p:cNvPr>
          <p:cNvSpPr txBox="1"/>
          <p:nvPr/>
        </p:nvSpPr>
        <p:spPr>
          <a:xfrm>
            <a:off x="3897048" y="1276873"/>
            <a:ext cx="3915958" cy="1369606"/>
          </a:xfrm>
          <a:prstGeom prst="rect">
            <a:avLst/>
          </a:prstGeom>
          <a:noFill/>
          <a:ln>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Arial"/>
                <a:ea typeface="Calibri"/>
                <a:cs typeface="Arial"/>
              </a:rPr>
              <a:t>Flight Cost Savings:</a:t>
            </a:r>
            <a:endParaRPr lang="en-US"/>
          </a:p>
          <a:p>
            <a:pPr algn="ctr">
              <a:lnSpc>
                <a:spcPct val="150000"/>
              </a:lnSpc>
            </a:pPr>
            <a:r>
              <a:rPr lang="en-US" sz="1600" b="1">
                <a:latin typeface="Arial"/>
                <a:ea typeface="Calibri"/>
                <a:cs typeface="Arial"/>
              </a:rPr>
              <a:t>~$43,000</a:t>
            </a:r>
            <a:r>
              <a:rPr lang="en-US" sz="1600">
                <a:latin typeface="Arial"/>
                <a:ea typeface="Calibri"/>
                <a:cs typeface="Arial"/>
              </a:rPr>
              <a:t>* saved per CAT event</a:t>
            </a:r>
          </a:p>
          <a:p>
            <a:pPr algn="ctr"/>
            <a:r>
              <a:rPr lang="en-US" sz="1600" b="1">
                <a:highlight>
                  <a:srgbClr val="00FF00"/>
                </a:highlight>
                <a:latin typeface="Arial"/>
                <a:ea typeface="Calibri"/>
                <a:cs typeface="Arial"/>
              </a:rPr>
              <a:t>~$1.04</a:t>
            </a:r>
            <a:r>
              <a:rPr lang="en-US" sz="1600">
                <a:highlight>
                  <a:srgbClr val="00FF00"/>
                </a:highlight>
                <a:latin typeface="Arial"/>
                <a:ea typeface="Calibri"/>
                <a:cs typeface="Arial"/>
              </a:rPr>
              <a:t>*</a:t>
            </a:r>
            <a:r>
              <a:rPr lang="en-US" sz="1600">
                <a:latin typeface="Arial"/>
                <a:ea typeface="Calibri"/>
                <a:cs typeface="Arial"/>
              </a:rPr>
              <a:t> Million saved Annually</a:t>
            </a:r>
          </a:p>
          <a:p>
            <a:pPr algn="ctr"/>
            <a:endParaRPr lang="en-US" sz="900">
              <a:latin typeface="Arial"/>
              <a:ea typeface="Calibri"/>
              <a:cs typeface="Arial"/>
            </a:endParaRPr>
          </a:p>
          <a:p>
            <a:pPr algn="ctr"/>
            <a:r>
              <a:rPr lang="en-US" sz="900">
                <a:latin typeface="Arial"/>
                <a:ea typeface="Calibri"/>
                <a:cs typeface="Arial"/>
              </a:rPr>
              <a:t>*</a:t>
            </a:r>
            <a:r>
              <a:rPr lang="en-US" sz="900" err="1">
                <a:latin typeface="Arial"/>
                <a:ea typeface="Calibri"/>
                <a:cs typeface="Arial"/>
              </a:rPr>
              <a:t>Calcluated</a:t>
            </a:r>
            <a:r>
              <a:rPr lang="en-US" sz="900">
                <a:latin typeface="Arial"/>
                <a:ea typeface="Calibri"/>
                <a:cs typeface="Arial"/>
              </a:rPr>
              <a:t> for 300 adjusters across 24 similar CAT events per year</a:t>
            </a:r>
            <a:br>
              <a:rPr lang="en-US" sz="900">
                <a:latin typeface="Arial"/>
                <a:ea typeface="Calibri"/>
                <a:cs typeface="Arial"/>
              </a:rPr>
            </a:br>
            <a:r>
              <a:rPr lang="en-US" sz="900">
                <a:latin typeface="Arial"/>
                <a:ea typeface="Calibri"/>
                <a:cs typeface="Arial"/>
              </a:rPr>
              <a:t>Considering avg of $850 per round trip flight </a:t>
            </a:r>
          </a:p>
        </p:txBody>
      </p:sp>
    </p:spTree>
    <p:extLst>
      <p:ext uri="{BB962C8B-B14F-4D97-AF65-F5344CB8AC3E}">
        <p14:creationId xmlns:p14="http://schemas.microsoft.com/office/powerpoint/2010/main" val="196322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1" nodeType="clickEffect">
                                  <p:stCondLst>
                                    <p:cond delay="0"/>
                                  </p:stCondLst>
                                  <p:childTnLst>
                                    <p:animEffect transition="out" filter="fade">
                                      <p:cBhvr>
                                        <p:cTn id="12" dur="500"/>
                                        <p:tgtEl>
                                          <p:spTgt spid="6"/>
                                        </p:tgtEl>
                                      </p:cBhvr>
                                    </p:animEffect>
                                    <p:set>
                                      <p:cBhvr>
                                        <p:cTn id="13" dur="1" fill="hold">
                                          <p:stCondLst>
                                            <p:cond delay="499"/>
                                          </p:stCondLst>
                                        </p:cTn>
                                        <p:tgtEl>
                                          <p:spTgt spid="6"/>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grpId="1" nodeType="clickEffect">
                                  <p:stCondLst>
                                    <p:cond delay="0"/>
                                  </p:stCondLst>
                                  <p:childTnLst>
                                    <p:animEffect transition="out" filter="fade">
                                      <p:cBhvr>
                                        <p:cTn id="57" dur="500"/>
                                        <p:tgtEl>
                                          <p:spTgt spid="29"/>
                                        </p:tgtEl>
                                      </p:cBhvr>
                                    </p:animEffect>
                                    <p:set>
                                      <p:cBhvr>
                                        <p:cTn id="58" dur="1" fill="hold">
                                          <p:stCondLst>
                                            <p:cond delay="499"/>
                                          </p:stCondLst>
                                        </p:cTn>
                                        <p:tgtEl>
                                          <p:spTgt spid="29"/>
                                        </p:tgtEl>
                                        <p:attrNameLst>
                                          <p:attrName>style.visibility</p:attrName>
                                        </p:attrNameLst>
                                      </p:cBhvr>
                                      <p:to>
                                        <p:strVal val="hidden"/>
                                      </p:to>
                                    </p:set>
                                  </p:childTnLst>
                                </p:cTn>
                              </p:par>
                              <p:par>
                                <p:cTn id="59" presetID="2" presetClass="entr" presetSubtype="4"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ppt_x"/>
                                          </p:val>
                                        </p:tav>
                                        <p:tav tm="100000">
                                          <p:val>
                                            <p:strVal val="#ppt_x"/>
                                          </p:val>
                                        </p:tav>
                                      </p:tavLst>
                                    </p:anim>
                                    <p:anim calcmode="lin" valueType="num">
                                      <p:cBhvr additive="base">
                                        <p:cTn id="6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grpId="1" nodeType="clickEffect">
                                  <p:stCondLst>
                                    <p:cond delay="0"/>
                                  </p:stCondLst>
                                  <p:childTnLst>
                                    <p:animEffect transition="out" filter="fade">
                                      <p:cBhvr>
                                        <p:cTn id="72" dur="500"/>
                                        <p:tgtEl>
                                          <p:spTgt spid="15"/>
                                        </p:tgtEl>
                                      </p:cBhvr>
                                    </p:animEffect>
                                    <p:set>
                                      <p:cBhvr>
                                        <p:cTn id="73" dur="1" fill="hold">
                                          <p:stCondLst>
                                            <p:cond delay="499"/>
                                          </p:stCondLst>
                                        </p:cTn>
                                        <p:tgtEl>
                                          <p:spTgt spid="15"/>
                                        </p:tgtEl>
                                        <p:attrNameLst>
                                          <p:attrName>style.visibility</p:attrName>
                                        </p:attrNameLst>
                                      </p:cBhvr>
                                      <p:to>
                                        <p:strVal val="hidden"/>
                                      </p:to>
                                    </p:set>
                                  </p:childTnLst>
                                </p:cTn>
                              </p:par>
                              <p:par>
                                <p:cTn id="74" presetID="10" presetClass="exit" presetSubtype="0" fill="hold" grpId="1" nodeType="withEffect">
                                  <p:stCondLst>
                                    <p:cond delay="0"/>
                                  </p:stCondLst>
                                  <p:childTnLst>
                                    <p:animEffect transition="out" filter="fade">
                                      <p:cBhvr>
                                        <p:cTn id="75" dur="500"/>
                                        <p:tgtEl>
                                          <p:spTgt spid="16"/>
                                        </p:tgtEl>
                                      </p:cBhvr>
                                    </p:animEffect>
                                    <p:set>
                                      <p:cBhvr>
                                        <p:cTn id="76" dur="1" fill="hold">
                                          <p:stCondLst>
                                            <p:cond delay="499"/>
                                          </p:stCondLst>
                                        </p:cTn>
                                        <p:tgtEl>
                                          <p:spTgt spid="16"/>
                                        </p:tgtEl>
                                        <p:attrNameLst>
                                          <p:attrName>style.visibility</p:attrName>
                                        </p:attrNameLst>
                                      </p:cBhvr>
                                      <p:to>
                                        <p:strVal val="hidden"/>
                                      </p:to>
                                    </p:set>
                                  </p:childTnLst>
                                </p:cTn>
                              </p:par>
                              <p:par>
                                <p:cTn id="77" presetID="2" presetClass="entr" presetSubtype="4" fill="hold" grpId="0" nodeType="withEffect">
                                  <p:stCondLst>
                                    <p:cond delay="0"/>
                                  </p:stCondLst>
                                  <p:childTnLst>
                                    <p:set>
                                      <p:cBhvr>
                                        <p:cTn id="78" dur="1" fill="hold">
                                          <p:stCondLst>
                                            <p:cond delay="0"/>
                                          </p:stCondLst>
                                        </p:cTn>
                                        <p:tgtEl>
                                          <p:spTgt spid="3"/>
                                        </p:tgtEl>
                                        <p:attrNameLst>
                                          <p:attrName>style.visibility</p:attrName>
                                        </p:attrNameLst>
                                      </p:cBhvr>
                                      <p:to>
                                        <p:strVal val="visible"/>
                                      </p:to>
                                    </p:set>
                                    <p:anim calcmode="lin" valueType="num">
                                      <p:cBhvr additive="base">
                                        <p:cTn id="79" dur="500" fill="hold"/>
                                        <p:tgtEl>
                                          <p:spTgt spid="3"/>
                                        </p:tgtEl>
                                        <p:attrNameLst>
                                          <p:attrName>ppt_x</p:attrName>
                                        </p:attrNameLst>
                                      </p:cBhvr>
                                      <p:tavLst>
                                        <p:tav tm="0">
                                          <p:val>
                                            <p:strVal val="#ppt_x"/>
                                          </p:val>
                                        </p:tav>
                                        <p:tav tm="100000">
                                          <p:val>
                                            <p:strVal val="#ppt_x"/>
                                          </p:val>
                                        </p:tav>
                                      </p:tavLst>
                                    </p:anim>
                                    <p:anim calcmode="lin" valueType="num">
                                      <p:cBhvr additive="base">
                                        <p:cTn id="8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5" grpId="0" animBg="1"/>
      <p:bldP spid="15" grpId="1" animBg="1"/>
      <p:bldP spid="16" grpId="0" animBg="1"/>
      <p:bldP spid="16" grpId="1" animBg="1"/>
      <p:bldP spid="18" grpId="0" animBg="1"/>
      <p:bldP spid="20" grpId="0" animBg="1"/>
      <p:bldP spid="22" grpId="0" animBg="1"/>
      <p:bldP spid="24" grpId="0" animBg="1"/>
      <p:bldP spid="26" grpId="0" animBg="1"/>
      <p:bldP spid="28" grpId="0" animBg="1"/>
      <p:bldP spid="29" grpId="0"/>
      <p:bldP spid="29" grpId="1"/>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CFBBEDE4-120D-0448-A4E9-3E21F5FAD8E3}"/>
              </a:ext>
            </a:extLst>
          </p:cNvPr>
          <p:cNvPicPr>
            <a:picLocks noGrp="1" noChangeAspect="1"/>
          </p:cNvPicPr>
          <p:nvPr>
            <p:ph sz="quarter" idx="10"/>
          </p:nvPr>
        </p:nvPicPr>
        <p:blipFill>
          <a:blip r:embed="rId3"/>
          <a:stretch>
            <a:fillRect/>
          </a:stretch>
        </p:blipFill>
        <p:spPr>
          <a:xfrm>
            <a:off x="733130" y="1317102"/>
            <a:ext cx="8273898" cy="4948684"/>
          </a:xfrm>
          <a:prstGeom prst="rect">
            <a:avLst/>
          </a:prstGeom>
        </p:spPr>
      </p:pic>
      <p:sp>
        <p:nvSpPr>
          <p:cNvPr id="2" name="Title 1">
            <a:extLst>
              <a:ext uri="{FF2B5EF4-FFF2-40B4-BE49-F238E27FC236}">
                <a16:creationId xmlns:a16="http://schemas.microsoft.com/office/drawing/2014/main" id="{2899398D-9557-06B2-5E90-D7E767E18455}"/>
              </a:ext>
            </a:extLst>
          </p:cNvPr>
          <p:cNvSpPr>
            <a:spLocks noGrp="1"/>
          </p:cNvSpPr>
          <p:nvPr>
            <p:ph type="title"/>
          </p:nvPr>
        </p:nvSpPr>
        <p:spPr>
          <a:xfrm>
            <a:off x="716026" y="129290"/>
            <a:ext cx="10438701" cy="941771"/>
          </a:xfrm>
        </p:spPr>
        <p:txBody>
          <a:bodyPr>
            <a:normAutofit/>
          </a:bodyPr>
          <a:lstStyle/>
          <a:p>
            <a:pPr algn="ctr"/>
            <a:r>
              <a:rPr lang="en-US" sz="4800">
                <a:latin typeface="Arial"/>
                <a:cs typeface="Arial"/>
              </a:rPr>
              <a:t>Claim Re-assignments</a:t>
            </a:r>
            <a:endParaRPr lang="en-US" sz="4800"/>
          </a:p>
        </p:txBody>
      </p:sp>
      <p:sp>
        <p:nvSpPr>
          <p:cNvPr id="4" name="Slide Number Placeholder 3">
            <a:extLst>
              <a:ext uri="{FF2B5EF4-FFF2-40B4-BE49-F238E27FC236}">
                <a16:creationId xmlns:a16="http://schemas.microsoft.com/office/drawing/2014/main" id="{441D7A6E-31C7-C879-B0A3-269A0AEE39FA}"/>
              </a:ext>
            </a:extLst>
          </p:cNvPr>
          <p:cNvSpPr>
            <a:spLocks noGrp="1"/>
          </p:cNvSpPr>
          <p:nvPr>
            <p:ph type="sldNum" sz="quarter" idx="13"/>
          </p:nvPr>
        </p:nvSpPr>
        <p:spPr/>
        <p:txBody>
          <a:bodyPr/>
          <a:lstStyle/>
          <a:p>
            <a:fld id="{CC057153-B650-4DEB-B370-79DDCFDCE934}" type="slidenum">
              <a:rPr lang="en-US" smtClean="0"/>
              <a:t>8</a:t>
            </a:fld>
            <a:endParaRPr lang="en-US"/>
          </a:p>
        </p:txBody>
      </p:sp>
      <p:sp>
        <p:nvSpPr>
          <p:cNvPr id="7" name="Rectangle: Rounded Corners 6">
            <a:extLst>
              <a:ext uri="{FF2B5EF4-FFF2-40B4-BE49-F238E27FC236}">
                <a16:creationId xmlns:a16="http://schemas.microsoft.com/office/drawing/2014/main" id="{3CD9463D-8A90-D925-BB3D-59AF50B15E06}"/>
              </a:ext>
            </a:extLst>
          </p:cNvPr>
          <p:cNvSpPr/>
          <p:nvPr/>
        </p:nvSpPr>
        <p:spPr>
          <a:xfrm>
            <a:off x="716026" y="1568356"/>
            <a:ext cx="990013" cy="50379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B23581A3-CE81-0342-B4A3-C903BDDB3EF2}"/>
              </a:ext>
            </a:extLst>
          </p:cNvPr>
          <p:cNvSpPr/>
          <p:nvPr/>
        </p:nvSpPr>
        <p:spPr>
          <a:xfrm>
            <a:off x="4421164" y="4113013"/>
            <a:ext cx="4576307" cy="21466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id="{3B7C55BC-733E-CA39-B0BA-B359B906B56F}"/>
              </a:ext>
            </a:extLst>
          </p:cNvPr>
          <p:cNvSpPr/>
          <p:nvPr/>
        </p:nvSpPr>
        <p:spPr>
          <a:xfrm rot="7560000">
            <a:off x="3327049" y="3369209"/>
            <a:ext cx="157563" cy="2735939"/>
          </a:xfrm>
          <a:prstGeom prst="downArrow">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2" name="Picture 11" descr="A map of the united states&#10;&#10;AI-generated content may be incorrect.">
            <a:extLst>
              <a:ext uri="{FF2B5EF4-FFF2-40B4-BE49-F238E27FC236}">
                <a16:creationId xmlns:a16="http://schemas.microsoft.com/office/drawing/2014/main" id="{B3921B04-5F5C-9E4F-873E-48759C8B84BA}"/>
              </a:ext>
            </a:extLst>
          </p:cNvPr>
          <p:cNvPicPr>
            <a:picLocks noChangeAspect="1"/>
          </p:cNvPicPr>
          <p:nvPr/>
        </p:nvPicPr>
        <p:blipFill>
          <a:blip r:embed="rId4"/>
          <a:stretch>
            <a:fillRect/>
          </a:stretch>
        </p:blipFill>
        <p:spPr>
          <a:xfrm>
            <a:off x="9197320" y="1565944"/>
            <a:ext cx="2431029" cy="1831598"/>
          </a:xfrm>
          <a:prstGeom prst="rect">
            <a:avLst/>
          </a:prstGeom>
        </p:spPr>
      </p:pic>
      <p:pic>
        <p:nvPicPr>
          <p:cNvPr id="13" name="Picture 12" descr="A map with red dots and lines&#10;&#10;AI-generated content may be incorrect.">
            <a:extLst>
              <a:ext uri="{FF2B5EF4-FFF2-40B4-BE49-F238E27FC236}">
                <a16:creationId xmlns:a16="http://schemas.microsoft.com/office/drawing/2014/main" id="{43C7B97D-1B83-D375-BEEE-898CCC8DB6C2}"/>
              </a:ext>
            </a:extLst>
          </p:cNvPr>
          <p:cNvPicPr>
            <a:picLocks noChangeAspect="1"/>
          </p:cNvPicPr>
          <p:nvPr/>
        </p:nvPicPr>
        <p:blipFill>
          <a:blip r:embed="rId5"/>
          <a:stretch>
            <a:fillRect/>
          </a:stretch>
        </p:blipFill>
        <p:spPr>
          <a:xfrm>
            <a:off x="3606636" y="1712751"/>
            <a:ext cx="4978726" cy="3698148"/>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A2202271-40F7-94CB-CB36-572291FE9678}"/>
              </a:ext>
            </a:extLst>
          </p:cNvPr>
          <p:cNvPicPr>
            <a:picLocks noChangeAspect="1"/>
          </p:cNvPicPr>
          <p:nvPr/>
        </p:nvPicPr>
        <p:blipFill>
          <a:blip r:embed="rId6"/>
          <a:srcRect l="-44" t="4671" r="90" b="-225"/>
          <a:stretch>
            <a:fillRect/>
          </a:stretch>
        </p:blipFill>
        <p:spPr>
          <a:xfrm>
            <a:off x="909025" y="1315743"/>
            <a:ext cx="7923770" cy="4930934"/>
          </a:xfrm>
          <a:prstGeom prst="rect">
            <a:avLst/>
          </a:prstGeom>
        </p:spPr>
      </p:pic>
      <p:sp>
        <p:nvSpPr>
          <p:cNvPr id="16" name="Rectangle: Rounded Corners 15">
            <a:extLst>
              <a:ext uri="{FF2B5EF4-FFF2-40B4-BE49-F238E27FC236}">
                <a16:creationId xmlns:a16="http://schemas.microsoft.com/office/drawing/2014/main" id="{A8F50381-239E-6E2B-DC2D-65CB4EB293B2}"/>
              </a:ext>
            </a:extLst>
          </p:cNvPr>
          <p:cNvSpPr/>
          <p:nvPr/>
        </p:nvSpPr>
        <p:spPr>
          <a:xfrm>
            <a:off x="911768" y="1337657"/>
            <a:ext cx="955061" cy="51079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23">
            <a:extLst>
              <a:ext uri="{FF2B5EF4-FFF2-40B4-BE49-F238E27FC236}">
                <a16:creationId xmlns:a16="http://schemas.microsoft.com/office/drawing/2014/main" id="{3A9410C4-382F-5784-E37E-EB9D6F4A2BA6}"/>
              </a:ext>
            </a:extLst>
          </p:cNvPr>
          <p:cNvSpPr/>
          <p:nvPr/>
        </p:nvSpPr>
        <p:spPr>
          <a:xfrm>
            <a:off x="4734667" y="2784757"/>
            <a:ext cx="4129377" cy="3116206"/>
          </a:xfrm>
          <a:prstGeom prst="rect">
            <a:avLst/>
          </a:prstGeom>
          <a:noFill/>
          <a:ln>
            <a:solidFill>
              <a:srgbClr val="FF000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16714EA-2F86-2F37-4EBF-CD5F0B75741C}"/>
              </a:ext>
            </a:extLst>
          </p:cNvPr>
          <p:cNvSpPr txBox="1"/>
          <p:nvPr/>
        </p:nvSpPr>
        <p:spPr>
          <a:xfrm>
            <a:off x="9129958" y="1162165"/>
            <a:ext cx="2565752" cy="430887"/>
          </a:xfrm>
          <a:prstGeom prst="rect">
            <a:avLst/>
          </a:prstGeom>
          <a:noFill/>
        </p:spPr>
        <p:txBody>
          <a:bodyPr wrap="square" rtlCol="0">
            <a:spAutoFit/>
          </a:bodyPr>
          <a:lstStyle/>
          <a:p>
            <a:r>
              <a:rPr lang="en-US" sz="1100" b="1">
                <a:latin typeface="Arial" panose="020B0604020202020204" pitchFamily="34" charset="0"/>
                <a:cs typeface="Arial" panose="020B0604020202020204" pitchFamily="34" charset="0"/>
              </a:rPr>
              <a:t>Deployment route before  re-assignment:</a:t>
            </a:r>
          </a:p>
        </p:txBody>
      </p:sp>
      <p:sp>
        <p:nvSpPr>
          <p:cNvPr id="8" name="TextBox 7">
            <a:extLst>
              <a:ext uri="{FF2B5EF4-FFF2-40B4-BE49-F238E27FC236}">
                <a16:creationId xmlns:a16="http://schemas.microsoft.com/office/drawing/2014/main" id="{F955BBD9-03B6-5D32-2007-2E96F01D0176}"/>
              </a:ext>
            </a:extLst>
          </p:cNvPr>
          <p:cNvSpPr txBox="1"/>
          <p:nvPr/>
        </p:nvSpPr>
        <p:spPr>
          <a:xfrm>
            <a:off x="9182847" y="3722337"/>
            <a:ext cx="2565752" cy="461665"/>
          </a:xfrm>
          <a:prstGeom prst="rect">
            <a:avLst/>
          </a:prstGeom>
          <a:noFill/>
        </p:spPr>
        <p:txBody>
          <a:bodyPr wrap="square" rtlCol="0">
            <a:spAutoFit/>
          </a:bodyPr>
          <a:lstStyle/>
          <a:p>
            <a:r>
              <a:rPr lang="en-US" sz="1200" b="1">
                <a:latin typeface="Arial" panose="020B0604020202020204" pitchFamily="34" charset="0"/>
                <a:cs typeface="Arial" panose="020B0604020202020204" pitchFamily="34" charset="0"/>
              </a:rPr>
              <a:t>Total Fleet Cost before  re-assignment:</a:t>
            </a:r>
          </a:p>
        </p:txBody>
      </p:sp>
      <p:pic>
        <p:nvPicPr>
          <p:cNvPr id="15" name="Picture 14">
            <a:extLst>
              <a:ext uri="{FF2B5EF4-FFF2-40B4-BE49-F238E27FC236}">
                <a16:creationId xmlns:a16="http://schemas.microsoft.com/office/drawing/2014/main" id="{E39421B0-A0B0-AFCC-11E7-2D81A70AE79D}"/>
              </a:ext>
            </a:extLst>
          </p:cNvPr>
          <p:cNvPicPr>
            <a:picLocks noChangeAspect="1"/>
          </p:cNvPicPr>
          <p:nvPr/>
        </p:nvPicPr>
        <p:blipFill>
          <a:blip r:embed="rId7"/>
          <a:stretch>
            <a:fillRect/>
          </a:stretch>
        </p:blipFill>
        <p:spPr>
          <a:xfrm>
            <a:off x="9251544" y="4131055"/>
            <a:ext cx="1375282" cy="379271"/>
          </a:xfrm>
          <a:prstGeom prst="rect">
            <a:avLst/>
          </a:prstGeom>
        </p:spPr>
      </p:pic>
      <p:sp>
        <p:nvSpPr>
          <p:cNvPr id="17" name="Arrow: Down 16">
            <a:extLst>
              <a:ext uri="{FF2B5EF4-FFF2-40B4-BE49-F238E27FC236}">
                <a16:creationId xmlns:a16="http://schemas.microsoft.com/office/drawing/2014/main" id="{EF079770-FFBF-3247-B58D-BD79DECBE6E2}"/>
              </a:ext>
            </a:extLst>
          </p:cNvPr>
          <p:cNvSpPr/>
          <p:nvPr/>
        </p:nvSpPr>
        <p:spPr>
          <a:xfrm rot="7738239">
            <a:off x="3849064" y="925668"/>
            <a:ext cx="150858" cy="5171212"/>
          </a:xfrm>
          <a:prstGeom prst="downArrow">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DB311695-2357-ED1B-B0A6-F93FCA1389C0}"/>
              </a:ext>
            </a:extLst>
          </p:cNvPr>
          <p:cNvSpPr txBox="1"/>
          <p:nvPr/>
        </p:nvSpPr>
        <p:spPr>
          <a:xfrm>
            <a:off x="897428" y="1837467"/>
            <a:ext cx="984506" cy="461665"/>
          </a:xfrm>
          <a:prstGeom prst="rect">
            <a:avLst/>
          </a:prstGeom>
          <a:noFill/>
        </p:spPr>
        <p:txBody>
          <a:bodyPr wrap="square" rtlCol="0">
            <a:spAutoFit/>
          </a:bodyPr>
          <a:lstStyle/>
          <a:p>
            <a:r>
              <a:rPr lang="en-US" sz="1200" b="1">
                <a:solidFill>
                  <a:srgbClr val="FF0000"/>
                </a:solidFill>
                <a:latin typeface="Arial" panose="020B0604020202020204" pitchFamily="34" charset="0"/>
                <a:cs typeface="Arial" panose="020B0604020202020204" pitchFamily="34" charset="0"/>
              </a:rPr>
              <a:t>Increased by $850</a:t>
            </a:r>
          </a:p>
        </p:txBody>
      </p:sp>
    </p:spTree>
    <p:extLst>
      <p:ext uri="{BB962C8B-B14F-4D97-AF65-F5344CB8AC3E}">
        <p14:creationId xmlns:p14="http://schemas.microsoft.com/office/powerpoint/2010/main" val="158703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nodeType="clickEffect">
                                  <p:stCondLst>
                                    <p:cond delay="0"/>
                                  </p:stCondLst>
                                  <p:childTnLst>
                                    <p:animEffect transition="out" filter="fade">
                                      <p:cBhvr>
                                        <p:cTn id="39" dur="500"/>
                                        <p:tgtEl>
                                          <p:spTgt spid="5"/>
                                        </p:tgtEl>
                                      </p:cBhvr>
                                    </p:animEffect>
                                    <p:set>
                                      <p:cBhvr>
                                        <p:cTn id="40" dur="1" fill="hold">
                                          <p:stCondLst>
                                            <p:cond delay="499"/>
                                          </p:stCondLst>
                                        </p:cTn>
                                        <p:tgtEl>
                                          <p:spTgt spid="5"/>
                                        </p:tgtEl>
                                        <p:attrNameLst>
                                          <p:attrName>style.visibility</p:attrName>
                                        </p:attrNameLst>
                                      </p:cBhvr>
                                      <p:to>
                                        <p:strVal val="hidden"/>
                                      </p:to>
                                    </p:set>
                                  </p:childTnLst>
                                </p:cTn>
                              </p:par>
                              <p:par>
                                <p:cTn id="41" presetID="10" presetClass="exit" presetSubtype="0" fill="hold" grpId="1" nodeType="withEffect">
                                  <p:stCondLst>
                                    <p:cond delay="0"/>
                                  </p:stCondLst>
                                  <p:childTnLst>
                                    <p:animEffect transition="out" filter="fade">
                                      <p:cBhvr>
                                        <p:cTn id="42" dur="500"/>
                                        <p:tgtEl>
                                          <p:spTgt spid="11"/>
                                        </p:tgtEl>
                                      </p:cBhvr>
                                    </p:animEffect>
                                    <p:set>
                                      <p:cBhvr>
                                        <p:cTn id="43" dur="1" fill="hold">
                                          <p:stCondLst>
                                            <p:cond delay="499"/>
                                          </p:stCondLst>
                                        </p:cTn>
                                        <p:tgtEl>
                                          <p:spTgt spid="11"/>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500"/>
                                        <p:tgtEl>
                                          <p:spTgt spid="9"/>
                                        </p:tgtEl>
                                      </p:cBhvr>
                                    </p:animEffect>
                                    <p:set>
                                      <p:cBhvr>
                                        <p:cTn id="46" dur="1" fill="hold">
                                          <p:stCondLst>
                                            <p:cond delay="499"/>
                                          </p:stCondLst>
                                        </p:cTn>
                                        <p:tgtEl>
                                          <p:spTgt spid="9"/>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500"/>
                                        <p:tgtEl>
                                          <p:spTgt spid="7"/>
                                        </p:tgtEl>
                                      </p:cBhvr>
                                    </p:animEffect>
                                    <p:set>
                                      <p:cBhvr>
                                        <p:cTn id="49" dur="1" fill="hold">
                                          <p:stCondLst>
                                            <p:cond delay="499"/>
                                          </p:stCondLst>
                                        </p:cTn>
                                        <p:tgtEl>
                                          <p:spTgt spid="7"/>
                                        </p:tgtEl>
                                        <p:attrNameLst>
                                          <p:attrName>style.visibility</p:attrName>
                                        </p:attrNameLst>
                                      </p:cBhvr>
                                      <p:to>
                                        <p:strVal val="hidden"/>
                                      </p:to>
                                    </p:set>
                                  </p:childTnLst>
                                </p:cTn>
                              </p:par>
                              <p:par>
                                <p:cTn id="50" presetID="10" presetClass="entr" presetSubtype="0"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p:tgtEl>
                                          <p:spTgt spid="8"/>
                                        </p:tgtEl>
                                      </p:cBhvr>
                                    </p:animEffect>
                                  </p:childTnLst>
                                </p:cTn>
                              </p:par>
                              <p:par>
                                <p:cTn id="53" presetID="10" presetClass="entr" presetSubtype="0" fill="hold"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par>
                                <p:cTn id="56" presetID="10" presetClass="entr" presetSubtype="0" fill="hold"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00"/>
                                        <p:tgtEl>
                                          <p:spTgt spid="1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500"/>
                                        <p:tgtEl>
                                          <p:spTgt spid="1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6"/>
                                        </p:tgtEl>
                                        <p:attrNameLst>
                                          <p:attrName>style.visibility</p:attrName>
                                        </p:attrNameLst>
                                      </p:cBhvr>
                                      <p:to>
                                        <p:strVal val="visible"/>
                                      </p:to>
                                    </p:set>
                                    <p:animEffect transition="in" filter="fade">
                                      <p:cBhvr>
                                        <p:cTn id="7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P spid="9" grpId="1" animBg="1"/>
      <p:bldP spid="11" grpId="0" animBg="1"/>
      <p:bldP spid="11" grpId="1" animBg="1"/>
      <p:bldP spid="16" grpId="0" animBg="1"/>
      <p:bldP spid="18" grpId="0" animBg="1"/>
      <p:bldP spid="3" grpId="0"/>
      <p:bldP spid="8" grpId="0"/>
      <p:bldP spid="17" grpId="0" animBg="1"/>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9D2862-C1A3-F9EE-61CB-5A343E34DF6F}"/>
              </a:ext>
            </a:extLst>
          </p:cNvPr>
          <p:cNvSpPr>
            <a:spLocks noGrp="1"/>
          </p:cNvSpPr>
          <p:nvPr>
            <p:ph type="sldNum" sz="quarter" idx="12"/>
          </p:nvPr>
        </p:nvSpPr>
        <p:spPr/>
        <p:txBody>
          <a:bodyPr/>
          <a:lstStyle/>
          <a:p>
            <a:fld id="{CC057153-B650-4DEB-B370-79DDCFDCE934}" type="slidenum">
              <a:rPr lang="en-US" smtClean="0"/>
              <a:t>9</a:t>
            </a:fld>
            <a:endParaRPr lang="en-US"/>
          </a:p>
        </p:txBody>
      </p:sp>
      <p:pic>
        <p:nvPicPr>
          <p:cNvPr id="3" name="Picture 2">
            <a:extLst>
              <a:ext uri="{FF2B5EF4-FFF2-40B4-BE49-F238E27FC236}">
                <a16:creationId xmlns:a16="http://schemas.microsoft.com/office/drawing/2014/main" id="{9B4DE721-3A2B-828C-AD29-D3DC1E287109}"/>
              </a:ext>
            </a:extLst>
          </p:cNvPr>
          <p:cNvPicPr>
            <a:picLocks noChangeAspect="1"/>
          </p:cNvPicPr>
          <p:nvPr/>
        </p:nvPicPr>
        <p:blipFill>
          <a:blip r:embed="rId3"/>
          <a:stretch>
            <a:fillRect/>
          </a:stretch>
        </p:blipFill>
        <p:spPr>
          <a:xfrm>
            <a:off x="1652330" y="1008881"/>
            <a:ext cx="8887339" cy="5157497"/>
          </a:xfrm>
          <a:prstGeom prst="rect">
            <a:avLst/>
          </a:prstGeom>
        </p:spPr>
      </p:pic>
      <p:pic>
        <p:nvPicPr>
          <p:cNvPr id="23" name="Picture 22">
            <a:extLst>
              <a:ext uri="{FF2B5EF4-FFF2-40B4-BE49-F238E27FC236}">
                <a16:creationId xmlns:a16="http://schemas.microsoft.com/office/drawing/2014/main" id="{60DD1A61-6036-2012-4D4F-15BD126DDEB8}"/>
              </a:ext>
            </a:extLst>
          </p:cNvPr>
          <p:cNvPicPr>
            <a:picLocks noChangeAspect="1"/>
          </p:cNvPicPr>
          <p:nvPr/>
        </p:nvPicPr>
        <p:blipFill>
          <a:blip r:embed="rId4"/>
          <a:stretch>
            <a:fillRect/>
          </a:stretch>
        </p:blipFill>
        <p:spPr>
          <a:xfrm>
            <a:off x="6269110" y="1287621"/>
            <a:ext cx="5684799" cy="4245610"/>
          </a:xfrm>
          <a:prstGeom prst="rect">
            <a:avLst/>
          </a:prstGeom>
        </p:spPr>
      </p:pic>
      <p:pic>
        <p:nvPicPr>
          <p:cNvPr id="26" name="Picture 25">
            <a:extLst>
              <a:ext uri="{FF2B5EF4-FFF2-40B4-BE49-F238E27FC236}">
                <a16:creationId xmlns:a16="http://schemas.microsoft.com/office/drawing/2014/main" id="{7673E911-7128-46AD-E1A9-D13BE39D6468}"/>
              </a:ext>
            </a:extLst>
          </p:cNvPr>
          <p:cNvPicPr>
            <a:picLocks noChangeAspect="1"/>
          </p:cNvPicPr>
          <p:nvPr/>
        </p:nvPicPr>
        <p:blipFill>
          <a:blip r:embed="rId5"/>
          <a:stretch>
            <a:fillRect/>
          </a:stretch>
        </p:blipFill>
        <p:spPr>
          <a:xfrm>
            <a:off x="412776" y="1288798"/>
            <a:ext cx="5683223" cy="4244433"/>
          </a:xfrm>
          <a:prstGeom prst="rect">
            <a:avLst/>
          </a:prstGeom>
        </p:spPr>
      </p:pic>
      <p:sp>
        <p:nvSpPr>
          <p:cNvPr id="4" name="Title 1">
            <a:extLst>
              <a:ext uri="{FF2B5EF4-FFF2-40B4-BE49-F238E27FC236}">
                <a16:creationId xmlns:a16="http://schemas.microsoft.com/office/drawing/2014/main" id="{8E8C2B62-26FA-4728-A77C-187B70F52223}"/>
              </a:ext>
            </a:extLst>
          </p:cNvPr>
          <p:cNvSpPr txBox="1">
            <a:spLocks/>
          </p:cNvSpPr>
          <p:nvPr/>
        </p:nvSpPr>
        <p:spPr>
          <a:xfrm>
            <a:off x="314632" y="166305"/>
            <a:ext cx="11317530" cy="696470"/>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a:latin typeface="Arial"/>
                <a:cs typeface="Arial"/>
              </a:rPr>
              <a:t>100% Claim Assignment Efficiency</a:t>
            </a:r>
          </a:p>
        </p:txBody>
      </p:sp>
      <p:sp>
        <p:nvSpPr>
          <p:cNvPr id="5" name="Rectangle: Rounded Corners 4">
            <a:extLst>
              <a:ext uri="{FF2B5EF4-FFF2-40B4-BE49-F238E27FC236}">
                <a16:creationId xmlns:a16="http://schemas.microsoft.com/office/drawing/2014/main" id="{3229407A-27CA-02DC-CD31-87B32BB31C89}"/>
              </a:ext>
            </a:extLst>
          </p:cNvPr>
          <p:cNvSpPr/>
          <p:nvPr/>
        </p:nvSpPr>
        <p:spPr>
          <a:xfrm>
            <a:off x="973306" y="1510003"/>
            <a:ext cx="880533" cy="3800846"/>
          </a:xfrm>
          <a:prstGeom prst="roundRect">
            <a:avLst/>
          </a:prstGeom>
          <a:solidFill>
            <a:schemeClr val="accent2">
              <a:lumMod val="40000"/>
              <a:lumOff val="60000"/>
              <a:alpha val="3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34EF0678-8965-5422-356F-EC396F0DDD04}"/>
              </a:ext>
            </a:extLst>
          </p:cNvPr>
          <p:cNvSpPr/>
          <p:nvPr/>
        </p:nvSpPr>
        <p:spPr>
          <a:xfrm>
            <a:off x="6775023" y="1510003"/>
            <a:ext cx="880533" cy="3800846"/>
          </a:xfrm>
          <a:prstGeom prst="roundRect">
            <a:avLst/>
          </a:prstGeom>
          <a:solidFill>
            <a:schemeClr val="accent2">
              <a:lumMod val="40000"/>
              <a:lumOff val="60000"/>
              <a:alpha val="3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6644347-AC69-A8BB-BA26-33588FEA7955}"/>
              </a:ext>
            </a:extLst>
          </p:cNvPr>
          <p:cNvSpPr/>
          <p:nvPr/>
        </p:nvSpPr>
        <p:spPr>
          <a:xfrm>
            <a:off x="8671242" y="1510003"/>
            <a:ext cx="880533" cy="3800846"/>
          </a:xfrm>
          <a:prstGeom prst="roundRect">
            <a:avLst/>
          </a:prstGeom>
          <a:solidFill>
            <a:schemeClr val="accent2">
              <a:lumMod val="40000"/>
              <a:lumOff val="60000"/>
              <a:alpha val="3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4007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1" presetClass="exit" presetSubtype="1" fill="hold" nodeType="clickEffect">
                                  <p:stCondLst>
                                    <p:cond delay="0"/>
                                  </p:stCondLst>
                                  <p:childTnLst>
                                    <p:animEffect transition="out" filter="wheel(1)">
                                      <p:cBhvr>
                                        <p:cTn id="26" dur="1000"/>
                                        <p:tgtEl>
                                          <p:spTgt spid="26"/>
                                        </p:tgtEl>
                                      </p:cBhvr>
                                    </p:animEffect>
                                    <p:set>
                                      <p:cBhvr>
                                        <p:cTn id="27" dur="1" fill="hold">
                                          <p:stCondLst>
                                            <p:cond delay="999"/>
                                          </p:stCondLst>
                                        </p:cTn>
                                        <p:tgtEl>
                                          <p:spTgt spid="26"/>
                                        </p:tgtEl>
                                        <p:attrNameLst>
                                          <p:attrName>style.visibility</p:attrName>
                                        </p:attrNameLst>
                                      </p:cBhvr>
                                      <p:to>
                                        <p:strVal val="hidden"/>
                                      </p:to>
                                    </p:set>
                                  </p:childTnLst>
                                </p:cTn>
                              </p:par>
                              <p:par>
                                <p:cTn id="28" presetID="21" presetClass="exit" presetSubtype="1" fill="hold" nodeType="withEffect">
                                  <p:stCondLst>
                                    <p:cond delay="0"/>
                                  </p:stCondLst>
                                  <p:childTnLst>
                                    <p:animEffect transition="out" filter="wheel(1)">
                                      <p:cBhvr>
                                        <p:cTn id="29" dur="1000"/>
                                        <p:tgtEl>
                                          <p:spTgt spid="23"/>
                                        </p:tgtEl>
                                      </p:cBhvr>
                                    </p:animEffect>
                                    <p:set>
                                      <p:cBhvr>
                                        <p:cTn id="30" dur="1" fill="hold">
                                          <p:stCondLst>
                                            <p:cond delay="999"/>
                                          </p:stCondLst>
                                        </p:cTn>
                                        <p:tgtEl>
                                          <p:spTgt spid="23"/>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5"/>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6"/>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7"/>
                                        </p:tgtEl>
                                        <p:attrNameLst>
                                          <p:attrName>style.visibility</p:attrName>
                                        </p:attrNameLst>
                                      </p:cBhvr>
                                      <p:to>
                                        <p:strVal val="hidden"/>
                                      </p:to>
                                    </p:set>
                                  </p:childTnLst>
                                </p:cTn>
                              </p:par>
                              <p:par>
                                <p:cTn id="37" presetID="22" presetClass="entr" presetSubtype="4" fill="hold"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down)">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CC3A3-79FE-6DA0-4A4F-F64CE7744A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98B317-D012-74C1-3F37-3BB773A916E6}"/>
              </a:ext>
            </a:extLst>
          </p:cNvPr>
          <p:cNvSpPr txBox="1"/>
          <p:nvPr/>
        </p:nvSpPr>
        <p:spPr>
          <a:xfrm>
            <a:off x="488757" y="155337"/>
            <a:ext cx="1114340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b="1">
                <a:latin typeface="Arial"/>
                <a:ea typeface="Calibri" panose="020F0502020204030204"/>
                <a:cs typeface="Arial"/>
              </a:rPr>
              <a:t>Model Comparative Analysis</a:t>
            </a:r>
          </a:p>
        </p:txBody>
      </p:sp>
      <p:sp>
        <p:nvSpPr>
          <p:cNvPr id="4" name="Slide Number Placeholder 3">
            <a:extLst>
              <a:ext uri="{FF2B5EF4-FFF2-40B4-BE49-F238E27FC236}">
                <a16:creationId xmlns:a16="http://schemas.microsoft.com/office/drawing/2014/main" id="{F440147A-35AC-5154-9029-FF68EFEB3D21}"/>
              </a:ext>
            </a:extLst>
          </p:cNvPr>
          <p:cNvSpPr>
            <a:spLocks noGrp="1"/>
          </p:cNvSpPr>
          <p:nvPr>
            <p:ph type="sldNum" sz="quarter" idx="12"/>
          </p:nvPr>
        </p:nvSpPr>
        <p:spPr/>
        <p:txBody>
          <a:bodyPr/>
          <a:lstStyle/>
          <a:p>
            <a:fld id="{CC057153-B650-4DEB-B370-79DDCFDCE934}" type="slidenum">
              <a:rPr lang="en-US" sz="1600" smtClean="0">
                <a:latin typeface="Avenir Medium"/>
              </a:rPr>
              <a:t>10</a:t>
            </a:fld>
            <a:endParaRPr lang="en-US" sz="1600">
              <a:latin typeface="Avenir Medium"/>
            </a:endParaRPr>
          </a:p>
        </p:txBody>
      </p:sp>
      <p:graphicFrame>
        <p:nvGraphicFramePr>
          <p:cNvPr id="2" name="Table 1">
            <a:extLst>
              <a:ext uri="{FF2B5EF4-FFF2-40B4-BE49-F238E27FC236}">
                <a16:creationId xmlns:a16="http://schemas.microsoft.com/office/drawing/2014/main" id="{B04CB418-F318-2E62-EA2B-DBDB508A3F4B}"/>
              </a:ext>
            </a:extLst>
          </p:cNvPr>
          <p:cNvGraphicFramePr>
            <a:graphicFrameLocks noGrp="1"/>
          </p:cNvGraphicFramePr>
          <p:nvPr>
            <p:extLst>
              <p:ext uri="{D42A27DB-BD31-4B8C-83A1-F6EECF244321}">
                <p14:modId xmlns:p14="http://schemas.microsoft.com/office/powerpoint/2010/main" val="3442661777"/>
              </p:ext>
            </p:extLst>
          </p:nvPr>
        </p:nvGraphicFramePr>
        <p:xfrm>
          <a:off x="498119" y="1745335"/>
          <a:ext cx="11209662" cy="3357057"/>
        </p:xfrm>
        <a:graphic>
          <a:graphicData uri="http://schemas.openxmlformats.org/drawingml/2006/table">
            <a:tbl>
              <a:tblPr firstRow="1" bandRow="1">
                <a:tableStyleId>{5C22544A-7EE6-4342-B048-85BDC9FD1C3A}</a:tableStyleId>
              </a:tblPr>
              <a:tblGrid>
                <a:gridCol w="3736554">
                  <a:extLst>
                    <a:ext uri="{9D8B030D-6E8A-4147-A177-3AD203B41FA5}">
                      <a16:colId xmlns:a16="http://schemas.microsoft.com/office/drawing/2014/main" val="1011756997"/>
                    </a:ext>
                  </a:extLst>
                </a:gridCol>
                <a:gridCol w="3736554">
                  <a:extLst>
                    <a:ext uri="{9D8B030D-6E8A-4147-A177-3AD203B41FA5}">
                      <a16:colId xmlns:a16="http://schemas.microsoft.com/office/drawing/2014/main" val="2604848606"/>
                    </a:ext>
                  </a:extLst>
                </a:gridCol>
                <a:gridCol w="3736554">
                  <a:extLst>
                    <a:ext uri="{9D8B030D-6E8A-4147-A177-3AD203B41FA5}">
                      <a16:colId xmlns:a16="http://schemas.microsoft.com/office/drawing/2014/main" val="3118033291"/>
                    </a:ext>
                  </a:extLst>
                </a:gridCol>
              </a:tblGrid>
              <a:tr h="1119019">
                <a:tc>
                  <a:txBody>
                    <a:bodyPr/>
                    <a:lstStyle/>
                    <a:p>
                      <a:pPr algn="ctr"/>
                      <a:r>
                        <a:rPr lang="en-US" sz="2000">
                          <a:solidFill>
                            <a:schemeClr val="tx1"/>
                          </a:solidFill>
                          <a:latin typeface="Arial" panose="020B0604020202020204" pitchFamily="34" charset="0"/>
                          <a:cs typeface="Arial" panose="020B0604020202020204" pitchFamily="34" charset="0"/>
                        </a:rPr>
                        <a:t>Model 1:</a:t>
                      </a:r>
                    </a:p>
                    <a:p>
                      <a:pPr lvl="0" algn="ctr">
                        <a:buNone/>
                      </a:pPr>
                      <a:r>
                        <a:rPr lang="en-US" sz="2000">
                          <a:solidFill>
                            <a:schemeClr val="tx1"/>
                          </a:solidFill>
                          <a:latin typeface="Arial" panose="020B0604020202020204" pitchFamily="34" charset="0"/>
                          <a:cs typeface="Arial" panose="020B0604020202020204" pitchFamily="34" charset="0"/>
                        </a:rPr>
                        <a:t>Claims Model</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FABF18"/>
                    </a:solidFill>
                  </a:tcPr>
                </a:tc>
                <a:tc>
                  <a:txBody>
                    <a:bodyPr/>
                    <a:lstStyle/>
                    <a:p>
                      <a:pPr algn="ctr"/>
                      <a:r>
                        <a:rPr lang="en-US" sz="2000">
                          <a:solidFill>
                            <a:schemeClr val="tx1"/>
                          </a:solidFill>
                          <a:latin typeface="Arial" panose="020B0604020202020204" pitchFamily="34" charset="0"/>
                          <a:cs typeface="Arial" panose="020B0604020202020204" pitchFamily="34" charset="0"/>
                        </a:rPr>
                        <a:t>Model 2:</a:t>
                      </a:r>
                    </a:p>
                    <a:p>
                      <a:pPr lvl="0" algn="ctr">
                        <a:buNone/>
                      </a:pPr>
                      <a:r>
                        <a:rPr lang="en-US" sz="2000">
                          <a:solidFill>
                            <a:schemeClr val="tx1"/>
                          </a:solidFill>
                          <a:latin typeface="Arial" panose="020B0604020202020204" pitchFamily="34" charset="0"/>
                          <a:cs typeface="Arial" panose="020B0604020202020204" pitchFamily="34" charset="0"/>
                        </a:rPr>
                        <a:t>Adjuster Model</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FABF18"/>
                    </a:solidFill>
                  </a:tcPr>
                </a:tc>
                <a:tc>
                  <a:txBody>
                    <a:bodyPr/>
                    <a:lstStyle/>
                    <a:p>
                      <a:pPr algn="ctr"/>
                      <a:r>
                        <a:rPr lang="en-US" sz="2000">
                          <a:solidFill>
                            <a:schemeClr val="tx1"/>
                          </a:solidFill>
                          <a:latin typeface="Arial" panose="020B0604020202020204" pitchFamily="34" charset="0"/>
                          <a:cs typeface="Arial" panose="020B0604020202020204" pitchFamily="34" charset="0"/>
                        </a:rPr>
                        <a:t>Model 3:</a:t>
                      </a:r>
                    </a:p>
                    <a:p>
                      <a:pPr lvl="0" algn="ctr">
                        <a:buNone/>
                      </a:pPr>
                      <a:r>
                        <a:rPr lang="en-US" sz="2000">
                          <a:solidFill>
                            <a:schemeClr val="tx1"/>
                          </a:solidFill>
                          <a:latin typeface="Arial" panose="020B0604020202020204" pitchFamily="34" charset="0"/>
                          <a:cs typeface="Arial" panose="020B0604020202020204" pitchFamily="34" charset="0"/>
                        </a:rPr>
                        <a:t>Final Model</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FABF18"/>
                    </a:solidFill>
                  </a:tcPr>
                </a:tc>
                <a:extLst>
                  <a:ext uri="{0D108BD9-81ED-4DB2-BD59-A6C34878D82A}">
                    <a16:rowId xmlns:a16="http://schemas.microsoft.com/office/drawing/2014/main" val="3155518199"/>
                  </a:ext>
                </a:extLst>
              </a:tr>
              <a:tr h="1119019">
                <a:tc>
                  <a:txBody>
                    <a:bodyPr/>
                    <a:lstStyle/>
                    <a:p>
                      <a:pPr algn="ctr"/>
                      <a:r>
                        <a:rPr lang="en-US" sz="2000">
                          <a:latin typeface="Arial" panose="020B0604020202020204" pitchFamily="34" charset="0"/>
                          <a:cs typeface="Arial" panose="020B0604020202020204" pitchFamily="34" charset="0"/>
                        </a:rPr>
                        <a:t>66% completed prior to deadline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a:r>
                        <a:rPr lang="en-US" sz="2000">
                          <a:latin typeface="Arial" panose="020B0604020202020204" pitchFamily="34" charset="0"/>
                          <a:cs typeface="Arial" panose="020B0604020202020204" pitchFamily="34" charset="0"/>
                        </a:rPr>
                        <a:t>90% completed prior to deadline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a:r>
                        <a:rPr lang="en-US" sz="2000">
                          <a:latin typeface="Arial" panose="020B0604020202020204" pitchFamily="34" charset="0"/>
                          <a:cs typeface="Arial" panose="020B0604020202020204" pitchFamily="34" charset="0"/>
                        </a:rPr>
                        <a:t>87% completed prior to deadline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extLst>
                  <a:ext uri="{0D108BD9-81ED-4DB2-BD59-A6C34878D82A}">
                    <a16:rowId xmlns:a16="http://schemas.microsoft.com/office/drawing/2014/main" val="2854421894"/>
                  </a:ext>
                </a:extLst>
              </a:tr>
              <a:tr h="1119019">
                <a:tc>
                  <a:txBody>
                    <a:bodyPr/>
                    <a:lstStyle/>
                    <a:p>
                      <a:pPr marL="0" indent="0" algn="ctr">
                        <a:buNone/>
                      </a:pPr>
                      <a:r>
                        <a:rPr lang="en-US" sz="2000">
                          <a:latin typeface="Arial" panose="020B0604020202020204" pitchFamily="34" charset="0"/>
                          <a:cs typeface="Arial" panose="020B0604020202020204" pitchFamily="34" charset="0"/>
                        </a:rPr>
                        <a:t>8 Days Delayed</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US" sz="2000">
                          <a:latin typeface="Arial" panose="020B0604020202020204" pitchFamily="34" charset="0"/>
                          <a:cs typeface="Arial" panose="020B0604020202020204" pitchFamily="34" charset="0"/>
                        </a:rPr>
                        <a:t>2 Days Delayed</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US" sz="2000">
                          <a:latin typeface="Arial" panose="020B0604020202020204" pitchFamily="34" charset="0"/>
                          <a:cs typeface="Arial" panose="020B0604020202020204" pitchFamily="34" charset="0"/>
                        </a:rPr>
                        <a:t>1.5 Days Delayed</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065537093"/>
                  </a:ext>
                </a:extLst>
              </a:tr>
            </a:tbl>
          </a:graphicData>
        </a:graphic>
      </p:graphicFrame>
      <p:pic>
        <p:nvPicPr>
          <p:cNvPr id="5" name="Graphic 4" descr="Close with solid fill">
            <a:extLst>
              <a:ext uri="{FF2B5EF4-FFF2-40B4-BE49-F238E27FC236}">
                <a16:creationId xmlns:a16="http://schemas.microsoft.com/office/drawing/2014/main" id="{D888BFEE-1060-9E3C-D427-535DB8C91E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38800" y="5234709"/>
            <a:ext cx="914400" cy="914400"/>
          </a:xfrm>
          <a:prstGeom prst="rect">
            <a:avLst/>
          </a:prstGeom>
        </p:spPr>
      </p:pic>
      <p:pic>
        <p:nvPicPr>
          <p:cNvPr id="6" name="Graphic 5" descr="Close with solid fill">
            <a:extLst>
              <a:ext uri="{FF2B5EF4-FFF2-40B4-BE49-F238E27FC236}">
                <a16:creationId xmlns:a16="http://schemas.microsoft.com/office/drawing/2014/main" id="{FAFE2E06-7B12-78B7-37F7-53FCE08A27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9587" y="5234709"/>
            <a:ext cx="914400" cy="914400"/>
          </a:xfrm>
          <a:prstGeom prst="rect">
            <a:avLst/>
          </a:prstGeom>
        </p:spPr>
      </p:pic>
      <p:pic>
        <p:nvPicPr>
          <p:cNvPr id="7" name="Graphic 6" descr="Checkmark with solid fill">
            <a:extLst>
              <a:ext uri="{FF2B5EF4-FFF2-40B4-BE49-F238E27FC236}">
                <a16:creationId xmlns:a16="http://schemas.microsoft.com/office/drawing/2014/main" id="{1B52BB85-476C-16DB-7FEC-2CB667CB1C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56618" y="5234709"/>
            <a:ext cx="914400" cy="914400"/>
          </a:xfrm>
          <a:prstGeom prst="rect">
            <a:avLst/>
          </a:prstGeom>
        </p:spPr>
      </p:pic>
      <p:sp>
        <p:nvSpPr>
          <p:cNvPr id="8" name="Rectangle: Rounded Corners 7">
            <a:extLst>
              <a:ext uri="{FF2B5EF4-FFF2-40B4-BE49-F238E27FC236}">
                <a16:creationId xmlns:a16="http://schemas.microsoft.com/office/drawing/2014/main" id="{BB5A3D56-E395-DC9A-9A60-59F94B6BC036}"/>
              </a:ext>
            </a:extLst>
          </p:cNvPr>
          <p:cNvSpPr/>
          <p:nvPr/>
        </p:nvSpPr>
        <p:spPr>
          <a:xfrm>
            <a:off x="559877" y="1608667"/>
            <a:ext cx="3648363" cy="4683605"/>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FB3CBE5-8EB7-3FB8-D618-938B5178E9FC}"/>
              </a:ext>
            </a:extLst>
          </p:cNvPr>
          <p:cNvSpPr/>
          <p:nvPr/>
        </p:nvSpPr>
        <p:spPr>
          <a:xfrm>
            <a:off x="4280393" y="1608667"/>
            <a:ext cx="3648363" cy="4683605"/>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11329B3F-413E-A70B-E88C-392846FB3E6B}"/>
              </a:ext>
            </a:extLst>
          </p:cNvPr>
          <p:cNvSpPr/>
          <p:nvPr/>
        </p:nvSpPr>
        <p:spPr>
          <a:xfrm>
            <a:off x="8059018" y="1608666"/>
            <a:ext cx="3648363" cy="4683605"/>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7360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0"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9"/>
                                        </p:tgtEl>
                                        <p:attrNameLst>
                                          <p:attrName>style.visibility</p:attrName>
                                        </p:attrNameLst>
                                      </p:cBhvr>
                                      <p:to>
                                        <p:strVal val="hidden"/>
                                      </p:to>
                                    </p:se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C58B7-1F7C-5709-5248-0168E664CC1B}"/>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37CDFBC-EFFF-B8B0-D665-9D6FAA156170}"/>
              </a:ext>
            </a:extLst>
          </p:cNvPr>
          <p:cNvPicPr>
            <a:picLocks noChangeAspect="1"/>
          </p:cNvPicPr>
          <p:nvPr/>
        </p:nvPicPr>
        <p:blipFill>
          <a:blip r:embed="rId4"/>
          <a:srcRect l="1595" t="2124"/>
          <a:stretch>
            <a:fillRect/>
          </a:stretch>
        </p:blipFill>
        <p:spPr>
          <a:xfrm>
            <a:off x="55224" y="1004186"/>
            <a:ext cx="8378028" cy="5006089"/>
          </a:xfrm>
          <a:prstGeom prst="rect">
            <a:avLst/>
          </a:prstGeom>
        </p:spPr>
      </p:pic>
      <p:sp>
        <p:nvSpPr>
          <p:cNvPr id="4" name="Title 1">
            <a:extLst>
              <a:ext uri="{FF2B5EF4-FFF2-40B4-BE49-F238E27FC236}">
                <a16:creationId xmlns:a16="http://schemas.microsoft.com/office/drawing/2014/main" id="{690C91B9-62CE-79CA-B2D6-04AEF7169F83}"/>
              </a:ext>
            </a:extLst>
          </p:cNvPr>
          <p:cNvSpPr txBox="1">
            <a:spLocks/>
          </p:cNvSpPr>
          <p:nvPr/>
        </p:nvSpPr>
        <p:spPr>
          <a:xfrm>
            <a:off x="272920" y="157788"/>
            <a:ext cx="11646159" cy="696470"/>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a:latin typeface="Arial"/>
                <a:cs typeface="Arial"/>
              </a:rPr>
              <a:t>Recommendations  </a:t>
            </a:r>
            <a:endParaRPr lang="en-US" sz="4800" b="1"/>
          </a:p>
        </p:txBody>
      </p:sp>
      <p:sp>
        <p:nvSpPr>
          <p:cNvPr id="3" name="TextBox 2">
            <a:extLst>
              <a:ext uri="{FF2B5EF4-FFF2-40B4-BE49-F238E27FC236}">
                <a16:creationId xmlns:a16="http://schemas.microsoft.com/office/drawing/2014/main" id="{8B4C34F4-3DCB-2B12-9434-A6FC5DA45465}"/>
              </a:ext>
            </a:extLst>
          </p:cNvPr>
          <p:cNvSpPr txBox="1"/>
          <p:nvPr/>
        </p:nvSpPr>
        <p:spPr>
          <a:xfrm>
            <a:off x="2882153" y="1304042"/>
            <a:ext cx="5392607" cy="138913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800">
                <a:latin typeface="Arial"/>
                <a:cs typeface="Arial"/>
              </a:rPr>
              <a:t>Improve adjuster utilization</a:t>
            </a:r>
          </a:p>
          <a:p>
            <a:pPr marL="742950" lvl="1" indent="-285750">
              <a:buFont typeface="Courier New" panose="020B0604020202020204" pitchFamily="34" charset="0"/>
              <a:buChar char="o"/>
            </a:pPr>
            <a:r>
              <a:rPr lang="en-US" sz="2800">
                <a:latin typeface="Arial"/>
                <a:cs typeface="Arial"/>
              </a:rPr>
              <a:t>3rd party adjusters</a:t>
            </a:r>
          </a:p>
          <a:p>
            <a:pPr marL="742950" lvl="1" indent="-285750">
              <a:buFont typeface="Courier New" panose="020B0604020202020204" pitchFamily="34" charset="0"/>
              <a:buChar char="o"/>
            </a:pPr>
            <a:r>
              <a:rPr lang="en-US" sz="2800">
                <a:latin typeface="Arial"/>
                <a:cs typeface="Arial"/>
              </a:rPr>
              <a:t>Training process</a:t>
            </a:r>
          </a:p>
        </p:txBody>
      </p:sp>
      <p:sp>
        <p:nvSpPr>
          <p:cNvPr id="5" name="TextBox 4">
            <a:extLst>
              <a:ext uri="{FF2B5EF4-FFF2-40B4-BE49-F238E27FC236}">
                <a16:creationId xmlns:a16="http://schemas.microsoft.com/office/drawing/2014/main" id="{A5E26EC2-4D4B-C705-762D-AD065E4CEBA9}"/>
              </a:ext>
            </a:extLst>
          </p:cNvPr>
          <p:cNvSpPr txBox="1"/>
          <p:nvPr/>
        </p:nvSpPr>
        <p:spPr>
          <a:xfrm>
            <a:off x="2882153" y="3222975"/>
            <a:ext cx="4380092" cy="95824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800">
                <a:latin typeface="Arial"/>
                <a:cs typeface="Arial"/>
              </a:rPr>
              <a:t>Improve claim clarity</a:t>
            </a:r>
          </a:p>
          <a:p>
            <a:pPr marL="742950" lvl="1" indent="-285750">
              <a:buFont typeface="Courier New" panose="020B0604020202020204" pitchFamily="34" charset="0"/>
              <a:buChar char="o"/>
            </a:pPr>
            <a:r>
              <a:rPr lang="en-US" sz="2800">
                <a:latin typeface="Arial"/>
                <a:cs typeface="Arial"/>
              </a:rPr>
              <a:t>Text analysis</a:t>
            </a:r>
            <a:endParaRPr lang="en-US" sz="280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EBCF5E4-6F6D-9E80-709D-6DDBDA783F5A}"/>
              </a:ext>
            </a:extLst>
          </p:cNvPr>
          <p:cNvSpPr txBox="1"/>
          <p:nvPr/>
        </p:nvSpPr>
        <p:spPr>
          <a:xfrm>
            <a:off x="8416814" y="2505939"/>
            <a:ext cx="4120290" cy="36933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latin typeface="Arial"/>
                <a:cs typeface="Arial"/>
              </a:rPr>
              <a:t>Adjuster ID</a:t>
            </a:r>
            <a:endParaRPr lang="en-US">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C7DA503-E7C6-5D6F-BA82-CCCA37593260}"/>
              </a:ext>
            </a:extLst>
          </p:cNvPr>
          <p:cNvSpPr txBox="1"/>
          <p:nvPr/>
        </p:nvSpPr>
        <p:spPr>
          <a:xfrm>
            <a:off x="8416814" y="3325195"/>
            <a:ext cx="4120290" cy="369332"/>
          </a:xfrm>
          <a:prstGeom prst="rect">
            <a:avLst/>
          </a:prstGeom>
          <a:noFill/>
        </p:spPr>
        <p:txBody>
          <a:bodyPr wrap="square" rtlCol="0">
            <a:spAutoFit/>
          </a:bodyPr>
          <a:lstStyle/>
          <a:p>
            <a:pPr marL="285750" indent="-285750">
              <a:buFont typeface="Arial" panose="020B0604020202020204" pitchFamily="34" charset="0"/>
              <a:buChar char="•"/>
            </a:pPr>
            <a:r>
              <a:rPr lang="en-US">
                <a:latin typeface="Arial" panose="020B0604020202020204" pitchFamily="34" charset="0"/>
                <a:cs typeface="Arial" panose="020B0604020202020204" pitchFamily="34" charset="0"/>
              </a:rPr>
              <a:t>Deployment Strategy</a:t>
            </a:r>
          </a:p>
        </p:txBody>
      </p:sp>
      <p:sp>
        <p:nvSpPr>
          <p:cNvPr id="8" name="TextBox 7">
            <a:extLst>
              <a:ext uri="{FF2B5EF4-FFF2-40B4-BE49-F238E27FC236}">
                <a16:creationId xmlns:a16="http://schemas.microsoft.com/office/drawing/2014/main" id="{7908B1B7-F114-FF6E-C44A-5D80132DE28B}"/>
              </a:ext>
            </a:extLst>
          </p:cNvPr>
          <p:cNvSpPr txBox="1"/>
          <p:nvPr/>
        </p:nvSpPr>
        <p:spPr>
          <a:xfrm>
            <a:off x="8416814" y="2915567"/>
            <a:ext cx="4120290" cy="369332"/>
          </a:xfrm>
          <a:prstGeom prst="rect">
            <a:avLst/>
          </a:prstGeom>
          <a:noFill/>
        </p:spPr>
        <p:txBody>
          <a:bodyPr wrap="square" rtlCol="0">
            <a:spAutoFit/>
          </a:bodyPr>
          <a:lstStyle/>
          <a:p>
            <a:pPr marL="285750" indent="-285750">
              <a:buFont typeface="Arial" panose="020B0604020202020204" pitchFamily="34" charset="0"/>
              <a:buChar char="•"/>
            </a:pPr>
            <a:r>
              <a:rPr lang="en-US">
                <a:latin typeface="Arial" panose="020B0604020202020204" pitchFamily="34" charset="0"/>
                <a:cs typeface="Arial" panose="020B0604020202020204" pitchFamily="34" charset="0"/>
              </a:rPr>
              <a:t>Adjuster and Claim Locations</a:t>
            </a:r>
          </a:p>
        </p:txBody>
      </p:sp>
      <p:sp>
        <p:nvSpPr>
          <p:cNvPr id="9" name="TextBox 8">
            <a:extLst>
              <a:ext uri="{FF2B5EF4-FFF2-40B4-BE49-F238E27FC236}">
                <a16:creationId xmlns:a16="http://schemas.microsoft.com/office/drawing/2014/main" id="{596A235E-761A-F6AA-57CC-0BC4CAF62231}"/>
              </a:ext>
            </a:extLst>
          </p:cNvPr>
          <p:cNvSpPr txBox="1"/>
          <p:nvPr/>
        </p:nvSpPr>
        <p:spPr>
          <a:xfrm>
            <a:off x="8416814" y="3734823"/>
            <a:ext cx="4120290" cy="369332"/>
          </a:xfrm>
          <a:prstGeom prst="rect">
            <a:avLst/>
          </a:prstGeom>
          <a:noFill/>
        </p:spPr>
        <p:txBody>
          <a:bodyPr wrap="square" rtlCol="0">
            <a:spAutoFit/>
          </a:bodyPr>
          <a:lstStyle/>
          <a:p>
            <a:pPr marL="285750" indent="-285750">
              <a:buFont typeface="Arial" panose="020B0604020202020204" pitchFamily="34" charset="0"/>
              <a:buChar char="•"/>
            </a:pPr>
            <a:r>
              <a:rPr lang="en-US">
                <a:latin typeface="Arial" panose="020B0604020202020204" pitchFamily="34" charset="0"/>
                <a:cs typeface="Arial" panose="020B0604020202020204" pitchFamily="34" charset="0"/>
              </a:rPr>
              <a:t>Claim Numbers</a:t>
            </a:r>
          </a:p>
        </p:txBody>
      </p:sp>
      <p:sp>
        <p:nvSpPr>
          <p:cNvPr id="10" name="TextBox 9">
            <a:extLst>
              <a:ext uri="{FF2B5EF4-FFF2-40B4-BE49-F238E27FC236}">
                <a16:creationId xmlns:a16="http://schemas.microsoft.com/office/drawing/2014/main" id="{EDE8C925-62A8-A67C-3F21-4E29CF6DD6B5}"/>
              </a:ext>
            </a:extLst>
          </p:cNvPr>
          <p:cNvSpPr txBox="1"/>
          <p:nvPr/>
        </p:nvSpPr>
        <p:spPr>
          <a:xfrm>
            <a:off x="8416814" y="4159594"/>
            <a:ext cx="4120290" cy="369332"/>
          </a:xfrm>
          <a:prstGeom prst="rect">
            <a:avLst/>
          </a:prstGeom>
          <a:noFill/>
        </p:spPr>
        <p:txBody>
          <a:bodyPr wrap="square" rtlCol="0">
            <a:spAutoFit/>
          </a:bodyPr>
          <a:lstStyle/>
          <a:p>
            <a:pPr marL="285750" indent="-285750">
              <a:buFont typeface="Arial" panose="020B0604020202020204" pitchFamily="34" charset="0"/>
              <a:buChar char="•"/>
            </a:pPr>
            <a:r>
              <a:rPr lang="en-US">
                <a:latin typeface="Arial" panose="020B0604020202020204" pitchFamily="34" charset="0"/>
                <a:cs typeface="Arial" panose="020B0604020202020204" pitchFamily="34" charset="0"/>
              </a:rPr>
              <a:t>Delay Time</a:t>
            </a:r>
          </a:p>
        </p:txBody>
      </p:sp>
      <p:sp>
        <p:nvSpPr>
          <p:cNvPr id="14" name="TextBox 13">
            <a:extLst>
              <a:ext uri="{FF2B5EF4-FFF2-40B4-BE49-F238E27FC236}">
                <a16:creationId xmlns:a16="http://schemas.microsoft.com/office/drawing/2014/main" id="{D4889DC3-448C-F15F-BAFE-1ACAAC1AC626}"/>
              </a:ext>
            </a:extLst>
          </p:cNvPr>
          <p:cNvSpPr txBox="1"/>
          <p:nvPr/>
        </p:nvSpPr>
        <p:spPr>
          <a:xfrm>
            <a:off x="2882153" y="4528926"/>
            <a:ext cx="6227113" cy="95410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800">
                <a:latin typeface="Arial"/>
                <a:cs typeface="Arial"/>
              </a:rPr>
              <a:t>Consider additional base locations</a:t>
            </a:r>
            <a:endParaRPr lang="en-US" sz="2800">
              <a:latin typeface="Arial" panose="020B0604020202020204" pitchFamily="34" charset="0"/>
              <a:cs typeface="Arial" panose="020B0604020202020204" pitchFamily="34" charset="0"/>
            </a:endParaRPr>
          </a:p>
          <a:p>
            <a:pPr marL="742950" lvl="1" indent="-285750">
              <a:buFont typeface="Courier New" panose="020B0604020202020204" pitchFamily="34" charset="0"/>
              <a:buChar char="o"/>
            </a:pPr>
            <a:r>
              <a:rPr lang="en-US" sz="2800">
                <a:latin typeface="Arial"/>
                <a:cs typeface="Arial"/>
              </a:rPr>
              <a:t>Proactivity</a:t>
            </a:r>
            <a:endParaRPr lang="en-US" sz="2800">
              <a:latin typeface="Arial" panose="020B0604020202020204" pitchFamily="34" charset="0"/>
              <a:cs typeface="Arial" panose="020B0604020202020204" pitchFamily="34" charset="0"/>
            </a:endParaRPr>
          </a:p>
        </p:txBody>
      </p:sp>
      <p:sp>
        <p:nvSpPr>
          <p:cNvPr id="12" name="Slide Number Placeholder 11">
            <a:extLst>
              <a:ext uri="{FF2B5EF4-FFF2-40B4-BE49-F238E27FC236}">
                <a16:creationId xmlns:a16="http://schemas.microsoft.com/office/drawing/2014/main" id="{9C27CCB5-2062-3B8C-BED0-585F676FB5CD}"/>
              </a:ext>
            </a:extLst>
          </p:cNvPr>
          <p:cNvSpPr>
            <a:spLocks noGrp="1"/>
          </p:cNvSpPr>
          <p:nvPr>
            <p:ph type="sldNum" sz="quarter" idx="12"/>
          </p:nvPr>
        </p:nvSpPr>
        <p:spPr/>
        <p:txBody>
          <a:bodyPr/>
          <a:lstStyle/>
          <a:p>
            <a:fld id="{CC057153-B650-4DEB-B370-79DDCFDCE934}" type="slidenum">
              <a:rPr lang="en-US" sz="1600" smtClean="0">
                <a:latin typeface="Avenir Medium"/>
              </a:rPr>
              <a:t>11</a:t>
            </a:fld>
            <a:endParaRPr lang="en-US" sz="1600">
              <a:latin typeface="Avenir Medium"/>
            </a:endParaRPr>
          </a:p>
        </p:txBody>
      </p:sp>
      <p:sp>
        <p:nvSpPr>
          <p:cNvPr id="2" name="TextBox 1">
            <a:extLst>
              <a:ext uri="{FF2B5EF4-FFF2-40B4-BE49-F238E27FC236}">
                <a16:creationId xmlns:a16="http://schemas.microsoft.com/office/drawing/2014/main" id="{0F024E04-64AA-30FB-FBC3-A1F5711B4916}"/>
              </a:ext>
            </a:extLst>
          </p:cNvPr>
          <p:cNvSpPr txBox="1"/>
          <p:nvPr/>
        </p:nvSpPr>
        <p:spPr>
          <a:xfrm>
            <a:off x="8416814" y="4569222"/>
            <a:ext cx="4120290" cy="369332"/>
          </a:xfrm>
          <a:prstGeom prst="rect">
            <a:avLst/>
          </a:prstGeom>
          <a:noFill/>
        </p:spPr>
        <p:txBody>
          <a:bodyPr wrap="square" rtlCol="0">
            <a:spAutoFit/>
          </a:bodyPr>
          <a:lstStyle/>
          <a:p>
            <a:pPr marL="285750" indent="-285750">
              <a:buFont typeface="Arial" panose="020B0604020202020204" pitchFamily="34" charset="0"/>
              <a:buChar char="•"/>
            </a:pPr>
            <a:r>
              <a:rPr lang="en-US" b="1">
                <a:solidFill>
                  <a:srgbClr val="FF0000"/>
                </a:solidFill>
                <a:latin typeface="Arial" panose="020B0604020202020204" pitchFamily="34" charset="0"/>
                <a:cs typeface="Arial" panose="020B0604020202020204" pitchFamily="34" charset="0"/>
              </a:rPr>
              <a:t>Cost Savings</a:t>
            </a:r>
          </a:p>
        </p:txBody>
      </p:sp>
    </p:spTree>
    <p:extLst>
      <p:ext uri="{BB962C8B-B14F-4D97-AF65-F5344CB8AC3E}">
        <p14:creationId xmlns:p14="http://schemas.microsoft.com/office/powerpoint/2010/main" val="3692512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5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10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150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20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250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3"/>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6"/>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7"/>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9"/>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0"/>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2"/>
                                        </p:tgtEl>
                                        <p:attrNameLst>
                                          <p:attrName>style.visibility</p:attrName>
                                        </p:attrNameLst>
                                      </p:cBhvr>
                                      <p:to>
                                        <p:strVal val="hidden"/>
                                      </p:to>
                                    </p:set>
                                  </p:childTnLst>
                                </p:cTn>
                              </p:par>
                              <p:par>
                                <p:cTn id="49" presetID="2" presetClass="entr" presetSubtype="4" fill="hold" grpId="0" nodeType="with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additive="base">
                                        <p:cTn id="51" dur="500" fill="hold"/>
                                        <p:tgtEl>
                                          <p:spTgt spid="3"/>
                                        </p:tgtEl>
                                        <p:attrNameLst>
                                          <p:attrName>ppt_x</p:attrName>
                                        </p:attrNameLst>
                                      </p:cBhvr>
                                      <p:tavLst>
                                        <p:tav tm="0">
                                          <p:val>
                                            <p:strVal val="#ppt_x"/>
                                          </p:val>
                                        </p:tav>
                                        <p:tav tm="100000">
                                          <p:val>
                                            <p:strVal val="#ppt_x"/>
                                          </p:val>
                                        </p:tav>
                                      </p:tavLst>
                                    </p:anim>
                                    <p:anim calcmode="lin" valueType="num">
                                      <p:cBhvr additive="base">
                                        <p:cTn id="52" dur="500" fill="hold"/>
                                        <p:tgtEl>
                                          <p:spTgt spid="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5"/>
                                        </p:tgtEl>
                                        <p:attrNameLst>
                                          <p:attrName>style.visibility</p:attrName>
                                        </p:attrNameLst>
                                      </p:cBhvr>
                                      <p:to>
                                        <p:strVal val="visible"/>
                                      </p:to>
                                    </p:set>
                                    <p:anim calcmode="lin" valueType="num">
                                      <p:cBhvr additive="base">
                                        <p:cTn id="55" dur="500" fill="hold"/>
                                        <p:tgtEl>
                                          <p:spTgt spid="5"/>
                                        </p:tgtEl>
                                        <p:attrNameLst>
                                          <p:attrName>ppt_x</p:attrName>
                                        </p:attrNameLst>
                                      </p:cBhvr>
                                      <p:tavLst>
                                        <p:tav tm="0">
                                          <p:val>
                                            <p:strVal val="#ppt_x"/>
                                          </p:val>
                                        </p:tav>
                                        <p:tav tm="100000">
                                          <p:val>
                                            <p:strVal val="#ppt_x"/>
                                          </p:val>
                                        </p:tav>
                                      </p:tavLst>
                                    </p:anim>
                                    <p:anim calcmode="lin" valueType="num">
                                      <p:cBhvr additive="base">
                                        <p:cTn id="56" dur="500" fill="hold"/>
                                        <p:tgtEl>
                                          <p:spTgt spid="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 calcmode="lin" valueType="num">
                                      <p:cBhvr additive="base">
                                        <p:cTn id="59" dur="500" fill="hold"/>
                                        <p:tgtEl>
                                          <p:spTgt spid="14"/>
                                        </p:tgtEl>
                                        <p:attrNameLst>
                                          <p:attrName>ppt_x</p:attrName>
                                        </p:attrNameLst>
                                      </p:cBhvr>
                                      <p:tavLst>
                                        <p:tav tm="0">
                                          <p:val>
                                            <p:strVal val="#ppt_x"/>
                                          </p:val>
                                        </p:tav>
                                        <p:tav tm="100000">
                                          <p:val>
                                            <p:strVal val="#ppt_x"/>
                                          </p:val>
                                        </p:tav>
                                      </p:tavLst>
                                    </p:anim>
                                    <p:anim calcmode="lin" valueType="num">
                                      <p:cBhvr additive="base">
                                        <p:cTn id="6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6" grpId="1"/>
      <p:bldP spid="7" grpId="0"/>
      <p:bldP spid="7" grpId="1"/>
      <p:bldP spid="8" grpId="0"/>
      <p:bldP spid="8" grpId="1"/>
      <p:bldP spid="9" grpId="0"/>
      <p:bldP spid="9" grpId="1"/>
      <p:bldP spid="10" grpId="0"/>
      <p:bldP spid="10" grpId="1"/>
      <p:bldP spid="14" grpId="0"/>
      <p:bldP spid="2" grpId="0"/>
      <p:bldP spid="2" grpId="1"/>
    </p:bldLst>
  </p:timing>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955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63380-F6B6-C4B6-CEE3-CEA15AC07286}"/>
            </a:ext>
          </a:extLst>
        </p:cNvPr>
        <p:cNvGrpSpPr/>
        <p:nvPr/>
      </p:nvGrpSpPr>
      <p:grpSpPr>
        <a:xfrm>
          <a:off x="0" y="0"/>
          <a:ext cx="0" cy="0"/>
          <a:chOff x="0" y="0"/>
          <a:chExt cx="0" cy="0"/>
        </a:xfrm>
      </p:grpSpPr>
      <p:sp>
        <p:nvSpPr>
          <p:cNvPr id="5" name="Rectangle: Rounded Corners 4">
            <a:hlinkClick r:id="rId3"/>
            <a:extLst>
              <a:ext uri="{FF2B5EF4-FFF2-40B4-BE49-F238E27FC236}">
                <a16:creationId xmlns:a16="http://schemas.microsoft.com/office/drawing/2014/main" id="{44703CF1-08F3-24AF-C39F-4AB81E0C6D48}"/>
              </a:ext>
            </a:extLst>
          </p:cNvPr>
          <p:cNvSpPr/>
          <p:nvPr/>
        </p:nvSpPr>
        <p:spPr>
          <a:xfrm>
            <a:off x="1307690" y="1418018"/>
            <a:ext cx="9242323" cy="3746091"/>
          </a:xfrm>
          <a:prstGeom prst="roundRect">
            <a:avLst/>
          </a:prstGeom>
          <a:solidFill>
            <a:srgbClr val="FABF1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99651634-C1F0-32E5-8C42-A8856524E31B}"/>
              </a:ext>
            </a:extLst>
          </p:cNvPr>
          <p:cNvSpPr txBox="1">
            <a:spLocks/>
          </p:cNvSpPr>
          <p:nvPr/>
        </p:nvSpPr>
        <p:spPr>
          <a:xfrm>
            <a:off x="2524918" y="3011939"/>
            <a:ext cx="7142163" cy="696470"/>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a:latin typeface="Arial"/>
                <a:cs typeface="Arial"/>
              </a:rPr>
              <a:t>Appendix</a:t>
            </a:r>
            <a:endParaRPr lang="en-US" sz="5400" b="1"/>
          </a:p>
        </p:txBody>
      </p:sp>
      <p:sp>
        <p:nvSpPr>
          <p:cNvPr id="3" name="Slide Number Placeholder 2">
            <a:extLst>
              <a:ext uri="{FF2B5EF4-FFF2-40B4-BE49-F238E27FC236}">
                <a16:creationId xmlns:a16="http://schemas.microsoft.com/office/drawing/2014/main" id="{ACC90180-07A1-0567-9CBC-307DD817FB3D}"/>
              </a:ext>
            </a:extLst>
          </p:cNvPr>
          <p:cNvSpPr>
            <a:spLocks noGrp="1"/>
          </p:cNvSpPr>
          <p:nvPr>
            <p:ph type="sldNum" sz="quarter" idx="12"/>
          </p:nvPr>
        </p:nvSpPr>
        <p:spPr/>
        <p:txBody>
          <a:bodyPr/>
          <a:lstStyle/>
          <a:p>
            <a:fld id="{CC057153-B650-4DEB-B370-79DDCFDCE934}" type="slidenum">
              <a:rPr lang="en-US" sz="1600" smtClean="0">
                <a:latin typeface="Avenir Medium" panose="02000503020000020003"/>
              </a:rPr>
              <a:t>13</a:t>
            </a:fld>
            <a:endParaRPr lang="en-US" sz="1600">
              <a:latin typeface="Avenir Medium" panose="02000503020000020003"/>
            </a:endParaRPr>
          </a:p>
        </p:txBody>
      </p:sp>
    </p:spTree>
    <p:extLst>
      <p:ext uri="{BB962C8B-B14F-4D97-AF65-F5344CB8AC3E}">
        <p14:creationId xmlns:p14="http://schemas.microsoft.com/office/powerpoint/2010/main" val="2246577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F20444-2FA5-538E-6F51-3B06867DB3B4}"/>
              </a:ext>
            </a:extLst>
          </p:cNvPr>
          <p:cNvSpPr>
            <a:spLocks noGrp="1"/>
          </p:cNvSpPr>
          <p:nvPr>
            <p:ph type="sldNum" sz="quarter" idx="12"/>
          </p:nvPr>
        </p:nvSpPr>
        <p:spPr/>
        <p:txBody>
          <a:bodyPr/>
          <a:lstStyle/>
          <a:p>
            <a:fld id="{CC057153-B650-4DEB-B370-79DDCFDCE934}" type="slidenum">
              <a:rPr lang="en-US" sz="1600" smtClean="0">
                <a:latin typeface="Avenir Medium" panose="02000503020000020003"/>
              </a:rPr>
              <a:t>14</a:t>
            </a:fld>
            <a:endParaRPr lang="en-US" sz="1600">
              <a:latin typeface="Avenir Medium" panose="02000503020000020003"/>
            </a:endParaRPr>
          </a:p>
        </p:txBody>
      </p:sp>
      <p:pic>
        <p:nvPicPr>
          <p:cNvPr id="3" name="Picture 2">
            <a:extLst>
              <a:ext uri="{FF2B5EF4-FFF2-40B4-BE49-F238E27FC236}">
                <a16:creationId xmlns:a16="http://schemas.microsoft.com/office/drawing/2014/main" id="{C855EC3B-B2B2-CEA0-A76E-2ECE883AEC08}"/>
              </a:ext>
            </a:extLst>
          </p:cNvPr>
          <p:cNvPicPr>
            <a:picLocks noChangeAspect="1"/>
          </p:cNvPicPr>
          <p:nvPr/>
        </p:nvPicPr>
        <p:blipFill>
          <a:blip r:embed="rId2"/>
          <a:stretch>
            <a:fillRect/>
          </a:stretch>
        </p:blipFill>
        <p:spPr>
          <a:xfrm>
            <a:off x="850281" y="603990"/>
            <a:ext cx="10662611" cy="5650019"/>
          </a:xfrm>
          <a:prstGeom prst="rect">
            <a:avLst/>
          </a:prstGeom>
          <a:ln>
            <a:solidFill>
              <a:schemeClr val="tx1"/>
            </a:solidFill>
          </a:ln>
        </p:spPr>
      </p:pic>
      <p:sp>
        <p:nvSpPr>
          <p:cNvPr id="4" name="TextBox 3">
            <a:extLst>
              <a:ext uri="{FF2B5EF4-FFF2-40B4-BE49-F238E27FC236}">
                <a16:creationId xmlns:a16="http://schemas.microsoft.com/office/drawing/2014/main" id="{3DDB3977-E851-FF8D-5BF9-1FF3B14DEE13}"/>
              </a:ext>
            </a:extLst>
          </p:cNvPr>
          <p:cNvSpPr txBox="1"/>
          <p:nvPr/>
        </p:nvSpPr>
        <p:spPr>
          <a:xfrm>
            <a:off x="850281" y="158621"/>
            <a:ext cx="10021078" cy="373225"/>
          </a:xfrm>
          <a:prstGeom prst="rect">
            <a:avLst/>
          </a:prstGeom>
          <a:noFill/>
        </p:spPr>
        <p:txBody>
          <a:bodyPr wrap="square" rtlCol="0">
            <a:spAutoFit/>
          </a:bodyPr>
          <a:lstStyle/>
          <a:p>
            <a:r>
              <a:rPr lang="en-US"/>
              <a:t>Figure 1: Claim and Adjuster Location Allocation in the U.S.</a:t>
            </a:r>
          </a:p>
        </p:txBody>
      </p:sp>
    </p:spTree>
    <p:extLst>
      <p:ext uri="{BB962C8B-B14F-4D97-AF65-F5344CB8AC3E}">
        <p14:creationId xmlns:p14="http://schemas.microsoft.com/office/powerpoint/2010/main" val="3985989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2D54AC-14A5-2BCF-9A35-915DCA11FCC8}"/>
              </a:ext>
            </a:extLst>
          </p:cNvPr>
          <p:cNvSpPr>
            <a:spLocks noGrp="1"/>
          </p:cNvSpPr>
          <p:nvPr>
            <p:ph type="sldNum" sz="quarter" idx="12"/>
          </p:nvPr>
        </p:nvSpPr>
        <p:spPr/>
        <p:txBody>
          <a:bodyPr/>
          <a:lstStyle/>
          <a:p>
            <a:fld id="{CC057153-B650-4DEB-B370-79DDCFDCE934}" type="slidenum">
              <a:rPr lang="en-US" sz="1600" smtClean="0">
                <a:latin typeface="Avenir Medium" panose="02000503020000020003"/>
              </a:rPr>
              <a:t>15</a:t>
            </a:fld>
            <a:endParaRPr lang="en-US" sz="1600">
              <a:latin typeface="Avenir Medium" panose="02000503020000020003"/>
            </a:endParaRPr>
          </a:p>
        </p:txBody>
      </p:sp>
      <p:pic>
        <p:nvPicPr>
          <p:cNvPr id="3" name="Picture 2">
            <a:extLst>
              <a:ext uri="{FF2B5EF4-FFF2-40B4-BE49-F238E27FC236}">
                <a16:creationId xmlns:a16="http://schemas.microsoft.com/office/drawing/2014/main" id="{9739C9DA-5610-EA84-9CF7-209C2E422A09}"/>
              </a:ext>
            </a:extLst>
          </p:cNvPr>
          <p:cNvPicPr>
            <a:picLocks noChangeAspect="1"/>
          </p:cNvPicPr>
          <p:nvPr/>
        </p:nvPicPr>
        <p:blipFill>
          <a:blip r:embed="rId3"/>
          <a:srcRect t="6570"/>
          <a:stretch>
            <a:fillRect/>
          </a:stretch>
        </p:blipFill>
        <p:spPr>
          <a:xfrm>
            <a:off x="133400" y="938289"/>
            <a:ext cx="5747996" cy="4000345"/>
          </a:xfrm>
          <a:prstGeom prst="rect">
            <a:avLst/>
          </a:prstGeom>
          <a:ln>
            <a:solidFill>
              <a:schemeClr val="tx1"/>
            </a:solidFill>
          </a:ln>
        </p:spPr>
      </p:pic>
      <p:pic>
        <p:nvPicPr>
          <p:cNvPr id="8" name="Picture 7">
            <a:extLst>
              <a:ext uri="{FF2B5EF4-FFF2-40B4-BE49-F238E27FC236}">
                <a16:creationId xmlns:a16="http://schemas.microsoft.com/office/drawing/2014/main" id="{3BC31C27-C472-636F-F261-8E6840BCB1E9}"/>
              </a:ext>
            </a:extLst>
          </p:cNvPr>
          <p:cNvPicPr>
            <a:picLocks noChangeAspect="1"/>
          </p:cNvPicPr>
          <p:nvPr/>
        </p:nvPicPr>
        <p:blipFill>
          <a:blip r:embed="rId4"/>
          <a:srcRect t="6570" r="870"/>
          <a:stretch>
            <a:fillRect/>
          </a:stretch>
        </p:blipFill>
        <p:spPr>
          <a:xfrm>
            <a:off x="6269587" y="938289"/>
            <a:ext cx="5362575" cy="4000345"/>
          </a:xfrm>
          <a:prstGeom prst="rect">
            <a:avLst/>
          </a:prstGeom>
          <a:ln>
            <a:solidFill>
              <a:schemeClr val="tx1"/>
            </a:solidFill>
          </a:ln>
        </p:spPr>
      </p:pic>
      <p:sp>
        <p:nvSpPr>
          <p:cNvPr id="4" name="TextBox 3">
            <a:extLst>
              <a:ext uri="{FF2B5EF4-FFF2-40B4-BE49-F238E27FC236}">
                <a16:creationId xmlns:a16="http://schemas.microsoft.com/office/drawing/2014/main" id="{9D55F2D5-B021-2F9E-B039-7883A3164576}"/>
              </a:ext>
            </a:extLst>
          </p:cNvPr>
          <p:cNvSpPr txBox="1"/>
          <p:nvPr/>
        </p:nvSpPr>
        <p:spPr>
          <a:xfrm>
            <a:off x="133400" y="447869"/>
            <a:ext cx="5747996" cy="369332"/>
          </a:xfrm>
          <a:prstGeom prst="rect">
            <a:avLst/>
          </a:prstGeom>
          <a:noFill/>
        </p:spPr>
        <p:txBody>
          <a:bodyPr wrap="square" rtlCol="0">
            <a:spAutoFit/>
          </a:bodyPr>
          <a:lstStyle/>
          <a:p>
            <a:r>
              <a:rPr lang="en-US"/>
              <a:t>Figure 2: CAT Severity Code Distribution (Raw)</a:t>
            </a:r>
          </a:p>
        </p:txBody>
      </p:sp>
      <p:sp>
        <p:nvSpPr>
          <p:cNvPr id="5" name="TextBox 4">
            <a:extLst>
              <a:ext uri="{FF2B5EF4-FFF2-40B4-BE49-F238E27FC236}">
                <a16:creationId xmlns:a16="http://schemas.microsoft.com/office/drawing/2014/main" id="{17E78176-6CC9-2B8A-F6D3-39AFB47EDEA4}"/>
              </a:ext>
            </a:extLst>
          </p:cNvPr>
          <p:cNvSpPr txBox="1"/>
          <p:nvPr/>
        </p:nvSpPr>
        <p:spPr>
          <a:xfrm>
            <a:off x="6000750" y="447869"/>
            <a:ext cx="6764355" cy="369332"/>
          </a:xfrm>
          <a:prstGeom prst="rect">
            <a:avLst/>
          </a:prstGeom>
          <a:noFill/>
        </p:spPr>
        <p:txBody>
          <a:bodyPr wrap="square" rtlCol="0">
            <a:spAutoFit/>
          </a:bodyPr>
          <a:lstStyle/>
          <a:p>
            <a:r>
              <a:rPr lang="en-US"/>
              <a:t>Figure 3: CAT Severity Code Distribution (Text Analysis)</a:t>
            </a:r>
          </a:p>
        </p:txBody>
      </p:sp>
    </p:spTree>
    <p:extLst>
      <p:ext uri="{BB962C8B-B14F-4D97-AF65-F5344CB8AC3E}">
        <p14:creationId xmlns:p14="http://schemas.microsoft.com/office/powerpoint/2010/main" val="1315580075"/>
      </p:ext>
    </p:extLst>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04B69D-4E7D-DF23-B23A-6F25FDE7894F}"/>
              </a:ext>
            </a:extLst>
          </p:cNvPr>
          <p:cNvSpPr>
            <a:spLocks noGrp="1"/>
          </p:cNvSpPr>
          <p:nvPr>
            <p:ph type="sldNum" sz="quarter" idx="12"/>
          </p:nvPr>
        </p:nvSpPr>
        <p:spPr/>
        <p:txBody>
          <a:bodyPr/>
          <a:lstStyle/>
          <a:p>
            <a:fld id="{CC057153-B650-4DEB-B370-79DDCFDCE934}" type="slidenum">
              <a:rPr lang="en-US" sz="1600" smtClean="0">
                <a:latin typeface="Avenir Medium" panose="02000503020000020003"/>
              </a:rPr>
              <a:t>16</a:t>
            </a:fld>
            <a:endParaRPr lang="en-US" sz="1600">
              <a:latin typeface="Avenir Medium" panose="02000503020000020003"/>
            </a:endParaRPr>
          </a:p>
        </p:txBody>
      </p:sp>
      <p:pic>
        <p:nvPicPr>
          <p:cNvPr id="5" name="Picture 4">
            <a:extLst>
              <a:ext uri="{FF2B5EF4-FFF2-40B4-BE49-F238E27FC236}">
                <a16:creationId xmlns:a16="http://schemas.microsoft.com/office/drawing/2014/main" id="{C5FBFE0A-9666-ACA2-6B98-D1C73BB09789}"/>
              </a:ext>
            </a:extLst>
          </p:cNvPr>
          <p:cNvPicPr>
            <a:picLocks noChangeAspect="1"/>
          </p:cNvPicPr>
          <p:nvPr/>
        </p:nvPicPr>
        <p:blipFill>
          <a:blip r:embed="rId2"/>
          <a:srcRect t="5859"/>
          <a:stretch>
            <a:fillRect/>
          </a:stretch>
        </p:blipFill>
        <p:spPr>
          <a:xfrm>
            <a:off x="5755041" y="1009650"/>
            <a:ext cx="6239653" cy="3490886"/>
          </a:xfrm>
          <a:prstGeom prst="rect">
            <a:avLst/>
          </a:prstGeom>
          <a:ln>
            <a:solidFill>
              <a:schemeClr val="tx1"/>
            </a:solidFill>
          </a:ln>
        </p:spPr>
      </p:pic>
      <p:pic>
        <p:nvPicPr>
          <p:cNvPr id="8" name="Picture 7">
            <a:extLst>
              <a:ext uri="{FF2B5EF4-FFF2-40B4-BE49-F238E27FC236}">
                <a16:creationId xmlns:a16="http://schemas.microsoft.com/office/drawing/2014/main" id="{AD968CB3-11C0-2F3A-3254-8FDAB5F7F929}"/>
              </a:ext>
            </a:extLst>
          </p:cNvPr>
          <p:cNvPicPr>
            <a:picLocks noChangeAspect="1"/>
          </p:cNvPicPr>
          <p:nvPr/>
        </p:nvPicPr>
        <p:blipFill>
          <a:blip r:embed="rId3"/>
          <a:srcRect l="1274" r="1670"/>
          <a:stretch>
            <a:fillRect/>
          </a:stretch>
        </p:blipFill>
        <p:spPr>
          <a:xfrm>
            <a:off x="44846" y="887613"/>
            <a:ext cx="5614646" cy="4352522"/>
          </a:xfrm>
          <a:prstGeom prst="rect">
            <a:avLst/>
          </a:prstGeom>
          <a:noFill/>
        </p:spPr>
      </p:pic>
      <p:sp>
        <p:nvSpPr>
          <p:cNvPr id="3" name="TextBox 2">
            <a:extLst>
              <a:ext uri="{FF2B5EF4-FFF2-40B4-BE49-F238E27FC236}">
                <a16:creationId xmlns:a16="http://schemas.microsoft.com/office/drawing/2014/main" id="{5F97E60C-90C0-968C-47E6-705EB5A0D92E}"/>
              </a:ext>
            </a:extLst>
          </p:cNvPr>
          <p:cNvSpPr txBox="1"/>
          <p:nvPr/>
        </p:nvSpPr>
        <p:spPr>
          <a:xfrm>
            <a:off x="73720" y="518281"/>
            <a:ext cx="5460306" cy="369332"/>
          </a:xfrm>
          <a:prstGeom prst="rect">
            <a:avLst/>
          </a:prstGeom>
          <a:noFill/>
        </p:spPr>
        <p:txBody>
          <a:bodyPr wrap="square" rtlCol="0">
            <a:spAutoFit/>
          </a:bodyPr>
          <a:lstStyle/>
          <a:p>
            <a:r>
              <a:rPr lang="en-US"/>
              <a:t>Figure 4: Service Level Agreement (Provided)</a:t>
            </a:r>
          </a:p>
        </p:txBody>
      </p:sp>
      <p:sp>
        <p:nvSpPr>
          <p:cNvPr id="4" name="TextBox 3">
            <a:extLst>
              <a:ext uri="{FF2B5EF4-FFF2-40B4-BE49-F238E27FC236}">
                <a16:creationId xmlns:a16="http://schemas.microsoft.com/office/drawing/2014/main" id="{342C99DC-088B-E774-484B-6003B30296EB}"/>
              </a:ext>
            </a:extLst>
          </p:cNvPr>
          <p:cNvSpPr txBox="1"/>
          <p:nvPr/>
        </p:nvSpPr>
        <p:spPr>
          <a:xfrm>
            <a:off x="5640741" y="518281"/>
            <a:ext cx="6759467" cy="369332"/>
          </a:xfrm>
          <a:prstGeom prst="rect">
            <a:avLst/>
          </a:prstGeom>
          <a:noFill/>
        </p:spPr>
        <p:txBody>
          <a:bodyPr wrap="square" rtlCol="0">
            <a:spAutoFit/>
          </a:bodyPr>
          <a:lstStyle/>
          <a:p>
            <a:r>
              <a:rPr lang="en-US"/>
              <a:t>Figure 5: Claim Distribution by CAT Severity Code and State</a:t>
            </a:r>
          </a:p>
        </p:txBody>
      </p:sp>
    </p:spTree>
    <p:extLst>
      <p:ext uri="{BB962C8B-B14F-4D97-AF65-F5344CB8AC3E}">
        <p14:creationId xmlns:p14="http://schemas.microsoft.com/office/powerpoint/2010/main" val="3576098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1BDD5D-04CA-9506-3BC8-F3BEF084AE10}"/>
              </a:ext>
            </a:extLst>
          </p:cNvPr>
          <p:cNvSpPr>
            <a:spLocks noGrp="1"/>
          </p:cNvSpPr>
          <p:nvPr>
            <p:ph type="sldNum" sz="quarter" idx="12"/>
          </p:nvPr>
        </p:nvSpPr>
        <p:spPr/>
        <p:txBody>
          <a:bodyPr/>
          <a:lstStyle/>
          <a:p>
            <a:fld id="{CC057153-B650-4DEB-B370-79DDCFDCE934}" type="slidenum">
              <a:rPr lang="en-US" sz="1600" smtClean="0">
                <a:latin typeface="Avenir Medium" panose="02000503020000020003"/>
              </a:rPr>
              <a:t>17</a:t>
            </a:fld>
            <a:endParaRPr lang="en-US" sz="1600">
              <a:latin typeface="Avenir Medium" panose="02000503020000020003"/>
            </a:endParaRPr>
          </a:p>
        </p:txBody>
      </p:sp>
      <p:pic>
        <p:nvPicPr>
          <p:cNvPr id="3" name="Picture 2">
            <a:extLst>
              <a:ext uri="{FF2B5EF4-FFF2-40B4-BE49-F238E27FC236}">
                <a16:creationId xmlns:a16="http://schemas.microsoft.com/office/drawing/2014/main" id="{7A279AA4-0D54-9791-BE88-9CA286D4637F}"/>
              </a:ext>
            </a:extLst>
          </p:cNvPr>
          <p:cNvPicPr>
            <a:picLocks noChangeAspect="1"/>
          </p:cNvPicPr>
          <p:nvPr/>
        </p:nvPicPr>
        <p:blipFill>
          <a:blip r:embed="rId2"/>
          <a:srcRect t="7568"/>
          <a:stretch>
            <a:fillRect/>
          </a:stretch>
        </p:blipFill>
        <p:spPr>
          <a:xfrm>
            <a:off x="475970" y="1219200"/>
            <a:ext cx="11240059" cy="3980969"/>
          </a:xfrm>
          <a:prstGeom prst="rect">
            <a:avLst/>
          </a:prstGeom>
          <a:ln>
            <a:solidFill>
              <a:schemeClr val="tx1"/>
            </a:solidFill>
          </a:ln>
        </p:spPr>
      </p:pic>
      <p:sp>
        <p:nvSpPr>
          <p:cNvPr id="4" name="TextBox 3">
            <a:extLst>
              <a:ext uri="{FF2B5EF4-FFF2-40B4-BE49-F238E27FC236}">
                <a16:creationId xmlns:a16="http://schemas.microsoft.com/office/drawing/2014/main" id="{CAAE797E-D383-5455-5A05-445FDC588025}"/>
              </a:ext>
            </a:extLst>
          </p:cNvPr>
          <p:cNvSpPr txBox="1"/>
          <p:nvPr/>
        </p:nvSpPr>
        <p:spPr>
          <a:xfrm>
            <a:off x="475970" y="704357"/>
            <a:ext cx="11439805" cy="369332"/>
          </a:xfrm>
          <a:prstGeom prst="rect">
            <a:avLst/>
          </a:prstGeom>
          <a:noFill/>
        </p:spPr>
        <p:txBody>
          <a:bodyPr wrap="square" rtlCol="0">
            <a:spAutoFit/>
          </a:bodyPr>
          <a:lstStyle/>
          <a:p>
            <a:r>
              <a:rPr lang="en-US"/>
              <a:t>Figure 6: Adjuster Skill Levels and Travel Preferences by Line of Business</a:t>
            </a:r>
          </a:p>
        </p:txBody>
      </p:sp>
    </p:spTree>
    <p:extLst>
      <p:ext uri="{BB962C8B-B14F-4D97-AF65-F5344CB8AC3E}">
        <p14:creationId xmlns:p14="http://schemas.microsoft.com/office/powerpoint/2010/main" val="3571618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B49BEAC-2477-C5C8-3C6D-5AF18ACDA08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3E16923-C592-FE7B-6DDA-99DB00F83A09}"/>
              </a:ext>
            </a:extLst>
          </p:cNvPr>
          <p:cNvSpPr txBox="1">
            <a:spLocks/>
          </p:cNvSpPr>
          <p:nvPr/>
        </p:nvSpPr>
        <p:spPr>
          <a:xfrm>
            <a:off x="733096" y="354615"/>
            <a:ext cx="10524460" cy="696470"/>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a:latin typeface="Arial"/>
                <a:cs typeface="Arial"/>
              </a:rPr>
              <a:t>Q&amp;A</a:t>
            </a:r>
            <a:endParaRPr lang="en-US" sz="5400" b="1"/>
          </a:p>
        </p:txBody>
      </p:sp>
      <p:sp>
        <p:nvSpPr>
          <p:cNvPr id="3" name="Slide Number Placeholder 2">
            <a:extLst>
              <a:ext uri="{FF2B5EF4-FFF2-40B4-BE49-F238E27FC236}">
                <a16:creationId xmlns:a16="http://schemas.microsoft.com/office/drawing/2014/main" id="{D7F23EDC-A5F1-E1DC-FBAB-0152BCDF96DF}"/>
              </a:ext>
            </a:extLst>
          </p:cNvPr>
          <p:cNvSpPr>
            <a:spLocks noGrp="1"/>
          </p:cNvSpPr>
          <p:nvPr>
            <p:ph type="sldNum" sz="quarter" idx="12"/>
          </p:nvPr>
        </p:nvSpPr>
        <p:spPr/>
        <p:txBody>
          <a:bodyPr/>
          <a:lstStyle/>
          <a:p>
            <a:fld id="{CC057153-B650-4DEB-B370-79DDCFDCE934}" type="slidenum">
              <a:rPr lang="en-US" smtClean="0"/>
              <a:t>18</a:t>
            </a:fld>
            <a:endParaRPr lang="en-US"/>
          </a:p>
        </p:txBody>
      </p:sp>
      <p:pic>
        <p:nvPicPr>
          <p:cNvPr id="1026" name="Picture 2" descr="A screenshot of a graph&#10;&#10;AI-generated content may be incorrect.">
            <a:extLst>
              <a:ext uri="{FF2B5EF4-FFF2-40B4-BE49-F238E27FC236}">
                <a16:creationId xmlns:a16="http://schemas.microsoft.com/office/drawing/2014/main" id="{DEC9B116-99AA-D67F-8B1B-1210467556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8547" y="1572246"/>
            <a:ext cx="3072159" cy="3307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9032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Oval 18">
            <a:extLst>
              <a:ext uri="{FF2B5EF4-FFF2-40B4-BE49-F238E27FC236}">
                <a16:creationId xmlns:a16="http://schemas.microsoft.com/office/drawing/2014/main" id="{47D3F531-DDE0-4D6C-3133-A58D1E8DAE30}"/>
              </a:ext>
            </a:extLst>
          </p:cNvPr>
          <p:cNvSpPr/>
          <p:nvPr/>
        </p:nvSpPr>
        <p:spPr>
          <a:xfrm>
            <a:off x="5929503" y="3675343"/>
            <a:ext cx="3359727" cy="923636"/>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057B353-50B3-C3BA-B03F-31A0AB2C179C}"/>
              </a:ext>
            </a:extLst>
          </p:cNvPr>
          <p:cNvSpPr txBox="1"/>
          <p:nvPr/>
        </p:nvSpPr>
        <p:spPr>
          <a:xfrm>
            <a:off x="9552671" y="3336294"/>
            <a:ext cx="2336104" cy="545983"/>
          </a:xfrm>
          <a:prstGeom prst="rect">
            <a:avLst/>
          </a:prstGeom>
          <a:noFill/>
        </p:spPr>
        <p:txBody>
          <a:bodyPr wrap="square">
            <a:spAutoFit/>
          </a:bodyPr>
          <a:lstStyle/>
          <a:p>
            <a:pPr algn="ctr" fontAlgn="base">
              <a:lnSpc>
                <a:spcPts val="3825"/>
              </a:lnSpc>
              <a:buNone/>
            </a:pPr>
            <a:r>
              <a:rPr lang="en-US" sz="2800" b="1">
                <a:solidFill>
                  <a:srgbClr val="00B050"/>
                </a:solidFill>
                <a:effectLst/>
                <a:latin typeface="Neue Haas Grotesk Text Pro"/>
              </a:rPr>
              <a:t>37% claims </a:t>
            </a:r>
            <a:endParaRPr lang="en-US" sz="2800">
              <a:effectLst/>
              <a:latin typeface="Segoe UI" panose="020B0502040204020203" pitchFamily="34" charset="0"/>
            </a:endParaRPr>
          </a:p>
        </p:txBody>
      </p:sp>
      <p:pic>
        <p:nvPicPr>
          <p:cNvPr id="25" name="Graphic 24" descr="Arrow Up with solid fill">
            <a:extLst>
              <a:ext uri="{FF2B5EF4-FFF2-40B4-BE49-F238E27FC236}">
                <a16:creationId xmlns:a16="http://schemas.microsoft.com/office/drawing/2014/main" id="{00FD44CA-A90E-8153-4F76-174918E263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08107" y="2965788"/>
            <a:ext cx="1296264" cy="1296264"/>
          </a:xfrm>
          <a:prstGeom prst="rect">
            <a:avLst/>
          </a:prstGeom>
        </p:spPr>
      </p:pic>
      <p:graphicFrame>
        <p:nvGraphicFramePr>
          <p:cNvPr id="17" name="Table 16">
            <a:extLst>
              <a:ext uri="{FF2B5EF4-FFF2-40B4-BE49-F238E27FC236}">
                <a16:creationId xmlns:a16="http://schemas.microsoft.com/office/drawing/2014/main" id="{F6852311-CB4F-C26D-16F6-CB4FBBB0269C}"/>
              </a:ext>
            </a:extLst>
          </p:cNvPr>
          <p:cNvGraphicFramePr>
            <a:graphicFrameLocks noGrp="1"/>
          </p:cNvGraphicFramePr>
          <p:nvPr>
            <p:extLst>
              <p:ext uri="{D42A27DB-BD31-4B8C-83A1-F6EECF244321}">
                <p14:modId xmlns:p14="http://schemas.microsoft.com/office/powerpoint/2010/main" val="1284315071"/>
              </p:ext>
            </p:extLst>
          </p:nvPr>
        </p:nvGraphicFramePr>
        <p:xfrm>
          <a:off x="2609850" y="2314575"/>
          <a:ext cx="6972300" cy="2228850"/>
        </p:xfrm>
        <a:graphic>
          <a:graphicData uri="http://schemas.openxmlformats.org/drawingml/2006/table">
            <a:tbl>
              <a:tblPr bandRow="1">
                <a:tableStyleId>{5C22544A-7EE6-4342-B048-85BDC9FD1C3A}</a:tableStyleId>
              </a:tblPr>
              <a:tblGrid>
                <a:gridCol w="3486150">
                  <a:extLst>
                    <a:ext uri="{9D8B030D-6E8A-4147-A177-3AD203B41FA5}">
                      <a16:colId xmlns:a16="http://schemas.microsoft.com/office/drawing/2014/main" val="3069988555"/>
                    </a:ext>
                  </a:extLst>
                </a:gridCol>
                <a:gridCol w="3486150">
                  <a:extLst>
                    <a:ext uri="{9D8B030D-6E8A-4147-A177-3AD203B41FA5}">
                      <a16:colId xmlns:a16="http://schemas.microsoft.com/office/drawing/2014/main" val="1217100890"/>
                    </a:ext>
                  </a:extLst>
                </a:gridCol>
              </a:tblGrid>
              <a:tr h="742950">
                <a:tc gridSpan="2">
                  <a:txBody>
                    <a:bodyPr/>
                    <a:lstStyle/>
                    <a:p>
                      <a:pPr algn="ctr" fontAlgn="base">
                        <a:lnSpc>
                          <a:spcPts val="3825"/>
                        </a:lnSpc>
                        <a:buNone/>
                      </a:pPr>
                      <a:r>
                        <a:rPr lang="en-US" sz="3200" b="1">
                          <a:effectLst/>
                          <a:latin typeface="Neue Haas Grotesk Text Pro"/>
                        </a:rPr>
                        <a:t>Assignments in the first 10 days</a:t>
                      </a:r>
                      <a:endParaRPr lang="en-US">
                        <a:effectLst/>
                        <a:latin typeface="Segoe UI" panose="020B0502040204020203" pitchFamily="34" charset="0"/>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extLst>
                  <a:ext uri="{0D108BD9-81ED-4DB2-BD59-A6C34878D82A}">
                    <a16:rowId xmlns:a16="http://schemas.microsoft.com/office/drawing/2014/main" val="1788821874"/>
                  </a:ext>
                </a:extLst>
              </a:tr>
              <a:tr h="742950">
                <a:tc>
                  <a:txBody>
                    <a:bodyPr/>
                    <a:lstStyle/>
                    <a:p>
                      <a:pPr algn="ctr" fontAlgn="base">
                        <a:lnSpc>
                          <a:spcPts val="3825"/>
                        </a:lnSpc>
                        <a:buNone/>
                      </a:pPr>
                      <a:r>
                        <a:rPr lang="en-US" sz="3200" b="1">
                          <a:solidFill>
                            <a:srgbClr val="FF0000"/>
                          </a:solidFill>
                          <a:effectLst/>
                          <a:latin typeface="Neue Haas Grotesk Text Pro" panose="020B0504020202020204" pitchFamily="34" charset="0"/>
                        </a:rPr>
                        <a:t>Before Model</a:t>
                      </a:r>
                      <a:endParaRPr lang="en-US">
                        <a:effectLst/>
                        <a:latin typeface="Segoe UI" panose="020B0502040204020203" pitchFamily="34" charset="0"/>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3825"/>
                        </a:lnSpc>
                        <a:buNone/>
                      </a:pPr>
                      <a:r>
                        <a:rPr lang="en-US" sz="3200" b="1">
                          <a:solidFill>
                            <a:srgbClr val="FF0000"/>
                          </a:solidFill>
                          <a:effectLst/>
                          <a:latin typeface="Neue Haas Grotesk Text Pro"/>
                        </a:rPr>
                        <a:t>~50% claims</a:t>
                      </a:r>
                      <a:endParaRPr lang="en-US">
                        <a:effectLst/>
                        <a:latin typeface="Segoe UI" panose="020B0502040204020203" pitchFamily="34" charset="0"/>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9290407"/>
                  </a:ext>
                </a:extLst>
              </a:tr>
              <a:tr h="742950">
                <a:tc>
                  <a:txBody>
                    <a:bodyPr/>
                    <a:lstStyle/>
                    <a:p>
                      <a:pPr algn="ctr" fontAlgn="base">
                        <a:lnSpc>
                          <a:spcPts val="3825"/>
                        </a:lnSpc>
                        <a:buNone/>
                      </a:pPr>
                      <a:r>
                        <a:rPr lang="en-US" sz="3200" b="1">
                          <a:solidFill>
                            <a:srgbClr val="00B050"/>
                          </a:solidFill>
                          <a:effectLst/>
                          <a:latin typeface="Neue Haas Grotesk Text Pro" panose="020B0504020202020204" pitchFamily="34" charset="0"/>
                        </a:rPr>
                        <a:t>After model</a:t>
                      </a:r>
                      <a:endParaRPr lang="en-US">
                        <a:effectLst/>
                        <a:latin typeface="Segoe UI" panose="020B0502040204020203" pitchFamily="34" charset="0"/>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fontAlgn="base">
                        <a:lnSpc>
                          <a:spcPts val="3825"/>
                        </a:lnSpc>
                        <a:buNone/>
                      </a:pPr>
                      <a:r>
                        <a:rPr lang="en-US" sz="3200" b="1">
                          <a:solidFill>
                            <a:srgbClr val="00B050"/>
                          </a:solidFill>
                          <a:effectLst/>
                          <a:latin typeface="Neue Haas Grotesk Text Pro"/>
                        </a:rPr>
                        <a:t>~87% claims</a:t>
                      </a:r>
                      <a:endParaRPr lang="en-US">
                        <a:effectLst/>
                        <a:latin typeface="Segoe UI" panose="020B0502040204020203" pitchFamily="34" charset="0"/>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3348379"/>
                  </a:ext>
                </a:extLst>
              </a:tr>
            </a:tbl>
          </a:graphicData>
        </a:graphic>
      </p:graphicFrame>
      <p:sp>
        <p:nvSpPr>
          <p:cNvPr id="4" name="Title 1">
            <a:extLst>
              <a:ext uri="{FF2B5EF4-FFF2-40B4-BE49-F238E27FC236}">
                <a16:creationId xmlns:a16="http://schemas.microsoft.com/office/drawing/2014/main" id="{043DDAFC-C419-B631-9FED-385E63E8A11E}"/>
              </a:ext>
            </a:extLst>
          </p:cNvPr>
          <p:cNvSpPr txBox="1">
            <a:spLocks/>
          </p:cNvSpPr>
          <p:nvPr/>
        </p:nvSpPr>
        <p:spPr>
          <a:xfrm>
            <a:off x="314632" y="166305"/>
            <a:ext cx="11317530" cy="696470"/>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a:latin typeface="Arial"/>
                <a:cs typeface="Arial"/>
              </a:rPr>
              <a:t>37% Claim Assignment Increase</a:t>
            </a:r>
          </a:p>
        </p:txBody>
      </p:sp>
      <p:sp>
        <p:nvSpPr>
          <p:cNvPr id="6" name="TextBox 5">
            <a:extLst>
              <a:ext uri="{FF2B5EF4-FFF2-40B4-BE49-F238E27FC236}">
                <a16:creationId xmlns:a16="http://schemas.microsoft.com/office/drawing/2014/main" id="{D1987480-F9E7-FC1D-E285-A9D279584304}"/>
              </a:ext>
            </a:extLst>
          </p:cNvPr>
          <p:cNvSpPr txBox="1"/>
          <p:nvPr/>
        </p:nvSpPr>
        <p:spPr>
          <a:xfrm>
            <a:off x="781915" y="5843525"/>
            <a:ext cx="4260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rial"/>
                <a:ea typeface="Calibri"/>
                <a:cs typeface="Arial"/>
              </a:rPr>
              <a:t>Before model</a:t>
            </a:r>
          </a:p>
        </p:txBody>
      </p:sp>
      <p:sp>
        <p:nvSpPr>
          <p:cNvPr id="7" name="TextBox 6">
            <a:extLst>
              <a:ext uri="{FF2B5EF4-FFF2-40B4-BE49-F238E27FC236}">
                <a16:creationId xmlns:a16="http://schemas.microsoft.com/office/drawing/2014/main" id="{B615755E-D501-FCAE-0C8B-D215A779CEF9}"/>
              </a:ext>
            </a:extLst>
          </p:cNvPr>
          <p:cNvSpPr txBox="1"/>
          <p:nvPr/>
        </p:nvSpPr>
        <p:spPr>
          <a:xfrm>
            <a:off x="7055983" y="5533980"/>
            <a:ext cx="42602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rial"/>
                <a:ea typeface="Calibri"/>
                <a:cs typeface="Arial"/>
              </a:rPr>
              <a:t>After model</a:t>
            </a:r>
            <a:endParaRPr lang="en-US"/>
          </a:p>
        </p:txBody>
      </p:sp>
      <p:pic>
        <p:nvPicPr>
          <p:cNvPr id="3" name="Picture 2" descr="A graph of a number of data&#10;&#10;AI-generated content may be incorrect.">
            <a:extLst>
              <a:ext uri="{FF2B5EF4-FFF2-40B4-BE49-F238E27FC236}">
                <a16:creationId xmlns:a16="http://schemas.microsoft.com/office/drawing/2014/main" id="{D34DA23A-F1F5-2F74-0392-FD37D09EEF54}"/>
              </a:ext>
            </a:extLst>
          </p:cNvPr>
          <p:cNvPicPr>
            <a:picLocks noChangeAspect="1"/>
          </p:cNvPicPr>
          <p:nvPr/>
        </p:nvPicPr>
        <p:blipFill>
          <a:blip r:embed="rId5"/>
          <a:stretch>
            <a:fillRect/>
          </a:stretch>
        </p:blipFill>
        <p:spPr>
          <a:xfrm>
            <a:off x="6220219" y="1283552"/>
            <a:ext cx="5684799" cy="4244433"/>
          </a:xfrm>
          <a:prstGeom prst="rect">
            <a:avLst/>
          </a:prstGeom>
        </p:spPr>
      </p:pic>
      <p:pic>
        <p:nvPicPr>
          <p:cNvPr id="8" name="Picture 7" descr="A graph of a number of data&#10;&#10;AI-generated content may be incorrect.">
            <a:extLst>
              <a:ext uri="{FF2B5EF4-FFF2-40B4-BE49-F238E27FC236}">
                <a16:creationId xmlns:a16="http://schemas.microsoft.com/office/drawing/2014/main" id="{EE7E2C63-ABCC-CF41-4202-9899624C3DF7}"/>
              </a:ext>
            </a:extLst>
          </p:cNvPr>
          <p:cNvPicPr>
            <a:picLocks noChangeAspect="1"/>
          </p:cNvPicPr>
          <p:nvPr/>
        </p:nvPicPr>
        <p:blipFill>
          <a:blip r:embed="rId6"/>
          <a:stretch>
            <a:fillRect/>
          </a:stretch>
        </p:blipFill>
        <p:spPr>
          <a:xfrm>
            <a:off x="69652" y="1276918"/>
            <a:ext cx="5684799" cy="4244433"/>
          </a:xfrm>
          <a:prstGeom prst="rect">
            <a:avLst/>
          </a:prstGeom>
        </p:spPr>
      </p:pic>
      <p:sp>
        <p:nvSpPr>
          <p:cNvPr id="9" name="Arrow: Left 8" descr="~350 claims&#10;">
            <a:extLst>
              <a:ext uri="{FF2B5EF4-FFF2-40B4-BE49-F238E27FC236}">
                <a16:creationId xmlns:a16="http://schemas.microsoft.com/office/drawing/2014/main" id="{7DFC8948-9329-B018-3E26-634CFC17DBBA}"/>
              </a:ext>
              <a:ext uri="{C183D7F6-B498-43B3-948B-1728B52AA6E4}">
                <adec:decorative xmlns:adec="http://schemas.microsoft.com/office/drawing/2017/decorative" val="0"/>
              </a:ext>
            </a:extLst>
          </p:cNvPr>
          <p:cNvSpPr/>
          <p:nvPr/>
        </p:nvSpPr>
        <p:spPr>
          <a:xfrm rot="2340000">
            <a:off x="1309736" y="1642705"/>
            <a:ext cx="1115246" cy="806109"/>
          </a:xfrm>
          <a:prstGeom prst="leftArrow">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5DA044D-54C0-F64D-B07A-5367B011920C}"/>
              </a:ext>
            </a:extLst>
          </p:cNvPr>
          <p:cNvSpPr txBox="1"/>
          <p:nvPr/>
        </p:nvSpPr>
        <p:spPr>
          <a:xfrm rot="2460000">
            <a:off x="1527882" y="1867706"/>
            <a:ext cx="67895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350 </a:t>
            </a:r>
          </a:p>
        </p:txBody>
      </p:sp>
      <p:sp>
        <p:nvSpPr>
          <p:cNvPr id="12" name="Arc 11">
            <a:extLst>
              <a:ext uri="{FF2B5EF4-FFF2-40B4-BE49-F238E27FC236}">
                <a16:creationId xmlns:a16="http://schemas.microsoft.com/office/drawing/2014/main" id="{D42585B9-BDF6-B1B9-EDE4-732BE93BD618}"/>
              </a:ext>
            </a:extLst>
          </p:cNvPr>
          <p:cNvSpPr/>
          <p:nvPr/>
        </p:nvSpPr>
        <p:spPr>
          <a:xfrm rot="10800000">
            <a:off x="1828920" y="1128365"/>
            <a:ext cx="4967468" cy="3385594"/>
          </a:xfrm>
          <a:prstGeom prst="arc">
            <a:avLst/>
          </a:prstGeom>
          <a:noFill/>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Arrow: Left 13" descr="~350 claims&#10;">
            <a:extLst>
              <a:ext uri="{FF2B5EF4-FFF2-40B4-BE49-F238E27FC236}">
                <a16:creationId xmlns:a16="http://schemas.microsoft.com/office/drawing/2014/main" id="{BB99EDB9-DF3D-19CE-44F9-CE14A2FF0985}"/>
              </a:ext>
              <a:ext uri="{C183D7F6-B498-43B3-948B-1728B52AA6E4}">
                <adec:decorative xmlns:adec="http://schemas.microsoft.com/office/drawing/2017/decorative" val="0"/>
              </a:ext>
            </a:extLst>
          </p:cNvPr>
          <p:cNvSpPr/>
          <p:nvPr/>
        </p:nvSpPr>
        <p:spPr>
          <a:xfrm rot="2340000">
            <a:off x="7567116" y="1642706"/>
            <a:ext cx="1115246" cy="806109"/>
          </a:xfrm>
          <a:prstGeom prst="leftArrow">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D96EB26-D265-ECA1-2830-9B6F2955A146}"/>
              </a:ext>
            </a:extLst>
          </p:cNvPr>
          <p:cNvSpPr txBox="1"/>
          <p:nvPr/>
        </p:nvSpPr>
        <p:spPr>
          <a:xfrm rot="2460000">
            <a:off x="7787147" y="1890560"/>
            <a:ext cx="8369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650 </a:t>
            </a:r>
          </a:p>
        </p:txBody>
      </p:sp>
      <p:sp>
        <p:nvSpPr>
          <p:cNvPr id="18" name="Arrow: Left 17" descr="~350 claims&#10;">
            <a:extLst>
              <a:ext uri="{FF2B5EF4-FFF2-40B4-BE49-F238E27FC236}">
                <a16:creationId xmlns:a16="http://schemas.microsoft.com/office/drawing/2014/main" id="{A9D6AE26-5EA9-7349-4663-3B3CB5C12AC0}"/>
              </a:ext>
              <a:ext uri="{C183D7F6-B498-43B3-948B-1728B52AA6E4}">
                <adec:decorative xmlns:adec="http://schemas.microsoft.com/office/drawing/2017/decorative" val="0"/>
              </a:ext>
            </a:extLst>
          </p:cNvPr>
          <p:cNvSpPr/>
          <p:nvPr/>
        </p:nvSpPr>
        <p:spPr>
          <a:xfrm rot="2340000">
            <a:off x="9106478" y="3194841"/>
            <a:ext cx="1115246" cy="806109"/>
          </a:xfrm>
          <a:prstGeom prst="leftArrow">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25C1EA7-0E15-E181-3EDB-DE574DFBF67A}"/>
              </a:ext>
            </a:extLst>
          </p:cNvPr>
          <p:cNvSpPr txBox="1"/>
          <p:nvPr/>
        </p:nvSpPr>
        <p:spPr>
          <a:xfrm rot="2460000">
            <a:off x="9325176" y="3599809"/>
            <a:ext cx="10320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300 </a:t>
            </a:r>
          </a:p>
        </p:txBody>
      </p:sp>
      <p:sp>
        <p:nvSpPr>
          <p:cNvPr id="2" name="Arrow: Up-Down 1">
            <a:extLst>
              <a:ext uri="{FF2B5EF4-FFF2-40B4-BE49-F238E27FC236}">
                <a16:creationId xmlns:a16="http://schemas.microsoft.com/office/drawing/2014/main" id="{AD04186C-3EDF-45F2-6C44-AACD48126432}"/>
              </a:ext>
            </a:extLst>
          </p:cNvPr>
          <p:cNvSpPr/>
          <p:nvPr/>
        </p:nvSpPr>
        <p:spPr>
          <a:xfrm>
            <a:off x="9682012" y="1601304"/>
            <a:ext cx="761999" cy="1722782"/>
          </a:xfrm>
          <a:prstGeom prst="upDownArrow">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2DA8E9E-913D-956F-BFD6-55455EA414ED}"/>
              </a:ext>
            </a:extLst>
          </p:cNvPr>
          <p:cNvSpPr txBox="1"/>
          <p:nvPr/>
        </p:nvSpPr>
        <p:spPr>
          <a:xfrm>
            <a:off x="9053617" y="2233728"/>
            <a:ext cx="114852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solidFill>
                  <a:srgbClr val="00B050"/>
                </a:solidFill>
              </a:rPr>
              <a:t>87%</a:t>
            </a:r>
          </a:p>
        </p:txBody>
      </p:sp>
      <p:sp>
        <p:nvSpPr>
          <p:cNvPr id="13" name="Slide Number Placeholder 12">
            <a:extLst>
              <a:ext uri="{FF2B5EF4-FFF2-40B4-BE49-F238E27FC236}">
                <a16:creationId xmlns:a16="http://schemas.microsoft.com/office/drawing/2014/main" id="{07B7EE75-3331-E38E-83B4-5EDE43862004}"/>
              </a:ext>
            </a:extLst>
          </p:cNvPr>
          <p:cNvSpPr>
            <a:spLocks noGrp="1"/>
          </p:cNvSpPr>
          <p:nvPr>
            <p:ph type="sldNum" sz="quarter" idx="12"/>
          </p:nvPr>
        </p:nvSpPr>
        <p:spPr/>
        <p:txBody>
          <a:bodyPr/>
          <a:lstStyle/>
          <a:p>
            <a:fld id="{CC057153-B650-4DEB-B370-79DDCFDCE934}" type="slidenum">
              <a:rPr lang="en-US" sz="1600" smtClean="0">
                <a:latin typeface="Avenir Medium"/>
              </a:rPr>
              <a:t>19</a:t>
            </a:fld>
            <a:endParaRPr lang="en-US" sz="1600">
              <a:latin typeface="Avenir Medium"/>
            </a:endParaRPr>
          </a:p>
        </p:txBody>
      </p:sp>
    </p:spTree>
    <p:extLst>
      <p:ext uri="{BB962C8B-B14F-4D97-AF65-F5344CB8AC3E}">
        <p14:creationId xmlns:p14="http://schemas.microsoft.com/office/powerpoint/2010/main" val="602645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7"/>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19"/>
                                        </p:tgtEl>
                                        <p:attrNameLst>
                                          <p:attrName>style.visibility</p:attrName>
                                        </p:attrNameLst>
                                      </p:cBhvr>
                                      <p:to>
                                        <p:strVal val="hidden"/>
                                      </p:to>
                                    </p:set>
                                  </p:childTnLst>
                                </p:cTn>
                              </p:par>
                              <p:par>
                                <p:cTn id="21" presetID="3" presetClass="exit" presetSubtype="10" fill="hold" grpId="1" nodeType="withEffect">
                                  <p:stCondLst>
                                    <p:cond delay="0"/>
                                  </p:stCondLst>
                                  <p:childTnLst>
                                    <p:animEffect transition="out" filter="blinds(horizontal)">
                                      <p:cBhvr>
                                        <p:cTn id="22" dur="500"/>
                                        <p:tgtEl>
                                          <p:spTgt spid="15"/>
                                        </p:tgtEl>
                                      </p:cBhvr>
                                    </p:animEffect>
                                    <p:set>
                                      <p:cBhvr>
                                        <p:cTn id="23" dur="1" fill="hold">
                                          <p:stCondLst>
                                            <p:cond delay="499"/>
                                          </p:stCondLst>
                                        </p:cTn>
                                        <p:tgtEl>
                                          <p:spTgt spid="15"/>
                                        </p:tgtEl>
                                        <p:attrNameLst>
                                          <p:attrName>style.visibility</p:attrName>
                                        </p:attrNameLst>
                                      </p:cBhvr>
                                      <p:to>
                                        <p:strVal val="hidden"/>
                                      </p:to>
                                    </p:set>
                                  </p:childTnLst>
                                </p:cTn>
                              </p:par>
                              <p:par>
                                <p:cTn id="24" presetID="3" presetClass="exit" presetSubtype="10" fill="hold" nodeType="withEffect">
                                  <p:stCondLst>
                                    <p:cond delay="0"/>
                                  </p:stCondLst>
                                  <p:childTnLst>
                                    <p:animEffect transition="out" filter="blinds(horizontal)">
                                      <p:cBhvr>
                                        <p:cTn id="25" dur="500"/>
                                        <p:tgtEl>
                                          <p:spTgt spid="25"/>
                                        </p:tgtEl>
                                      </p:cBhvr>
                                    </p:animEffect>
                                    <p:set>
                                      <p:cBhvr>
                                        <p:cTn id="26" dur="1" fill="hold">
                                          <p:stCondLst>
                                            <p:cond delay="499"/>
                                          </p:stCondLst>
                                        </p:cTn>
                                        <p:tgtEl>
                                          <p:spTgt spid="2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p:cTn id="65" dur="500" fill="hold"/>
                                        <p:tgtEl>
                                          <p:spTgt spid="2"/>
                                        </p:tgtEl>
                                        <p:attrNameLst>
                                          <p:attrName>ppt_w</p:attrName>
                                        </p:attrNameLst>
                                      </p:cBhvr>
                                      <p:tavLst>
                                        <p:tav tm="0">
                                          <p:val>
                                            <p:fltVal val="0"/>
                                          </p:val>
                                        </p:tav>
                                        <p:tav tm="100000">
                                          <p:val>
                                            <p:strVal val="#ppt_w"/>
                                          </p:val>
                                        </p:tav>
                                      </p:tavLst>
                                    </p:anim>
                                    <p:anim calcmode="lin" valueType="num">
                                      <p:cBhvr>
                                        <p:cTn id="66" dur="500" fill="hold"/>
                                        <p:tgtEl>
                                          <p:spTgt spid="2"/>
                                        </p:tgtEl>
                                        <p:attrNameLst>
                                          <p:attrName>ppt_h</p:attrName>
                                        </p:attrNameLst>
                                      </p:cBhvr>
                                      <p:tavLst>
                                        <p:tav tm="0">
                                          <p:val>
                                            <p:fltVal val="0"/>
                                          </p:val>
                                        </p:tav>
                                        <p:tav tm="100000">
                                          <p:val>
                                            <p:strVal val="#ppt_h"/>
                                          </p:val>
                                        </p:tav>
                                      </p:tavLst>
                                    </p:anim>
                                    <p:animEffect transition="in" filter="fade">
                                      <p:cBhvr>
                                        <p:cTn id="67" dur="500"/>
                                        <p:tgtEl>
                                          <p:spTgt spid="2"/>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5"/>
                                        </p:tgtEl>
                                        <p:attrNameLst>
                                          <p:attrName>style.visibility</p:attrName>
                                        </p:attrNameLst>
                                      </p:cBhvr>
                                      <p:to>
                                        <p:strVal val="visible"/>
                                      </p:to>
                                    </p:set>
                                    <p:anim calcmode="lin" valueType="num">
                                      <p:cBhvr>
                                        <p:cTn id="70" dur="500" fill="hold"/>
                                        <p:tgtEl>
                                          <p:spTgt spid="5"/>
                                        </p:tgtEl>
                                        <p:attrNameLst>
                                          <p:attrName>ppt_w</p:attrName>
                                        </p:attrNameLst>
                                      </p:cBhvr>
                                      <p:tavLst>
                                        <p:tav tm="0">
                                          <p:val>
                                            <p:fltVal val="0"/>
                                          </p:val>
                                        </p:tav>
                                        <p:tav tm="100000">
                                          <p:val>
                                            <p:strVal val="#ppt_w"/>
                                          </p:val>
                                        </p:tav>
                                      </p:tavLst>
                                    </p:anim>
                                    <p:anim calcmode="lin" valueType="num">
                                      <p:cBhvr>
                                        <p:cTn id="71" dur="500" fill="hold"/>
                                        <p:tgtEl>
                                          <p:spTgt spid="5"/>
                                        </p:tgtEl>
                                        <p:attrNameLst>
                                          <p:attrName>ppt_h</p:attrName>
                                        </p:attrNameLst>
                                      </p:cBhvr>
                                      <p:tavLst>
                                        <p:tav tm="0">
                                          <p:val>
                                            <p:fltVal val="0"/>
                                          </p:val>
                                        </p:tav>
                                        <p:tav tm="100000">
                                          <p:val>
                                            <p:strVal val="#ppt_h"/>
                                          </p:val>
                                        </p:tav>
                                      </p:tavLst>
                                    </p:anim>
                                    <p:animEffect transition="in" filter="fade">
                                      <p:cBhvr>
                                        <p:cTn id="7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15" grpId="0"/>
      <p:bldP spid="15" grpId="1"/>
      <p:bldP spid="6" grpId="0"/>
      <p:bldP spid="7" grpId="0"/>
      <p:bldP spid="9" grpId="0" animBg="1"/>
      <p:bldP spid="10" grpId="0"/>
      <p:bldP spid="12" grpId="0" animBg="1"/>
      <p:bldP spid="14" grpId="0" animBg="1"/>
      <p:bldP spid="16" grpId="0"/>
      <p:bldP spid="18" grpId="0" animBg="1"/>
      <p:bldP spid="20" grpId="0"/>
      <p:bldP spid="2" grpId="0" animBg="1"/>
      <p:bldP spid="5" grpId="0"/>
    </p:bldLst>
  </p:timing>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F691AA5-6432-9689-5B05-0B632D4444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948600-EFD1-C3A6-294C-749558DABB4C}"/>
              </a:ext>
            </a:extLst>
          </p:cNvPr>
          <p:cNvSpPr txBox="1"/>
          <p:nvPr/>
        </p:nvSpPr>
        <p:spPr>
          <a:xfrm>
            <a:off x="791033" y="261731"/>
            <a:ext cx="106099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5400" b="1">
                <a:latin typeface="Arial"/>
                <a:ea typeface="Calibri" panose="020F0502020204030204"/>
                <a:cs typeface="Arial"/>
              </a:rPr>
              <a:t>Results - Metrics</a:t>
            </a:r>
          </a:p>
        </p:txBody>
      </p:sp>
      <p:graphicFrame>
        <p:nvGraphicFramePr>
          <p:cNvPr id="5" name="Table 4">
            <a:extLst>
              <a:ext uri="{FF2B5EF4-FFF2-40B4-BE49-F238E27FC236}">
                <a16:creationId xmlns:a16="http://schemas.microsoft.com/office/drawing/2014/main" id="{CD2A46D6-BBB9-A4E0-44C6-37347B8F841C}"/>
              </a:ext>
            </a:extLst>
          </p:cNvPr>
          <p:cNvGraphicFramePr>
            <a:graphicFrameLocks noGrp="1"/>
          </p:cNvGraphicFramePr>
          <p:nvPr/>
        </p:nvGraphicFramePr>
        <p:xfrm>
          <a:off x="838860" y="1482683"/>
          <a:ext cx="10514276" cy="4114800"/>
        </p:xfrm>
        <a:graphic>
          <a:graphicData uri="http://schemas.openxmlformats.org/drawingml/2006/table">
            <a:tbl>
              <a:tblPr bandRow="1">
                <a:tableStyleId>{5C22544A-7EE6-4342-B048-85BDC9FD1C3A}</a:tableStyleId>
              </a:tblPr>
              <a:tblGrid>
                <a:gridCol w="4163171">
                  <a:extLst>
                    <a:ext uri="{9D8B030D-6E8A-4147-A177-3AD203B41FA5}">
                      <a16:colId xmlns:a16="http://schemas.microsoft.com/office/drawing/2014/main" val="1460893386"/>
                    </a:ext>
                  </a:extLst>
                </a:gridCol>
                <a:gridCol w="6351105">
                  <a:extLst>
                    <a:ext uri="{9D8B030D-6E8A-4147-A177-3AD203B41FA5}">
                      <a16:colId xmlns:a16="http://schemas.microsoft.com/office/drawing/2014/main" val="730475045"/>
                    </a:ext>
                  </a:extLst>
                </a:gridCol>
              </a:tblGrid>
              <a:tr h="822960">
                <a:tc>
                  <a:txBody>
                    <a:bodyPr/>
                    <a:lstStyle/>
                    <a:p>
                      <a:pPr marL="0" marR="0" lvl="0" indent="0" algn="ctr" defTabSz="914400" rtl="0" eaLnBrk="1" fontAlgn="base" latinLnBrk="0" hangingPunct="1">
                        <a:lnSpc>
                          <a:spcPts val="2175"/>
                        </a:lnSpc>
                        <a:spcBef>
                          <a:spcPts val="0"/>
                        </a:spcBef>
                        <a:spcAft>
                          <a:spcPts val="0"/>
                        </a:spcAft>
                        <a:buClrTx/>
                        <a:buSzTx/>
                        <a:buFontTx/>
                        <a:buNone/>
                        <a:tabLst/>
                        <a:defRPr/>
                      </a:pPr>
                      <a:r>
                        <a:rPr lang="en-US" sz="2800" b="0">
                          <a:effectLst/>
                          <a:latin typeface="Arial"/>
                          <a:cs typeface="Arial"/>
                        </a:rPr>
                        <a:t>Cost Saving</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tc>
                  <a:txBody>
                    <a:bodyPr/>
                    <a:lstStyle/>
                    <a:p>
                      <a:pPr algn="ctr" fontAlgn="base">
                        <a:lnSpc>
                          <a:spcPts val="2175"/>
                        </a:lnSpc>
                        <a:buNone/>
                      </a:pPr>
                      <a:endParaRPr lang="en-US" sz="2800" b="0">
                        <a:effectLst/>
                        <a:latin typeface="Arial"/>
                        <a:cs typeface="Arial"/>
                      </a:endParaRP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2237416532"/>
                  </a:ext>
                </a:extLst>
              </a:tr>
              <a:tr h="822960">
                <a:tc>
                  <a:txBody>
                    <a:bodyPr/>
                    <a:lstStyle/>
                    <a:p>
                      <a:pPr algn="ctr" fontAlgn="base">
                        <a:lnSpc>
                          <a:spcPts val="2175"/>
                        </a:lnSpc>
                        <a:buNone/>
                      </a:pPr>
                      <a:r>
                        <a:rPr lang="en-US" sz="2800" b="0">
                          <a:effectLst/>
                          <a:latin typeface="Arial"/>
                          <a:cs typeface="Arial"/>
                        </a:rPr>
                        <a:t>Regulation Compliance</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tc>
                  <a:txBody>
                    <a:bodyPr/>
                    <a:lstStyle/>
                    <a:p>
                      <a:pPr algn="ctr" fontAlgn="base">
                        <a:lnSpc>
                          <a:spcPts val="2175"/>
                        </a:lnSpc>
                        <a:buNone/>
                      </a:pPr>
                      <a:r>
                        <a:rPr lang="en-US" sz="2800" b="0">
                          <a:effectLst/>
                          <a:latin typeface="Arial"/>
                          <a:cs typeface="Arial"/>
                        </a:rPr>
                        <a:t>100% claims solved within compliance threshold (28 days)</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2511000522"/>
                  </a:ext>
                </a:extLst>
              </a:tr>
              <a:tr h="822960">
                <a:tc>
                  <a:txBody>
                    <a:bodyPr/>
                    <a:lstStyle/>
                    <a:p>
                      <a:pPr marL="0" algn="ctr" defTabSz="914400" rtl="0" eaLnBrk="1" fontAlgn="base" latinLnBrk="0" hangingPunct="1">
                        <a:lnSpc>
                          <a:spcPts val="2175"/>
                        </a:lnSpc>
                        <a:buNone/>
                      </a:pPr>
                      <a:r>
                        <a:rPr lang="en-US" sz="2800" b="0" kern="1200">
                          <a:solidFill>
                            <a:schemeClr val="dk1"/>
                          </a:solidFill>
                          <a:effectLst/>
                          <a:latin typeface="Arial"/>
                          <a:ea typeface="+mn-ea"/>
                          <a:cs typeface="Arial"/>
                        </a:rPr>
                        <a:t>Customer Retention</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tc>
                  <a:txBody>
                    <a:bodyPr/>
                    <a:lstStyle/>
                    <a:p>
                      <a:pPr marL="0" algn="ctr" defTabSz="914400" rtl="0" eaLnBrk="1" fontAlgn="base" latinLnBrk="0" hangingPunct="1">
                        <a:lnSpc>
                          <a:spcPts val="2175"/>
                        </a:lnSpc>
                        <a:buNone/>
                      </a:pPr>
                      <a:endParaRPr lang="en-US" sz="2800" b="0" kern="1200">
                        <a:solidFill>
                          <a:schemeClr val="dk1"/>
                        </a:solidFill>
                        <a:effectLst/>
                        <a:latin typeface="Arial"/>
                        <a:ea typeface="+mn-ea"/>
                        <a:cs typeface="Arial"/>
                      </a:endParaRP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3762274678"/>
                  </a:ext>
                </a:extLst>
              </a:tr>
              <a:tr h="822960">
                <a:tc>
                  <a:txBody>
                    <a:bodyPr/>
                    <a:lstStyle/>
                    <a:p>
                      <a:pPr algn="ctr" fontAlgn="base">
                        <a:lnSpc>
                          <a:spcPts val="2175"/>
                        </a:lnSpc>
                        <a:buNone/>
                      </a:pPr>
                      <a:r>
                        <a:rPr lang="en-US" sz="2800" b="0">
                          <a:effectLst/>
                          <a:latin typeface="Arial"/>
                          <a:cs typeface="Arial"/>
                        </a:rPr>
                        <a:t>Delayed Count </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tc>
                  <a:txBody>
                    <a:bodyPr/>
                    <a:lstStyle/>
                    <a:p>
                      <a:pPr algn="ctr" fontAlgn="base">
                        <a:lnSpc>
                          <a:spcPts val="2175"/>
                        </a:lnSpc>
                        <a:buNone/>
                      </a:pPr>
                      <a:r>
                        <a:rPr lang="en-US" sz="2800" b="0">
                          <a:effectLst/>
                          <a:latin typeface="Arial"/>
                          <a:cs typeface="Arial"/>
                        </a:rPr>
                        <a:t>87% CAT-5 claims solved before the deadline</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188190828"/>
                  </a:ext>
                </a:extLst>
              </a:tr>
              <a:tr h="822960">
                <a:tc>
                  <a:txBody>
                    <a:bodyPr/>
                    <a:lstStyle/>
                    <a:p>
                      <a:pPr lvl="0" algn="ctr">
                        <a:lnSpc>
                          <a:spcPts val="2175"/>
                        </a:lnSpc>
                        <a:buNone/>
                      </a:pPr>
                      <a:r>
                        <a:rPr lang="en-US" sz="2800" b="0">
                          <a:effectLst/>
                          <a:latin typeface="Arial"/>
                          <a:cs typeface="Arial"/>
                        </a:rPr>
                        <a:t>Delayed Time</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tc>
                  <a:txBody>
                    <a:bodyPr/>
                    <a:lstStyle/>
                    <a:p>
                      <a:pPr algn="ctr" fontAlgn="base">
                        <a:lnSpc>
                          <a:spcPts val="2175"/>
                        </a:lnSpc>
                        <a:buNone/>
                      </a:pPr>
                      <a:r>
                        <a:rPr lang="en-US" sz="2800" b="0">
                          <a:effectLst/>
                          <a:latin typeface="Arial"/>
                          <a:cs typeface="Arial"/>
                        </a:rPr>
                        <a:t>1.5 days (by SLA threshold)</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829764098"/>
                  </a:ext>
                </a:extLst>
              </a:tr>
            </a:tbl>
          </a:graphicData>
        </a:graphic>
      </p:graphicFrame>
      <p:sp>
        <p:nvSpPr>
          <p:cNvPr id="4" name="Slide Number Placeholder 3">
            <a:extLst>
              <a:ext uri="{FF2B5EF4-FFF2-40B4-BE49-F238E27FC236}">
                <a16:creationId xmlns:a16="http://schemas.microsoft.com/office/drawing/2014/main" id="{8BF1E5EE-8FE9-0FBD-7DCD-8CD8F970F0BD}"/>
              </a:ext>
            </a:extLst>
          </p:cNvPr>
          <p:cNvSpPr>
            <a:spLocks noGrp="1"/>
          </p:cNvSpPr>
          <p:nvPr>
            <p:ph type="sldNum" sz="quarter" idx="12"/>
          </p:nvPr>
        </p:nvSpPr>
        <p:spPr/>
        <p:txBody>
          <a:bodyPr/>
          <a:lstStyle/>
          <a:p>
            <a:fld id="{CC057153-B650-4DEB-B370-79DDCFDCE934}" type="slidenum">
              <a:rPr lang="en-US" smtClean="0"/>
              <a:t>20</a:t>
            </a:fld>
            <a:endParaRPr lang="en-US"/>
          </a:p>
        </p:txBody>
      </p:sp>
    </p:spTree>
    <p:extLst>
      <p:ext uri="{BB962C8B-B14F-4D97-AF65-F5344CB8AC3E}">
        <p14:creationId xmlns:p14="http://schemas.microsoft.com/office/powerpoint/2010/main" val="673829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F52909-BAF5-40AE-E75D-8EDF42B829DC}"/>
              </a:ext>
            </a:extLst>
          </p:cNvPr>
          <p:cNvSpPr txBox="1"/>
          <p:nvPr/>
        </p:nvSpPr>
        <p:spPr>
          <a:xfrm>
            <a:off x="673395" y="2558264"/>
            <a:ext cx="427229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5400" b="1">
                <a:latin typeface="Arial"/>
                <a:ea typeface="Calibri"/>
                <a:cs typeface="Arial"/>
              </a:rPr>
              <a:t>Agenda</a:t>
            </a:r>
            <a:endParaRPr lang="en-US" sz="5400" b="1" i="1">
              <a:latin typeface="Arial"/>
              <a:ea typeface="Calibri"/>
              <a:cs typeface="Arial"/>
            </a:endParaRPr>
          </a:p>
        </p:txBody>
      </p:sp>
      <p:sp>
        <p:nvSpPr>
          <p:cNvPr id="6" name="TextBox 5">
            <a:extLst>
              <a:ext uri="{FF2B5EF4-FFF2-40B4-BE49-F238E27FC236}">
                <a16:creationId xmlns:a16="http://schemas.microsoft.com/office/drawing/2014/main" id="{7DEE701B-637E-9DDA-05AC-BBFF9306124F}"/>
              </a:ext>
            </a:extLst>
          </p:cNvPr>
          <p:cNvSpPr txBox="1"/>
          <p:nvPr/>
        </p:nvSpPr>
        <p:spPr>
          <a:xfrm>
            <a:off x="6446543" y="1366316"/>
            <a:ext cx="507206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Arial" panose="020B0604020202020204" pitchFamily="34" charset="0"/>
                <a:ea typeface="Calibri"/>
                <a:cs typeface="Arial" panose="020B0604020202020204" pitchFamily="34" charset="0"/>
              </a:rPr>
              <a:t>1. Business Problem</a:t>
            </a:r>
          </a:p>
        </p:txBody>
      </p:sp>
      <p:sp>
        <p:nvSpPr>
          <p:cNvPr id="7" name="TextBox 6">
            <a:extLst>
              <a:ext uri="{FF2B5EF4-FFF2-40B4-BE49-F238E27FC236}">
                <a16:creationId xmlns:a16="http://schemas.microsoft.com/office/drawing/2014/main" id="{EA923E91-D33E-DAD0-6574-12949557E964}"/>
              </a:ext>
            </a:extLst>
          </p:cNvPr>
          <p:cNvSpPr txBox="1"/>
          <p:nvPr/>
        </p:nvSpPr>
        <p:spPr>
          <a:xfrm>
            <a:off x="6446543" y="3380880"/>
            <a:ext cx="507206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Arial" panose="020B0604020202020204" pitchFamily="34" charset="0"/>
                <a:ea typeface="Calibri"/>
                <a:cs typeface="Arial" panose="020B0604020202020204" pitchFamily="34" charset="0"/>
              </a:rPr>
              <a:t>3. Key Findings</a:t>
            </a:r>
          </a:p>
        </p:txBody>
      </p:sp>
      <p:sp>
        <p:nvSpPr>
          <p:cNvPr id="8" name="TextBox 7">
            <a:extLst>
              <a:ext uri="{FF2B5EF4-FFF2-40B4-BE49-F238E27FC236}">
                <a16:creationId xmlns:a16="http://schemas.microsoft.com/office/drawing/2014/main" id="{B142C814-4450-E795-0403-86180C2F8807}"/>
              </a:ext>
            </a:extLst>
          </p:cNvPr>
          <p:cNvSpPr txBox="1"/>
          <p:nvPr/>
        </p:nvSpPr>
        <p:spPr>
          <a:xfrm>
            <a:off x="6446543" y="4388162"/>
            <a:ext cx="507206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Arial" panose="020B0604020202020204" pitchFamily="34" charset="0"/>
                <a:ea typeface="Calibri"/>
                <a:cs typeface="Arial" panose="020B0604020202020204" pitchFamily="34" charset="0"/>
              </a:rPr>
              <a:t>4. Recommendations</a:t>
            </a:r>
          </a:p>
        </p:txBody>
      </p:sp>
      <p:sp>
        <p:nvSpPr>
          <p:cNvPr id="9" name="TextBox 8">
            <a:extLst>
              <a:ext uri="{FF2B5EF4-FFF2-40B4-BE49-F238E27FC236}">
                <a16:creationId xmlns:a16="http://schemas.microsoft.com/office/drawing/2014/main" id="{50B4170E-B5D8-814E-72B7-9D4AEFEC60F8}"/>
              </a:ext>
            </a:extLst>
          </p:cNvPr>
          <p:cNvSpPr txBox="1"/>
          <p:nvPr/>
        </p:nvSpPr>
        <p:spPr>
          <a:xfrm>
            <a:off x="6446543" y="2373598"/>
            <a:ext cx="574545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latin typeface="Arial" panose="020B0604020202020204" pitchFamily="34" charset="0"/>
                <a:ea typeface="Calibri"/>
                <a:cs typeface="Arial" panose="020B0604020202020204" pitchFamily="34" charset="0"/>
              </a:rPr>
              <a:t>2. Analytical Approach</a:t>
            </a:r>
          </a:p>
        </p:txBody>
      </p:sp>
      <p:sp>
        <p:nvSpPr>
          <p:cNvPr id="3" name="Slide Number Placeholder 2">
            <a:extLst>
              <a:ext uri="{FF2B5EF4-FFF2-40B4-BE49-F238E27FC236}">
                <a16:creationId xmlns:a16="http://schemas.microsoft.com/office/drawing/2014/main" id="{E44563C0-AFA2-C70B-0818-4864E9204E57}"/>
              </a:ext>
            </a:extLst>
          </p:cNvPr>
          <p:cNvSpPr>
            <a:spLocks noGrp="1"/>
          </p:cNvSpPr>
          <p:nvPr>
            <p:ph type="sldNum" sz="quarter" idx="15"/>
          </p:nvPr>
        </p:nvSpPr>
        <p:spPr/>
        <p:txBody>
          <a:bodyPr/>
          <a:lstStyle/>
          <a:p>
            <a:fld id="{CC057153-B650-4DEB-B370-79DDCFDCE934}" type="slidenum">
              <a:rPr lang="en-US" smtClean="0"/>
              <a:t>21</a:t>
            </a:fld>
            <a:endParaRPr lang="en-US"/>
          </a:p>
        </p:txBody>
      </p:sp>
    </p:spTree>
    <p:extLst>
      <p:ext uri="{BB962C8B-B14F-4D97-AF65-F5344CB8AC3E}">
        <p14:creationId xmlns:p14="http://schemas.microsoft.com/office/powerpoint/2010/main" val="1511236951"/>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descr="A screenshot of a map&#10;&#10;AI-generated content may be incorrect.">
            <a:extLst>
              <a:ext uri="{FF2B5EF4-FFF2-40B4-BE49-F238E27FC236}">
                <a16:creationId xmlns:a16="http://schemas.microsoft.com/office/drawing/2014/main" id="{6CECAD33-D2EE-7211-F514-6ECF2F8F2C78}"/>
              </a:ext>
            </a:extLst>
          </p:cNvPr>
          <p:cNvPicPr>
            <a:picLocks noGrp="1" noChangeAspect="1"/>
          </p:cNvPicPr>
          <p:nvPr>
            <p:ph sz="quarter" idx="10"/>
          </p:nvPr>
        </p:nvPicPr>
        <p:blipFill>
          <a:blip r:embed="rId2"/>
          <a:stretch>
            <a:fillRect/>
          </a:stretch>
        </p:blipFill>
        <p:spPr>
          <a:xfrm>
            <a:off x="2735824" y="537231"/>
            <a:ext cx="7298480" cy="5182434"/>
          </a:xfrm>
          <a:prstGeom prst="rect">
            <a:avLst/>
          </a:prstGeom>
        </p:spPr>
      </p:pic>
      <p:sp>
        <p:nvSpPr>
          <p:cNvPr id="4" name="Slide Number Placeholder 3">
            <a:extLst>
              <a:ext uri="{FF2B5EF4-FFF2-40B4-BE49-F238E27FC236}">
                <a16:creationId xmlns:a16="http://schemas.microsoft.com/office/drawing/2014/main" id="{7FFF1A75-4A51-337F-77FF-31EA29527BC7}"/>
              </a:ext>
            </a:extLst>
          </p:cNvPr>
          <p:cNvSpPr>
            <a:spLocks noGrp="1"/>
          </p:cNvSpPr>
          <p:nvPr>
            <p:ph type="sldNum" sz="quarter" idx="13"/>
          </p:nvPr>
        </p:nvSpPr>
        <p:spPr/>
        <p:txBody>
          <a:bodyPr/>
          <a:lstStyle/>
          <a:p>
            <a:fld id="{CC057153-B650-4DEB-B370-79DDCFDCE934}" type="slidenum">
              <a:rPr lang="en-US" smtClean="0"/>
              <a:t>22</a:t>
            </a:fld>
            <a:endParaRPr lang="en-US"/>
          </a:p>
        </p:txBody>
      </p:sp>
      <p:pic>
        <p:nvPicPr>
          <p:cNvPr id="6" name="Picture 5" descr="A screenshot of a phone&#10;&#10;AI-generated content may be incorrect.">
            <a:extLst>
              <a:ext uri="{FF2B5EF4-FFF2-40B4-BE49-F238E27FC236}">
                <a16:creationId xmlns:a16="http://schemas.microsoft.com/office/drawing/2014/main" id="{99A051F0-7218-7296-C146-5FD145EC52EF}"/>
              </a:ext>
            </a:extLst>
          </p:cNvPr>
          <p:cNvPicPr>
            <a:picLocks noChangeAspect="1"/>
          </p:cNvPicPr>
          <p:nvPr/>
        </p:nvPicPr>
        <p:blipFill>
          <a:blip r:embed="rId3"/>
          <a:srcRect r="5980" b="10370"/>
          <a:stretch>
            <a:fillRect/>
          </a:stretch>
        </p:blipFill>
        <p:spPr>
          <a:xfrm>
            <a:off x="751097" y="320143"/>
            <a:ext cx="1891191" cy="5783538"/>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D26EC37E-2887-D359-9CE1-F56617D39D98}"/>
              </a:ext>
            </a:extLst>
          </p:cNvPr>
          <p:cNvPicPr>
            <a:picLocks noChangeAspect="1"/>
          </p:cNvPicPr>
          <p:nvPr/>
        </p:nvPicPr>
        <p:blipFill>
          <a:blip r:embed="rId4"/>
          <a:srcRect r="55939"/>
          <a:stretch>
            <a:fillRect/>
          </a:stretch>
        </p:blipFill>
        <p:spPr>
          <a:xfrm>
            <a:off x="10762233" y="4006416"/>
            <a:ext cx="1299136" cy="1273779"/>
          </a:xfrm>
          <a:prstGeom prst="rect">
            <a:avLst/>
          </a:prstGeom>
        </p:spPr>
      </p:pic>
      <p:pic>
        <p:nvPicPr>
          <p:cNvPr id="8" name="Picture 7">
            <a:extLst>
              <a:ext uri="{FF2B5EF4-FFF2-40B4-BE49-F238E27FC236}">
                <a16:creationId xmlns:a16="http://schemas.microsoft.com/office/drawing/2014/main" id="{B33D2FB8-168A-4DFA-0559-447039916C80}"/>
              </a:ext>
            </a:extLst>
          </p:cNvPr>
          <p:cNvPicPr>
            <a:picLocks noChangeAspect="1"/>
          </p:cNvPicPr>
          <p:nvPr/>
        </p:nvPicPr>
        <p:blipFill>
          <a:blip r:embed="rId5"/>
          <a:srcRect l="1379" t="1962" b="1962"/>
          <a:stretch>
            <a:fillRect/>
          </a:stretch>
        </p:blipFill>
        <p:spPr>
          <a:xfrm>
            <a:off x="751097" y="320143"/>
            <a:ext cx="9412449" cy="5783539"/>
          </a:xfrm>
          <a:prstGeom prst="rect">
            <a:avLst/>
          </a:prstGeom>
        </p:spPr>
      </p:pic>
      <p:pic>
        <p:nvPicPr>
          <p:cNvPr id="9" name="Content Placeholder 4" descr="A white background with black text and black letters&#10;&#10;AI-generated content may be incorrect.">
            <a:extLst>
              <a:ext uri="{FF2B5EF4-FFF2-40B4-BE49-F238E27FC236}">
                <a16:creationId xmlns:a16="http://schemas.microsoft.com/office/drawing/2014/main" id="{103D7938-A8F4-3B78-E2DD-596C28F1E379}"/>
              </a:ext>
            </a:extLst>
          </p:cNvPr>
          <p:cNvPicPr>
            <a:picLocks noChangeAspect="1"/>
          </p:cNvPicPr>
          <p:nvPr/>
        </p:nvPicPr>
        <p:blipFill>
          <a:blip r:embed="rId6"/>
          <a:srcRect l="1245" r="3943"/>
          <a:stretch>
            <a:fillRect/>
          </a:stretch>
        </p:blipFill>
        <p:spPr>
          <a:xfrm>
            <a:off x="2735824" y="537230"/>
            <a:ext cx="7723792" cy="1572767"/>
          </a:xfrm>
          <a:prstGeom prst="rect">
            <a:avLst/>
          </a:prstGeom>
        </p:spPr>
      </p:pic>
      <p:pic>
        <p:nvPicPr>
          <p:cNvPr id="11" name="Picture 10">
            <a:extLst>
              <a:ext uri="{FF2B5EF4-FFF2-40B4-BE49-F238E27FC236}">
                <a16:creationId xmlns:a16="http://schemas.microsoft.com/office/drawing/2014/main" id="{C7B7FACA-8660-B906-BA87-0BEE23B8ED7F}"/>
              </a:ext>
            </a:extLst>
          </p:cNvPr>
          <p:cNvPicPr>
            <a:picLocks noChangeAspect="1"/>
          </p:cNvPicPr>
          <p:nvPr/>
        </p:nvPicPr>
        <p:blipFill>
          <a:blip r:embed="rId7"/>
          <a:stretch>
            <a:fillRect/>
          </a:stretch>
        </p:blipFill>
        <p:spPr>
          <a:xfrm>
            <a:off x="553033" y="173437"/>
            <a:ext cx="10115550" cy="6076950"/>
          </a:xfrm>
          <a:prstGeom prst="rect">
            <a:avLst/>
          </a:prstGeom>
        </p:spPr>
      </p:pic>
    </p:spTree>
    <p:extLst>
      <p:ext uri="{BB962C8B-B14F-4D97-AF65-F5344CB8AC3E}">
        <p14:creationId xmlns:p14="http://schemas.microsoft.com/office/powerpoint/2010/main" val="23329738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70D6100-8615-E3D3-E91A-09F61D889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6B6597-0F08-9AB9-1BF9-FC9394D7E1E1}"/>
              </a:ext>
            </a:extLst>
          </p:cNvPr>
          <p:cNvSpPr>
            <a:spLocks noGrp="1"/>
          </p:cNvSpPr>
          <p:nvPr>
            <p:ph type="title"/>
          </p:nvPr>
        </p:nvSpPr>
        <p:spPr>
          <a:xfrm>
            <a:off x="733096" y="354615"/>
            <a:ext cx="10515600" cy="718405"/>
          </a:xfrm>
        </p:spPr>
        <p:txBody>
          <a:bodyPr lIns="91440" tIns="45720" rIns="91440" bIns="45720" anchor="t">
            <a:normAutofit fontScale="90000"/>
          </a:bodyPr>
          <a:lstStyle/>
          <a:p>
            <a:r>
              <a:rPr lang="en-US" sz="5400">
                <a:latin typeface="Arial"/>
                <a:cs typeface="Arial"/>
              </a:rPr>
              <a:t>Web App</a:t>
            </a:r>
            <a:endParaRPr lang="en-US" sz="5400"/>
          </a:p>
        </p:txBody>
      </p:sp>
      <p:pic>
        <p:nvPicPr>
          <p:cNvPr id="4" name="Content Placeholder 3" descr="A screenshot of a computer&#10;&#10;AI-generated content may be incorrect.">
            <a:extLst>
              <a:ext uri="{FF2B5EF4-FFF2-40B4-BE49-F238E27FC236}">
                <a16:creationId xmlns:a16="http://schemas.microsoft.com/office/drawing/2014/main" id="{608B3AA0-8B85-05BA-4928-F294DF4828C1}"/>
              </a:ext>
            </a:extLst>
          </p:cNvPr>
          <p:cNvPicPr>
            <a:picLocks noGrp="1" noChangeAspect="1"/>
          </p:cNvPicPr>
          <p:nvPr>
            <p:ph sz="quarter" idx="10"/>
          </p:nvPr>
        </p:nvPicPr>
        <p:blipFill>
          <a:blip r:embed="rId3"/>
          <a:srcRect l="-27" r="-51" b="132"/>
          <a:stretch>
            <a:fillRect/>
          </a:stretch>
        </p:blipFill>
        <p:spPr>
          <a:xfrm>
            <a:off x="729638" y="1244937"/>
            <a:ext cx="8039222" cy="4751323"/>
          </a:xfrm>
          <a:prstGeom prst="rect">
            <a:avLst/>
          </a:prstGeom>
        </p:spPr>
      </p:pic>
      <p:pic>
        <p:nvPicPr>
          <p:cNvPr id="5" name="Picture 4" descr="A screenshot of a chat&#10;&#10;AI-generated content may be incorrect.">
            <a:extLst>
              <a:ext uri="{FF2B5EF4-FFF2-40B4-BE49-F238E27FC236}">
                <a16:creationId xmlns:a16="http://schemas.microsoft.com/office/drawing/2014/main" id="{6BA00D55-4149-4244-8D73-0372BFF43BB6}"/>
              </a:ext>
            </a:extLst>
          </p:cNvPr>
          <p:cNvPicPr>
            <a:picLocks noChangeAspect="1"/>
          </p:cNvPicPr>
          <p:nvPr/>
        </p:nvPicPr>
        <p:blipFill>
          <a:blip r:embed="rId4"/>
          <a:stretch>
            <a:fillRect/>
          </a:stretch>
        </p:blipFill>
        <p:spPr>
          <a:xfrm>
            <a:off x="4749249" y="580890"/>
            <a:ext cx="5676551" cy="2069614"/>
          </a:xfrm>
          <a:prstGeom prst="rect">
            <a:avLst/>
          </a:prstGeom>
        </p:spPr>
      </p:pic>
      <p:sp>
        <p:nvSpPr>
          <p:cNvPr id="3" name="Arrow: Left 2">
            <a:extLst>
              <a:ext uri="{FF2B5EF4-FFF2-40B4-BE49-F238E27FC236}">
                <a16:creationId xmlns:a16="http://schemas.microsoft.com/office/drawing/2014/main" id="{8EA72A40-1CBB-8D8B-73D4-05F6F3A24208}"/>
              </a:ext>
            </a:extLst>
          </p:cNvPr>
          <p:cNvSpPr/>
          <p:nvPr/>
        </p:nvSpPr>
        <p:spPr>
          <a:xfrm rot="2400000">
            <a:off x="3256839" y="1842477"/>
            <a:ext cx="1667396" cy="1004370"/>
          </a:xfrm>
          <a:prstGeom prst="leftArrow">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Left 9">
            <a:extLst>
              <a:ext uri="{FF2B5EF4-FFF2-40B4-BE49-F238E27FC236}">
                <a16:creationId xmlns:a16="http://schemas.microsoft.com/office/drawing/2014/main" id="{A8134FB9-7067-6EB2-EF34-0EF8ECEC0270}"/>
              </a:ext>
            </a:extLst>
          </p:cNvPr>
          <p:cNvSpPr/>
          <p:nvPr/>
        </p:nvSpPr>
        <p:spPr>
          <a:xfrm rot="7680000">
            <a:off x="5945811" y="5012205"/>
            <a:ext cx="1488911" cy="839614"/>
          </a:xfrm>
          <a:prstGeom prst="leftArrow">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C040D71-68C2-11C1-57C0-DBBB40314F4C}"/>
              </a:ext>
            </a:extLst>
          </p:cNvPr>
          <p:cNvSpPr/>
          <p:nvPr/>
        </p:nvSpPr>
        <p:spPr>
          <a:xfrm>
            <a:off x="659026" y="1040026"/>
            <a:ext cx="1822621" cy="513835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E92889-911E-1730-114B-58A35DD10436}"/>
              </a:ext>
            </a:extLst>
          </p:cNvPr>
          <p:cNvSpPr/>
          <p:nvPr/>
        </p:nvSpPr>
        <p:spPr>
          <a:xfrm>
            <a:off x="2588053" y="4115485"/>
            <a:ext cx="3099485" cy="19050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36DD1EE-237A-BECB-A575-198D81569C3E}"/>
              </a:ext>
            </a:extLst>
          </p:cNvPr>
          <p:cNvSpPr txBox="1"/>
          <p:nvPr/>
        </p:nvSpPr>
        <p:spPr>
          <a:xfrm>
            <a:off x="10515600" y="2514876"/>
            <a:ext cx="17595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ea typeface="Calibri"/>
                <a:cs typeface="Calibri"/>
              </a:rPr>
              <a:t>ST Manager</a:t>
            </a:r>
          </a:p>
        </p:txBody>
      </p:sp>
      <p:pic>
        <p:nvPicPr>
          <p:cNvPr id="6" name="Picture 5" descr="A person in a garment&#10;&#10;AI-generated content may be incorrect.">
            <a:extLst>
              <a:ext uri="{FF2B5EF4-FFF2-40B4-BE49-F238E27FC236}">
                <a16:creationId xmlns:a16="http://schemas.microsoft.com/office/drawing/2014/main" id="{9A0399BB-C7AE-4E47-C0EA-DEEE8F766B78}"/>
              </a:ext>
            </a:extLst>
          </p:cNvPr>
          <p:cNvPicPr>
            <a:picLocks noChangeAspect="1"/>
          </p:cNvPicPr>
          <p:nvPr/>
        </p:nvPicPr>
        <p:blipFill>
          <a:blip r:embed="rId5"/>
          <a:stretch>
            <a:fillRect/>
          </a:stretch>
        </p:blipFill>
        <p:spPr>
          <a:xfrm>
            <a:off x="8955991" y="2347608"/>
            <a:ext cx="2290648" cy="3862505"/>
          </a:xfrm>
          <a:prstGeom prst="rect">
            <a:avLst/>
          </a:prstGeom>
        </p:spPr>
      </p:pic>
      <p:sp>
        <p:nvSpPr>
          <p:cNvPr id="9" name="Slide Number Placeholder 8">
            <a:extLst>
              <a:ext uri="{FF2B5EF4-FFF2-40B4-BE49-F238E27FC236}">
                <a16:creationId xmlns:a16="http://schemas.microsoft.com/office/drawing/2014/main" id="{8DD19946-AD56-39EC-D312-1EA47866F128}"/>
              </a:ext>
            </a:extLst>
          </p:cNvPr>
          <p:cNvSpPr>
            <a:spLocks noGrp="1"/>
          </p:cNvSpPr>
          <p:nvPr>
            <p:ph type="sldNum" sz="quarter" idx="13"/>
          </p:nvPr>
        </p:nvSpPr>
        <p:spPr/>
        <p:txBody>
          <a:bodyPr/>
          <a:lstStyle/>
          <a:p>
            <a:fld id="{CC057153-B650-4DEB-B370-79DDCFDCE934}" type="slidenum">
              <a:rPr lang="en-US" smtClean="0"/>
              <a:t>23</a:t>
            </a:fld>
            <a:endParaRPr lang="en-US"/>
          </a:p>
        </p:txBody>
      </p:sp>
    </p:spTree>
    <p:extLst>
      <p:ext uri="{BB962C8B-B14F-4D97-AF65-F5344CB8AC3E}">
        <p14:creationId xmlns:p14="http://schemas.microsoft.com/office/powerpoint/2010/main" val="91993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5" name="Content Placeholder 4" descr="A screenshot of a map&#10;&#10;AI-generated content may be incorrect.">
            <a:extLst>
              <a:ext uri="{FF2B5EF4-FFF2-40B4-BE49-F238E27FC236}">
                <a16:creationId xmlns:a16="http://schemas.microsoft.com/office/drawing/2014/main" id="{22360EF3-46AD-1268-8D1D-1809571651E9}"/>
              </a:ext>
            </a:extLst>
          </p:cNvPr>
          <p:cNvPicPr>
            <a:picLocks noChangeAspect="1"/>
          </p:cNvPicPr>
          <p:nvPr/>
        </p:nvPicPr>
        <p:blipFill>
          <a:blip r:embed="rId3"/>
          <a:srcRect l="-141" t="66740" r="53567" b="-57"/>
          <a:stretch>
            <a:fillRect/>
          </a:stretch>
        </p:blipFill>
        <p:spPr>
          <a:xfrm>
            <a:off x="2527526" y="4451131"/>
            <a:ext cx="3479625" cy="1767488"/>
          </a:xfrm>
          <a:prstGeom prst="rect">
            <a:avLst/>
          </a:prstGeom>
        </p:spPr>
      </p:pic>
      <p:pic>
        <p:nvPicPr>
          <p:cNvPr id="18" name="Content Placeholder 4" descr="A screenshot of a map&#10;&#10;AI-generated content may be incorrect.">
            <a:extLst>
              <a:ext uri="{FF2B5EF4-FFF2-40B4-BE49-F238E27FC236}">
                <a16:creationId xmlns:a16="http://schemas.microsoft.com/office/drawing/2014/main" id="{37E75C5E-F1BA-51AB-F7E6-3D8D184B8CF9}"/>
              </a:ext>
            </a:extLst>
          </p:cNvPr>
          <p:cNvPicPr>
            <a:picLocks noChangeAspect="1"/>
          </p:cNvPicPr>
          <p:nvPr/>
        </p:nvPicPr>
        <p:blipFill>
          <a:blip r:embed="rId3"/>
          <a:srcRect l="-141" t="32182" r="53567" b="-57"/>
          <a:stretch>
            <a:fillRect/>
          </a:stretch>
        </p:blipFill>
        <p:spPr>
          <a:xfrm>
            <a:off x="2638805" y="2613879"/>
            <a:ext cx="3479625" cy="3600785"/>
          </a:xfrm>
          <a:prstGeom prst="rect">
            <a:avLst/>
          </a:prstGeom>
        </p:spPr>
      </p:pic>
      <p:sp>
        <p:nvSpPr>
          <p:cNvPr id="2" name="Title 1">
            <a:extLst>
              <a:ext uri="{FF2B5EF4-FFF2-40B4-BE49-F238E27FC236}">
                <a16:creationId xmlns:a16="http://schemas.microsoft.com/office/drawing/2014/main" id="{495ADB67-4AFF-2F87-0354-452E736A4C38}"/>
              </a:ext>
            </a:extLst>
          </p:cNvPr>
          <p:cNvSpPr>
            <a:spLocks noGrp="1"/>
          </p:cNvSpPr>
          <p:nvPr>
            <p:ph type="title"/>
          </p:nvPr>
        </p:nvSpPr>
        <p:spPr>
          <a:xfrm>
            <a:off x="604562" y="57844"/>
            <a:ext cx="10515600" cy="718405"/>
          </a:xfrm>
        </p:spPr>
        <p:txBody>
          <a:bodyPr lIns="91440" tIns="45720" rIns="91440" bIns="45720" anchor="t">
            <a:noAutofit/>
          </a:bodyPr>
          <a:lstStyle/>
          <a:p>
            <a:r>
              <a:rPr lang="en-US" sz="5400">
                <a:latin typeface="Arial"/>
                <a:cs typeface="Arial"/>
              </a:rPr>
              <a:t>Application</a:t>
            </a:r>
            <a:endParaRPr lang="en-US" sz="5400"/>
          </a:p>
        </p:txBody>
      </p:sp>
      <p:pic>
        <p:nvPicPr>
          <p:cNvPr id="4" name="Content Placeholder 3" descr="A screenshot of a computer&#10;&#10;AI-generated content may be incorrect.">
            <a:extLst>
              <a:ext uri="{FF2B5EF4-FFF2-40B4-BE49-F238E27FC236}">
                <a16:creationId xmlns:a16="http://schemas.microsoft.com/office/drawing/2014/main" id="{5C88011D-AB85-43DA-1961-CA4304A6C2A1}"/>
              </a:ext>
            </a:extLst>
          </p:cNvPr>
          <p:cNvPicPr>
            <a:picLocks noGrp="1" noChangeAspect="1"/>
          </p:cNvPicPr>
          <p:nvPr>
            <p:ph sz="quarter" idx="10"/>
          </p:nvPr>
        </p:nvPicPr>
        <p:blipFill>
          <a:blip r:embed="rId4"/>
          <a:srcRect l="62471" t="24451" r="-51" b="13678"/>
          <a:stretch>
            <a:fillRect/>
          </a:stretch>
        </p:blipFill>
        <p:spPr>
          <a:xfrm>
            <a:off x="6144733" y="2620412"/>
            <a:ext cx="3587659" cy="3498287"/>
          </a:xfrm>
          <a:prstGeom prst="rect">
            <a:avLst/>
          </a:prstGeom>
        </p:spPr>
      </p:pic>
      <p:sp>
        <p:nvSpPr>
          <p:cNvPr id="10" name="Arrow: Left 9">
            <a:extLst>
              <a:ext uri="{FF2B5EF4-FFF2-40B4-BE49-F238E27FC236}">
                <a16:creationId xmlns:a16="http://schemas.microsoft.com/office/drawing/2014/main" id="{D8C2EB20-5757-4259-608C-BDFB6BA1B77A}"/>
              </a:ext>
            </a:extLst>
          </p:cNvPr>
          <p:cNvSpPr/>
          <p:nvPr/>
        </p:nvSpPr>
        <p:spPr>
          <a:xfrm rot="7628390">
            <a:off x="6148717" y="5368840"/>
            <a:ext cx="1488911" cy="839614"/>
          </a:xfrm>
          <a:prstGeom prst="leftArrow">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FF395D6-3EBF-C558-0F76-34311A0D7B28}"/>
              </a:ext>
            </a:extLst>
          </p:cNvPr>
          <p:cNvSpPr/>
          <p:nvPr/>
        </p:nvSpPr>
        <p:spPr>
          <a:xfrm>
            <a:off x="629620" y="859824"/>
            <a:ext cx="1826568" cy="540280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32930BF-9F2C-DD70-89B3-61D892B01FA2}"/>
              </a:ext>
            </a:extLst>
          </p:cNvPr>
          <p:cNvSpPr/>
          <p:nvPr/>
        </p:nvSpPr>
        <p:spPr>
          <a:xfrm>
            <a:off x="2545611" y="4485411"/>
            <a:ext cx="3477537" cy="176748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5FB9248-8E13-B517-1ED5-A727B4F5828C}"/>
              </a:ext>
            </a:extLst>
          </p:cNvPr>
          <p:cNvSpPr txBox="1"/>
          <p:nvPr/>
        </p:nvSpPr>
        <p:spPr>
          <a:xfrm>
            <a:off x="10213794" y="614829"/>
            <a:ext cx="175956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latin typeface="Arial" panose="020B0604020202020204" pitchFamily="34" charset="0"/>
                <a:ea typeface="Calibri"/>
                <a:cs typeface="Arial" panose="020B0604020202020204" pitchFamily="34" charset="0"/>
              </a:rPr>
              <a:t>Storm Trooper Manager</a:t>
            </a:r>
          </a:p>
        </p:txBody>
      </p:sp>
      <p:pic>
        <p:nvPicPr>
          <p:cNvPr id="6" name="Picture 5" descr="A person in a garment&#10;&#10;AI-generated content may be incorrect.">
            <a:extLst>
              <a:ext uri="{FF2B5EF4-FFF2-40B4-BE49-F238E27FC236}">
                <a16:creationId xmlns:a16="http://schemas.microsoft.com/office/drawing/2014/main" id="{F81B4453-F11A-49DA-F586-80F3880D327E}"/>
              </a:ext>
            </a:extLst>
          </p:cNvPr>
          <p:cNvPicPr>
            <a:picLocks noChangeAspect="1"/>
          </p:cNvPicPr>
          <p:nvPr/>
        </p:nvPicPr>
        <p:blipFill>
          <a:blip r:embed="rId5"/>
          <a:stretch>
            <a:fillRect/>
          </a:stretch>
        </p:blipFill>
        <p:spPr>
          <a:xfrm>
            <a:off x="9809885" y="2213811"/>
            <a:ext cx="2395371" cy="4039088"/>
          </a:xfrm>
          <a:prstGeom prst="rect">
            <a:avLst/>
          </a:prstGeom>
        </p:spPr>
      </p:pic>
      <p:sp>
        <p:nvSpPr>
          <p:cNvPr id="16" name="Slide Number Placeholder 15">
            <a:extLst>
              <a:ext uri="{FF2B5EF4-FFF2-40B4-BE49-F238E27FC236}">
                <a16:creationId xmlns:a16="http://schemas.microsoft.com/office/drawing/2014/main" id="{DED9130E-475E-DF88-9F99-2E3B4459A9B0}"/>
              </a:ext>
            </a:extLst>
          </p:cNvPr>
          <p:cNvSpPr>
            <a:spLocks noGrp="1"/>
          </p:cNvSpPr>
          <p:nvPr>
            <p:ph type="sldNum" sz="quarter" idx="13"/>
          </p:nvPr>
        </p:nvSpPr>
        <p:spPr/>
        <p:txBody>
          <a:bodyPr/>
          <a:lstStyle/>
          <a:p>
            <a:fld id="{CC057153-B650-4DEB-B370-79DDCFDCE934}" type="slidenum">
              <a:rPr lang="en-US" sz="1600" smtClean="0">
                <a:latin typeface="Avenir Medium"/>
              </a:rPr>
              <a:t>24</a:t>
            </a:fld>
            <a:endParaRPr lang="en-US" sz="1600">
              <a:latin typeface="Avenir Medium"/>
            </a:endParaRPr>
          </a:p>
        </p:txBody>
      </p:sp>
      <p:pic>
        <p:nvPicPr>
          <p:cNvPr id="15" name="Picture 14" descr="A screenshot of a phone&#10;&#10;AI-generated content may be incorrect.">
            <a:extLst>
              <a:ext uri="{FF2B5EF4-FFF2-40B4-BE49-F238E27FC236}">
                <a16:creationId xmlns:a16="http://schemas.microsoft.com/office/drawing/2014/main" id="{7A12C262-B48B-BF34-37AB-376A9F850778}"/>
              </a:ext>
            </a:extLst>
          </p:cNvPr>
          <p:cNvPicPr>
            <a:picLocks noChangeAspect="1"/>
          </p:cNvPicPr>
          <p:nvPr/>
        </p:nvPicPr>
        <p:blipFill>
          <a:blip r:embed="rId6"/>
          <a:srcRect r="5980" b="10370"/>
          <a:stretch>
            <a:fillRect/>
          </a:stretch>
        </p:blipFill>
        <p:spPr>
          <a:xfrm>
            <a:off x="667744" y="898933"/>
            <a:ext cx="1750723" cy="5353966"/>
          </a:xfrm>
          <a:prstGeom prst="rect">
            <a:avLst/>
          </a:prstGeom>
        </p:spPr>
      </p:pic>
      <p:pic>
        <p:nvPicPr>
          <p:cNvPr id="17" name="Content Placeholder 4" descr="A screenshot of a map&#10;&#10;AI-generated content may be incorrect.">
            <a:extLst>
              <a:ext uri="{FF2B5EF4-FFF2-40B4-BE49-F238E27FC236}">
                <a16:creationId xmlns:a16="http://schemas.microsoft.com/office/drawing/2014/main" id="{ED18B4D6-87B6-A8C9-F5CF-F341AB8A45A3}"/>
              </a:ext>
            </a:extLst>
          </p:cNvPr>
          <p:cNvPicPr>
            <a:picLocks noChangeAspect="1"/>
          </p:cNvPicPr>
          <p:nvPr/>
        </p:nvPicPr>
        <p:blipFill>
          <a:blip r:embed="rId7"/>
          <a:srcRect l="-141" t="75" r="6645" b="72026"/>
          <a:stretch>
            <a:fillRect/>
          </a:stretch>
        </p:blipFill>
        <p:spPr>
          <a:xfrm>
            <a:off x="2638805" y="882475"/>
            <a:ext cx="7032817" cy="1490115"/>
          </a:xfrm>
          <a:prstGeom prst="rect">
            <a:avLst/>
          </a:prstGeom>
        </p:spPr>
      </p:pic>
      <p:sp>
        <p:nvSpPr>
          <p:cNvPr id="3" name="Arrow: Left 2">
            <a:extLst>
              <a:ext uri="{FF2B5EF4-FFF2-40B4-BE49-F238E27FC236}">
                <a16:creationId xmlns:a16="http://schemas.microsoft.com/office/drawing/2014/main" id="{65BD6AC9-1BC9-F019-9274-34BF2A0CB4F9}"/>
              </a:ext>
            </a:extLst>
          </p:cNvPr>
          <p:cNvSpPr/>
          <p:nvPr/>
        </p:nvSpPr>
        <p:spPr>
          <a:xfrm rot="1619803">
            <a:off x="7684781" y="2096795"/>
            <a:ext cx="997137" cy="640490"/>
          </a:xfrm>
          <a:prstGeom prst="leftArrow">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CB4583A-E9FB-89BD-B794-652D1674033E}"/>
              </a:ext>
            </a:extLst>
          </p:cNvPr>
          <p:cNvSpPr/>
          <p:nvPr/>
        </p:nvSpPr>
        <p:spPr>
          <a:xfrm>
            <a:off x="2545611" y="859824"/>
            <a:ext cx="7163732" cy="149011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8689D9F-0ACD-DF84-F9FA-3AC4161E7B47}"/>
              </a:ext>
            </a:extLst>
          </p:cNvPr>
          <p:cNvSpPr/>
          <p:nvPr/>
        </p:nvSpPr>
        <p:spPr>
          <a:xfrm>
            <a:off x="6116089" y="2493627"/>
            <a:ext cx="3629507" cy="375927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screenshot of a computer&#10;&#10;AI-generated content may be incorrect.">
            <a:extLst>
              <a:ext uri="{FF2B5EF4-FFF2-40B4-BE49-F238E27FC236}">
                <a16:creationId xmlns:a16="http://schemas.microsoft.com/office/drawing/2014/main" id="{54E0E10F-D60F-87E5-B420-EB9A1C461BA5}"/>
              </a:ext>
            </a:extLst>
          </p:cNvPr>
          <p:cNvPicPr>
            <a:picLocks noChangeAspect="1"/>
          </p:cNvPicPr>
          <p:nvPr/>
        </p:nvPicPr>
        <p:blipFill>
          <a:blip r:embed="rId8"/>
          <a:srcRect r="55939"/>
          <a:stretch>
            <a:fillRect/>
          </a:stretch>
        </p:blipFill>
        <p:spPr>
          <a:xfrm>
            <a:off x="6226262" y="2618683"/>
            <a:ext cx="1922610" cy="1885084"/>
          </a:xfrm>
          <a:prstGeom prst="rect">
            <a:avLst/>
          </a:prstGeom>
        </p:spPr>
      </p:pic>
      <p:pic>
        <p:nvPicPr>
          <p:cNvPr id="23" name="Picture 22" descr="A screenshot of a chat&#10;&#10;AI-generated content may be incorrect.">
            <a:extLst>
              <a:ext uri="{FF2B5EF4-FFF2-40B4-BE49-F238E27FC236}">
                <a16:creationId xmlns:a16="http://schemas.microsoft.com/office/drawing/2014/main" id="{201A3E95-8A5B-9EE6-E377-02036829C20E}"/>
              </a:ext>
            </a:extLst>
          </p:cNvPr>
          <p:cNvPicPr>
            <a:picLocks noChangeAspect="1"/>
          </p:cNvPicPr>
          <p:nvPr/>
        </p:nvPicPr>
        <p:blipFill>
          <a:blip r:embed="rId9"/>
          <a:srcRect l="-380" t="2533" r="42340" b="14910"/>
          <a:stretch>
            <a:fillRect/>
          </a:stretch>
        </p:blipFill>
        <p:spPr>
          <a:xfrm>
            <a:off x="2601084" y="2692929"/>
            <a:ext cx="3401996" cy="1713432"/>
          </a:xfrm>
          <a:prstGeom prst="rect">
            <a:avLst/>
          </a:prstGeom>
        </p:spPr>
      </p:pic>
      <p:sp>
        <p:nvSpPr>
          <p:cNvPr id="21" name="Rectangle 20">
            <a:extLst>
              <a:ext uri="{FF2B5EF4-FFF2-40B4-BE49-F238E27FC236}">
                <a16:creationId xmlns:a16="http://schemas.microsoft.com/office/drawing/2014/main" id="{0B06B3BF-0A10-F560-D529-62D122FCE0D0}"/>
              </a:ext>
            </a:extLst>
          </p:cNvPr>
          <p:cNvSpPr/>
          <p:nvPr/>
        </p:nvSpPr>
        <p:spPr>
          <a:xfrm>
            <a:off x="2540730" y="2646783"/>
            <a:ext cx="3477537" cy="176748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69DF72B-4AE5-C72F-D769-C7CD3392A446}"/>
              </a:ext>
            </a:extLst>
          </p:cNvPr>
          <p:cNvSpPr/>
          <p:nvPr/>
        </p:nvSpPr>
        <p:spPr>
          <a:xfrm>
            <a:off x="6129783" y="2613879"/>
            <a:ext cx="2019089" cy="188988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463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par>
                                <p:cTn id="7" presetID="21" presetClass="entr" presetSubtype="1"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heel(1)">
                                      <p:cBhvr>
                                        <p:cTn id="9" dur="750"/>
                                        <p:tgtEl>
                                          <p:spTgt spid="6"/>
                                        </p:tgtEl>
                                      </p:cBhvr>
                                    </p:animEffect>
                                  </p:childTnLst>
                                </p:cTn>
                              </p:par>
                              <p:par>
                                <p:cTn id="10" presetID="1"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750"/>
                                        <p:tgtEl>
                                          <p:spTgt spid="15"/>
                                        </p:tgtEl>
                                      </p:cBhvr>
                                    </p:animEffect>
                                  </p:childTnLst>
                                </p:cTn>
                              </p:par>
                              <p:par>
                                <p:cTn id="27" presetID="2" presetClass="entr" presetSubtype="4"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par>
                                <p:cTn id="35" presetID="2" presetClass="exit" presetSubtype="4" fill="hold" nodeType="withEffect">
                                  <p:stCondLst>
                                    <p:cond delay="0"/>
                                  </p:stCondLst>
                                  <p:childTnLst>
                                    <p:anim calcmode="lin" valueType="num">
                                      <p:cBhvr additive="base">
                                        <p:cTn id="36" dur="500"/>
                                        <p:tgtEl>
                                          <p:spTgt spid="15"/>
                                        </p:tgtEl>
                                        <p:attrNameLst>
                                          <p:attrName>ppt_x</p:attrName>
                                        </p:attrNameLst>
                                      </p:cBhvr>
                                      <p:tavLst>
                                        <p:tav tm="0">
                                          <p:val>
                                            <p:strVal val="ppt_x"/>
                                          </p:val>
                                        </p:tav>
                                        <p:tav tm="100000">
                                          <p:val>
                                            <p:strVal val="ppt_x"/>
                                          </p:val>
                                        </p:tav>
                                      </p:tavLst>
                                    </p:anim>
                                    <p:anim calcmode="lin" valueType="num">
                                      <p:cBhvr additive="base">
                                        <p:cTn id="37" dur="500"/>
                                        <p:tgtEl>
                                          <p:spTgt spid="15"/>
                                        </p:tgtEl>
                                        <p:attrNameLst>
                                          <p:attrName>ppt_y</p:attrName>
                                        </p:attrNameLst>
                                      </p:cBhvr>
                                      <p:tavLst>
                                        <p:tav tm="0">
                                          <p:val>
                                            <p:strVal val="ppt_y"/>
                                          </p:val>
                                        </p:tav>
                                        <p:tav tm="100000">
                                          <p:val>
                                            <p:strVal val="1+ppt_h/2"/>
                                          </p:val>
                                        </p:tav>
                                      </p:tavLst>
                                    </p:anim>
                                    <p:set>
                                      <p:cBhvr>
                                        <p:cTn id="38" dur="1" fill="hold">
                                          <p:stCondLst>
                                            <p:cond delay="499"/>
                                          </p:stCondLst>
                                        </p:cTn>
                                        <p:tgtEl>
                                          <p:spTgt spid="15"/>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8"/>
                                        </p:tgtEl>
                                        <p:attrNameLst>
                                          <p:attrName>style.visibility</p:attrName>
                                        </p:attrNameLst>
                                      </p:cBhvr>
                                      <p:to>
                                        <p:strVal val="hidden"/>
                                      </p:to>
                                    </p:set>
                                  </p:childTnLst>
                                </p:cTn>
                              </p:par>
                              <p:par>
                                <p:cTn id="41" presetID="21" presetClass="entr" presetSubtype="1"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heel(1)">
                                      <p:cBhvr>
                                        <p:cTn id="43" dur="1000"/>
                                        <p:tgtEl>
                                          <p:spTgt spid="23"/>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randombar(horizontal)">
                                      <p:cBhvr>
                                        <p:cTn id="46" dur="500"/>
                                        <p:tgtEl>
                                          <p:spTgt spid="21"/>
                                        </p:tgtEl>
                                      </p:cBhvr>
                                    </p:animEffect>
                                  </p:childTnLst>
                                </p:cTn>
                              </p:par>
                              <p:par>
                                <p:cTn id="47" presetID="53" presetClass="entr" presetSubtype="16"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p:cTn id="49" dur="500" fill="hold"/>
                                        <p:tgtEl>
                                          <p:spTgt spid="22"/>
                                        </p:tgtEl>
                                        <p:attrNameLst>
                                          <p:attrName>ppt_w</p:attrName>
                                        </p:attrNameLst>
                                      </p:cBhvr>
                                      <p:tavLst>
                                        <p:tav tm="0">
                                          <p:val>
                                            <p:fltVal val="0"/>
                                          </p:val>
                                        </p:tav>
                                        <p:tav tm="100000">
                                          <p:val>
                                            <p:strVal val="#ppt_w"/>
                                          </p:val>
                                        </p:tav>
                                      </p:tavLst>
                                    </p:anim>
                                    <p:anim calcmode="lin" valueType="num">
                                      <p:cBhvr>
                                        <p:cTn id="50" dur="500" fill="hold"/>
                                        <p:tgtEl>
                                          <p:spTgt spid="22"/>
                                        </p:tgtEl>
                                        <p:attrNameLst>
                                          <p:attrName>ppt_h</p:attrName>
                                        </p:attrNameLst>
                                      </p:cBhvr>
                                      <p:tavLst>
                                        <p:tav tm="0">
                                          <p:val>
                                            <p:fltVal val="0"/>
                                          </p:val>
                                        </p:tav>
                                        <p:tav tm="100000">
                                          <p:val>
                                            <p:strVal val="#ppt_h"/>
                                          </p:val>
                                        </p:tav>
                                      </p:tavLst>
                                    </p:anim>
                                    <p:animEffect transition="in" filter="fade">
                                      <p:cBhvr>
                                        <p:cTn id="51" dur="500"/>
                                        <p:tgtEl>
                                          <p:spTgt spid="22"/>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p:cTn id="54" dur="500" fill="hold"/>
                                        <p:tgtEl>
                                          <p:spTgt spid="24"/>
                                        </p:tgtEl>
                                        <p:attrNameLst>
                                          <p:attrName>ppt_w</p:attrName>
                                        </p:attrNameLst>
                                      </p:cBhvr>
                                      <p:tavLst>
                                        <p:tav tm="0">
                                          <p:val>
                                            <p:fltVal val="0"/>
                                          </p:val>
                                        </p:tav>
                                        <p:tav tm="100000">
                                          <p:val>
                                            <p:strVal val="#ppt_w"/>
                                          </p:val>
                                        </p:tav>
                                      </p:tavLst>
                                    </p:anim>
                                    <p:anim calcmode="lin" valueType="num">
                                      <p:cBhvr>
                                        <p:cTn id="55" dur="500" fill="hold"/>
                                        <p:tgtEl>
                                          <p:spTgt spid="24"/>
                                        </p:tgtEl>
                                        <p:attrNameLst>
                                          <p:attrName>ppt_h</p:attrName>
                                        </p:attrNameLst>
                                      </p:cBhvr>
                                      <p:tavLst>
                                        <p:tav tm="0">
                                          <p:val>
                                            <p:fltVal val="0"/>
                                          </p:val>
                                        </p:tav>
                                        <p:tav tm="100000">
                                          <p:val>
                                            <p:strVal val="#ppt_h"/>
                                          </p:val>
                                        </p:tav>
                                      </p:tavLst>
                                    </p:anim>
                                    <p:animEffect transition="in" filter="fade">
                                      <p:cBhvr>
                                        <p:cTn id="56" dur="500"/>
                                        <p:tgtEl>
                                          <p:spTgt spid="2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nodeType="clickEffect">
                                  <p:stCondLst>
                                    <p:cond delay="0"/>
                                  </p:stCondLst>
                                  <p:childTnLst>
                                    <p:animEffect transition="out" filter="fade">
                                      <p:cBhvr>
                                        <p:cTn id="60" dur="500"/>
                                        <p:tgtEl>
                                          <p:spTgt spid="23"/>
                                        </p:tgtEl>
                                      </p:cBhvr>
                                    </p:animEffect>
                                    <p:set>
                                      <p:cBhvr>
                                        <p:cTn id="61" dur="1" fill="hold">
                                          <p:stCondLst>
                                            <p:cond delay="499"/>
                                          </p:stCondLst>
                                        </p:cTn>
                                        <p:tgtEl>
                                          <p:spTgt spid="23"/>
                                        </p:tgtEl>
                                        <p:attrNameLst>
                                          <p:attrName>style.visibility</p:attrName>
                                        </p:attrNameLst>
                                      </p:cBhvr>
                                      <p:to>
                                        <p:strVal val="hidden"/>
                                      </p:to>
                                    </p:set>
                                  </p:childTnLst>
                                </p:cTn>
                              </p:par>
                              <p:par>
                                <p:cTn id="62" presetID="10" presetClass="exit" presetSubtype="0" fill="hold" grpId="1" nodeType="withEffect">
                                  <p:stCondLst>
                                    <p:cond delay="0"/>
                                  </p:stCondLst>
                                  <p:childTnLst>
                                    <p:animEffect transition="out" filter="fade">
                                      <p:cBhvr>
                                        <p:cTn id="63" dur="500"/>
                                        <p:tgtEl>
                                          <p:spTgt spid="21"/>
                                        </p:tgtEl>
                                      </p:cBhvr>
                                    </p:animEffect>
                                    <p:set>
                                      <p:cBhvr>
                                        <p:cTn id="64" dur="1" fill="hold">
                                          <p:stCondLst>
                                            <p:cond delay="499"/>
                                          </p:stCondLst>
                                        </p:cTn>
                                        <p:tgtEl>
                                          <p:spTgt spid="21"/>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22"/>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24"/>
                                        </p:tgtEl>
                                        <p:attrNameLst>
                                          <p:attrName>style.visibility</p:attrName>
                                        </p:attrNameLst>
                                      </p:cBhvr>
                                      <p:to>
                                        <p:strVal val="hidden"/>
                                      </p:to>
                                    </p:set>
                                  </p:childTnLst>
                                </p:cTn>
                              </p:par>
                              <p:par>
                                <p:cTn id="69" presetID="22" presetClass="entr" presetSubtype="4"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wipe(down)">
                                      <p:cBhvr>
                                        <p:cTn id="71" dur="500"/>
                                        <p:tgtEl>
                                          <p:spTgt spid="25"/>
                                        </p:tgtEl>
                                      </p:cBhvr>
                                    </p:animEffect>
                                  </p:childTnLst>
                                </p:cTn>
                              </p:par>
                              <p:par>
                                <p:cTn id="72" presetID="16" presetClass="entr" presetSubtype="21" fill="hold" grpId="0" nodeType="with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barn(inVertical)">
                                      <p:cBhvr>
                                        <p:cTn id="74" dur="500"/>
                                        <p:tgtEl>
                                          <p:spTgt spid="12"/>
                                        </p:tgtEl>
                                      </p:cBhvr>
                                    </p:animEffect>
                                  </p:childTnLst>
                                </p:cTn>
                              </p:par>
                              <p:par>
                                <p:cTn id="75" presetID="6" presetClass="entr" presetSubtype="16" fill="hold" nodeType="with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circle(in)">
                                      <p:cBhvr>
                                        <p:cTn id="77" dur="1000"/>
                                        <p:tgtEl>
                                          <p:spTgt spid="4"/>
                                        </p:tgtEl>
                                      </p:cBhvr>
                                    </p:animEffect>
                                  </p:childTnLst>
                                </p:cTn>
                              </p:par>
                              <p:par>
                                <p:cTn id="78" presetID="6" presetClass="entr" presetSubtype="16" fill="hold" grpId="0" nodeType="with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circle(in)">
                                      <p:cBhvr>
                                        <p:cTn id="80" dur="1000"/>
                                        <p:tgtEl>
                                          <p:spTgt spid="20"/>
                                        </p:tgtEl>
                                      </p:cBhvr>
                                    </p:animEffect>
                                  </p:childTnLst>
                                </p:cTn>
                              </p:par>
                            </p:childTnLst>
                          </p:cTn>
                        </p:par>
                      </p:childTnLst>
                    </p:cTn>
                  </p:par>
                  <p:par>
                    <p:cTn id="81" fill="hold">
                      <p:stCondLst>
                        <p:cond delay="indefinite"/>
                      </p:stCondLst>
                      <p:childTnLst>
                        <p:par>
                          <p:cTn id="82" fill="hold">
                            <p:stCondLst>
                              <p:cond delay="0"/>
                            </p:stCondLst>
                            <p:childTnLst>
                              <p:par>
                                <p:cTn id="83" presetID="16" presetClass="entr" presetSubtype="21" fill="hold" grpId="0" nodeType="clickEffect">
                                  <p:stCondLst>
                                    <p:cond delay="0"/>
                                  </p:stCondLst>
                                  <p:childTnLst>
                                    <p:set>
                                      <p:cBhvr>
                                        <p:cTn id="84" dur="1" fill="hold">
                                          <p:stCondLst>
                                            <p:cond delay="0"/>
                                          </p:stCondLst>
                                        </p:cTn>
                                        <p:tgtEl>
                                          <p:spTgt spid="10"/>
                                        </p:tgtEl>
                                        <p:attrNameLst>
                                          <p:attrName>style.visibility</p:attrName>
                                        </p:attrNameLst>
                                      </p:cBhvr>
                                      <p:to>
                                        <p:strVal val="visible"/>
                                      </p:to>
                                    </p:set>
                                    <p:animEffect transition="in" filter="barn(inVertical)">
                                      <p:cBhvr>
                                        <p:cTn id="85" dur="500"/>
                                        <p:tgtEl>
                                          <p:spTgt spid="10"/>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xit" presetSubtype="4" fill="hold" nodeType="clickEffect">
                                  <p:stCondLst>
                                    <p:cond delay="0"/>
                                  </p:stCondLst>
                                  <p:childTnLst>
                                    <p:animEffect transition="out" filter="wipe(down)">
                                      <p:cBhvr>
                                        <p:cTn id="89" dur="500"/>
                                        <p:tgtEl>
                                          <p:spTgt spid="25"/>
                                        </p:tgtEl>
                                      </p:cBhvr>
                                    </p:animEffect>
                                    <p:set>
                                      <p:cBhvr>
                                        <p:cTn id="90" dur="1" fill="hold">
                                          <p:stCondLst>
                                            <p:cond delay="499"/>
                                          </p:stCondLst>
                                        </p:cTn>
                                        <p:tgtEl>
                                          <p:spTgt spid="25"/>
                                        </p:tgtEl>
                                        <p:attrNameLst>
                                          <p:attrName>style.visibility</p:attrName>
                                        </p:attrNameLst>
                                      </p:cBhvr>
                                      <p:to>
                                        <p:strVal val="hidden"/>
                                      </p:to>
                                    </p:set>
                                  </p:childTnLst>
                                </p:cTn>
                              </p:par>
                              <p:par>
                                <p:cTn id="91" presetID="22" presetClass="exit" presetSubtype="4" fill="hold" grpId="1" nodeType="withEffect">
                                  <p:stCondLst>
                                    <p:cond delay="0"/>
                                  </p:stCondLst>
                                  <p:childTnLst>
                                    <p:animEffect transition="out" filter="wipe(down)">
                                      <p:cBhvr>
                                        <p:cTn id="92" dur="500"/>
                                        <p:tgtEl>
                                          <p:spTgt spid="12"/>
                                        </p:tgtEl>
                                      </p:cBhvr>
                                    </p:animEffect>
                                    <p:set>
                                      <p:cBhvr>
                                        <p:cTn id="93" dur="1" fill="hold">
                                          <p:stCondLst>
                                            <p:cond delay="499"/>
                                          </p:stCondLst>
                                        </p:cTn>
                                        <p:tgtEl>
                                          <p:spTgt spid="12"/>
                                        </p:tgtEl>
                                        <p:attrNameLst>
                                          <p:attrName>style.visibility</p:attrName>
                                        </p:attrNameLst>
                                      </p:cBhvr>
                                      <p:to>
                                        <p:strVal val="hidden"/>
                                      </p:to>
                                    </p:set>
                                  </p:childTnLst>
                                </p:cTn>
                              </p:par>
                              <p:par>
                                <p:cTn id="94" presetID="22" presetClass="exit" presetSubtype="4" fill="hold" nodeType="withEffect">
                                  <p:stCondLst>
                                    <p:cond delay="0"/>
                                  </p:stCondLst>
                                  <p:childTnLst>
                                    <p:animEffect transition="out" filter="wipe(down)">
                                      <p:cBhvr>
                                        <p:cTn id="95" dur="500"/>
                                        <p:tgtEl>
                                          <p:spTgt spid="4"/>
                                        </p:tgtEl>
                                      </p:cBhvr>
                                    </p:animEffect>
                                    <p:set>
                                      <p:cBhvr>
                                        <p:cTn id="96" dur="1" fill="hold">
                                          <p:stCondLst>
                                            <p:cond delay="499"/>
                                          </p:stCondLst>
                                        </p:cTn>
                                        <p:tgtEl>
                                          <p:spTgt spid="4"/>
                                        </p:tgtEl>
                                        <p:attrNameLst>
                                          <p:attrName>style.visibility</p:attrName>
                                        </p:attrNameLst>
                                      </p:cBhvr>
                                      <p:to>
                                        <p:strVal val="hidden"/>
                                      </p:to>
                                    </p:set>
                                  </p:childTnLst>
                                </p:cTn>
                              </p:par>
                              <p:par>
                                <p:cTn id="97" presetID="22" presetClass="exit" presetSubtype="4" fill="hold" grpId="1" nodeType="withEffect">
                                  <p:stCondLst>
                                    <p:cond delay="0"/>
                                  </p:stCondLst>
                                  <p:childTnLst>
                                    <p:animEffect transition="out" filter="wipe(down)">
                                      <p:cBhvr>
                                        <p:cTn id="98" dur="500"/>
                                        <p:tgtEl>
                                          <p:spTgt spid="20"/>
                                        </p:tgtEl>
                                      </p:cBhvr>
                                    </p:animEffect>
                                    <p:set>
                                      <p:cBhvr>
                                        <p:cTn id="99" dur="1" fill="hold">
                                          <p:stCondLst>
                                            <p:cond delay="499"/>
                                          </p:stCondLst>
                                        </p:cTn>
                                        <p:tgtEl>
                                          <p:spTgt spid="20"/>
                                        </p:tgtEl>
                                        <p:attrNameLst>
                                          <p:attrName>style.visibility</p:attrName>
                                        </p:attrNameLst>
                                      </p:cBhvr>
                                      <p:to>
                                        <p:strVal val="hidden"/>
                                      </p:to>
                                    </p:set>
                                  </p:childTnLst>
                                </p:cTn>
                              </p:par>
                              <p:par>
                                <p:cTn id="100" presetID="1" presetClass="exit" presetSubtype="0" fill="hold" grpId="1" nodeType="withEffect">
                                  <p:stCondLst>
                                    <p:cond delay="0"/>
                                  </p:stCondLst>
                                  <p:childTnLst>
                                    <p:set>
                                      <p:cBhvr>
                                        <p:cTn id="101" dur="1" fill="hold">
                                          <p:stCondLst>
                                            <p:cond delay="0"/>
                                          </p:stCondLst>
                                        </p:cTn>
                                        <p:tgtEl>
                                          <p:spTgt spid="10"/>
                                        </p:tgtEl>
                                        <p:attrNameLst>
                                          <p:attrName>style.visibility</p:attrName>
                                        </p:attrNameLst>
                                      </p:cBhvr>
                                      <p:to>
                                        <p:strVal val="hidden"/>
                                      </p:to>
                                    </p:set>
                                  </p:childTnLst>
                                </p:cTn>
                              </p:par>
                              <p:par>
                                <p:cTn id="102" presetID="42" presetClass="entr" presetSubtype="0" fill="hold" nodeType="withEffect">
                                  <p:stCondLst>
                                    <p:cond delay="0"/>
                                  </p:stCondLst>
                                  <p:childTnLst>
                                    <p:set>
                                      <p:cBhvr>
                                        <p:cTn id="103" dur="1" fill="hold">
                                          <p:stCondLst>
                                            <p:cond delay="0"/>
                                          </p:stCondLst>
                                        </p:cTn>
                                        <p:tgtEl>
                                          <p:spTgt spid="17"/>
                                        </p:tgtEl>
                                        <p:attrNameLst>
                                          <p:attrName>style.visibility</p:attrName>
                                        </p:attrNameLst>
                                      </p:cBhvr>
                                      <p:to>
                                        <p:strVal val="visible"/>
                                      </p:to>
                                    </p:set>
                                    <p:animEffect transition="in" filter="fade">
                                      <p:cBhvr>
                                        <p:cTn id="104" dur="1000"/>
                                        <p:tgtEl>
                                          <p:spTgt spid="17"/>
                                        </p:tgtEl>
                                      </p:cBhvr>
                                    </p:animEffect>
                                    <p:anim calcmode="lin" valueType="num">
                                      <p:cBhvr>
                                        <p:cTn id="105" dur="1000" fill="hold"/>
                                        <p:tgtEl>
                                          <p:spTgt spid="17"/>
                                        </p:tgtEl>
                                        <p:attrNameLst>
                                          <p:attrName>ppt_x</p:attrName>
                                        </p:attrNameLst>
                                      </p:cBhvr>
                                      <p:tavLst>
                                        <p:tav tm="0">
                                          <p:val>
                                            <p:strVal val="#ppt_x"/>
                                          </p:val>
                                        </p:tav>
                                        <p:tav tm="100000">
                                          <p:val>
                                            <p:strVal val="#ppt_x"/>
                                          </p:val>
                                        </p:tav>
                                      </p:tavLst>
                                    </p:anim>
                                    <p:anim calcmode="lin" valueType="num">
                                      <p:cBhvr>
                                        <p:cTn id="106" dur="1000" fill="hold"/>
                                        <p:tgtEl>
                                          <p:spTgt spid="17"/>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14"/>
                                        </p:tgtEl>
                                        <p:attrNameLst>
                                          <p:attrName>style.visibility</p:attrName>
                                        </p:attrNameLst>
                                      </p:cBhvr>
                                      <p:to>
                                        <p:strVal val="visible"/>
                                      </p:to>
                                    </p:set>
                                    <p:animEffect transition="in" filter="fade">
                                      <p:cBhvr>
                                        <p:cTn id="109" dur="1000"/>
                                        <p:tgtEl>
                                          <p:spTgt spid="14"/>
                                        </p:tgtEl>
                                      </p:cBhvr>
                                    </p:animEffect>
                                    <p:anim calcmode="lin" valueType="num">
                                      <p:cBhvr>
                                        <p:cTn id="110" dur="1000" fill="hold"/>
                                        <p:tgtEl>
                                          <p:spTgt spid="14"/>
                                        </p:tgtEl>
                                        <p:attrNameLst>
                                          <p:attrName>ppt_x</p:attrName>
                                        </p:attrNameLst>
                                      </p:cBhvr>
                                      <p:tavLst>
                                        <p:tav tm="0">
                                          <p:val>
                                            <p:strVal val="#ppt_x"/>
                                          </p:val>
                                        </p:tav>
                                        <p:tav tm="100000">
                                          <p:val>
                                            <p:strVal val="#ppt_x"/>
                                          </p:val>
                                        </p:tav>
                                      </p:tavLst>
                                    </p:anim>
                                    <p:anim calcmode="lin" valueType="num">
                                      <p:cBhvr>
                                        <p:cTn id="111" dur="1000" fill="hold"/>
                                        <p:tgtEl>
                                          <p:spTgt spid="14"/>
                                        </p:tgtEl>
                                        <p:attrNameLst>
                                          <p:attrName>ppt_y</p:attrName>
                                        </p:attrNameLst>
                                      </p:cBhvr>
                                      <p:tavLst>
                                        <p:tav tm="0">
                                          <p:val>
                                            <p:strVal val="#ppt_y+.1"/>
                                          </p:val>
                                        </p:tav>
                                        <p:tav tm="100000">
                                          <p:val>
                                            <p:strVal val="#ppt_y"/>
                                          </p:val>
                                        </p:tav>
                                      </p:tavLst>
                                    </p:anim>
                                  </p:childTnLst>
                                </p:cTn>
                              </p:par>
                              <p:par>
                                <p:cTn id="112" presetID="10" presetClass="entr" presetSubtype="0" fill="hold" grpId="0" nodeType="withEffect">
                                  <p:stCondLst>
                                    <p:cond delay="500"/>
                                  </p:stCondLst>
                                  <p:childTnLst>
                                    <p:set>
                                      <p:cBhvr>
                                        <p:cTn id="113" dur="1" fill="hold">
                                          <p:stCondLst>
                                            <p:cond delay="0"/>
                                          </p:stCondLst>
                                        </p:cTn>
                                        <p:tgtEl>
                                          <p:spTgt spid="3"/>
                                        </p:tgtEl>
                                        <p:attrNameLst>
                                          <p:attrName>style.visibility</p:attrName>
                                        </p:attrNameLst>
                                      </p:cBhvr>
                                      <p:to>
                                        <p:strVal val="visible"/>
                                      </p:to>
                                    </p:set>
                                    <p:animEffect transition="in" filter="fade">
                                      <p:cBhvr>
                                        <p:cTn id="114" dur="500"/>
                                        <p:tgtEl>
                                          <p:spTgt spid="3"/>
                                        </p:tgtEl>
                                      </p:cBhvr>
                                    </p:animEffec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14"/>
                                        </p:tgtEl>
                                        <p:attrNameLst>
                                          <p:attrName>style.visibility</p:attrName>
                                        </p:attrNameLst>
                                      </p:cBhvr>
                                      <p:to>
                                        <p:strVal val="hidden"/>
                                      </p:to>
                                    </p:set>
                                  </p:childTnLst>
                                </p:cTn>
                              </p:par>
                              <p:par>
                                <p:cTn id="119" presetID="1" presetClass="exit" presetSubtype="0" fill="hold" grpId="1" nodeType="withEffect">
                                  <p:stCondLst>
                                    <p:cond delay="0"/>
                                  </p:stCondLst>
                                  <p:childTnLst>
                                    <p:set>
                                      <p:cBhvr>
                                        <p:cTn id="120" dur="1" fill="hold">
                                          <p:stCondLst>
                                            <p:cond delay="0"/>
                                          </p:stCondLst>
                                        </p:cTn>
                                        <p:tgtEl>
                                          <p:spTgt spid="3"/>
                                        </p:tgtEl>
                                        <p:attrNameLst>
                                          <p:attrName>style.visibility</p:attrName>
                                        </p:attrNameLst>
                                      </p:cBhvr>
                                      <p:to>
                                        <p:strVal val="hidden"/>
                                      </p:to>
                                    </p:set>
                                  </p:childTnLst>
                                </p:cTn>
                              </p:par>
                              <p:par>
                                <p:cTn id="121" presetID="1" presetClass="entr" presetSubtype="0" fill="hold" nodeType="withEffect">
                                  <p:stCondLst>
                                    <p:cond delay="0"/>
                                  </p:stCondLst>
                                  <p:childTnLst>
                                    <p:set>
                                      <p:cBhvr>
                                        <p:cTn id="1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7" grpId="0"/>
      <p:bldP spid="3" grpId="0" animBg="1"/>
      <p:bldP spid="3" grpId="1" animBg="1"/>
      <p:bldP spid="14" grpId="0" animBg="1"/>
      <p:bldP spid="14" grpId="1" animBg="1"/>
      <p:bldP spid="20" grpId="0" animBg="1"/>
      <p:bldP spid="20" grpId="1" animBg="1"/>
      <p:bldP spid="21" grpId="0" animBg="1"/>
      <p:bldP spid="21" grpId="1" animBg="1"/>
      <p:bldP spid="24" grpId="0" animBg="1"/>
      <p:bldP spid="24" grpId="1"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75D8-042A-E759-A2D7-8B1667AD61FD}"/>
              </a:ext>
            </a:extLst>
          </p:cNvPr>
          <p:cNvSpPr>
            <a:spLocks noGrp="1"/>
          </p:cNvSpPr>
          <p:nvPr>
            <p:ph type="title"/>
          </p:nvPr>
        </p:nvSpPr>
        <p:spPr>
          <a:xfrm>
            <a:off x="742240" y="215065"/>
            <a:ext cx="10524460" cy="696470"/>
          </a:xfrm>
        </p:spPr>
        <p:txBody>
          <a:bodyPr lIns="91440" tIns="45720" rIns="91440" bIns="45720" anchor="t">
            <a:normAutofit fontScale="90000"/>
          </a:bodyPr>
          <a:lstStyle/>
          <a:p>
            <a:pPr algn="ctr"/>
            <a:r>
              <a:rPr lang="en-US" sz="5400">
                <a:latin typeface="Arial"/>
                <a:cs typeface="Arial"/>
              </a:rPr>
              <a:t>Objective</a:t>
            </a:r>
            <a:endParaRPr lang="en-US" sz="5400"/>
          </a:p>
        </p:txBody>
      </p:sp>
      <p:sp>
        <p:nvSpPr>
          <p:cNvPr id="3" name="Content Placeholder 2">
            <a:extLst>
              <a:ext uri="{FF2B5EF4-FFF2-40B4-BE49-F238E27FC236}">
                <a16:creationId xmlns:a16="http://schemas.microsoft.com/office/drawing/2014/main" id="{FDE28F06-22B5-27D7-1774-967C7B7044E8}"/>
              </a:ext>
            </a:extLst>
          </p:cNvPr>
          <p:cNvSpPr>
            <a:spLocks noGrp="1"/>
          </p:cNvSpPr>
          <p:nvPr>
            <p:ph sz="quarter" idx="10"/>
          </p:nvPr>
        </p:nvSpPr>
        <p:spPr>
          <a:xfrm>
            <a:off x="543794" y="1112347"/>
            <a:ext cx="11328415" cy="1980756"/>
          </a:xfrm>
        </p:spPr>
        <p:txBody>
          <a:bodyPr lIns="91440" tIns="45720" rIns="91440" bIns="45720" anchor="t"/>
          <a:lstStyle/>
          <a:p>
            <a:pPr marL="0" indent="0">
              <a:buNone/>
            </a:pPr>
            <a:endParaRPr lang="en-US"/>
          </a:p>
          <a:p>
            <a:pPr marL="0" indent="0">
              <a:buNone/>
            </a:pPr>
            <a:r>
              <a:rPr lang="en-US">
                <a:latin typeface="Avenir Medium"/>
              </a:rPr>
              <a:t>We built an optimization model that assigns adjusters to catastrophic (CAT) severity events </a:t>
            </a:r>
            <a:r>
              <a:rPr lang="en-US" err="1">
                <a:latin typeface="Avenir Medium"/>
              </a:rPr>
              <a:t>cliams</a:t>
            </a:r>
            <a:r>
              <a:rPr lang="en-US">
                <a:latin typeface="Avenir Medium"/>
              </a:rPr>
              <a:t> by proximity – leading to cost saving measures, regulation compliance, and customer retention</a:t>
            </a:r>
            <a:endParaRPr lang="en-US"/>
          </a:p>
          <a:p>
            <a:pPr marL="0" indent="0">
              <a:buNone/>
            </a:pPr>
            <a:endParaRPr lang="en-US"/>
          </a:p>
        </p:txBody>
      </p:sp>
      <p:pic>
        <p:nvPicPr>
          <p:cNvPr id="4" name="Graphic 3" descr="Man outline">
            <a:extLst>
              <a:ext uri="{FF2B5EF4-FFF2-40B4-BE49-F238E27FC236}">
                <a16:creationId xmlns:a16="http://schemas.microsoft.com/office/drawing/2014/main" id="{7154A0E8-F6D4-1B84-221D-5B350113AB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58629" y="5036417"/>
            <a:ext cx="479328" cy="497191"/>
          </a:xfrm>
          <a:prstGeom prst="rect">
            <a:avLst/>
          </a:prstGeom>
        </p:spPr>
      </p:pic>
      <p:pic>
        <p:nvPicPr>
          <p:cNvPr id="8" name="Graphic 7" descr="Document outline">
            <a:extLst>
              <a:ext uri="{FF2B5EF4-FFF2-40B4-BE49-F238E27FC236}">
                <a16:creationId xmlns:a16="http://schemas.microsoft.com/office/drawing/2014/main" id="{3F4A98C3-9B8C-66F8-C563-AEB9B34591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17640" y="4015526"/>
            <a:ext cx="1957753" cy="1957753"/>
          </a:xfrm>
          <a:prstGeom prst="rect">
            <a:avLst/>
          </a:prstGeom>
        </p:spPr>
      </p:pic>
      <p:pic>
        <p:nvPicPr>
          <p:cNvPr id="9" name="Graphic 8" descr="Money outline">
            <a:extLst>
              <a:ext uri="{FF2B5EF4-FFF2-40B4-BE49-F238E27FC236}">
                <a16:creationId xmlns:a16="http://schemas.microsoft.com/office/drawing/2014/main" id="{5C079B16-BB0A-12C2-B840-B75222A262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03222" y="4026879"/>
            <a:ext cx="1957752" cy="1957752"/>
          </a:xfrm>
          <a:prstGeom prst="rect">
            <a:avLst/>
          </a:prstGeom>
        </p:spPr>
      </p:pic>
      <p:pic>
        <p:nvPicPr>
          <p:cNvPr id="10" name="Graphic 9" descr="Smiling face outline with solid fill">
            <a:extLst>
              <a:ext uri="{FF2B5EF4-FFF2-40B4-BE49-F238E27FC236}">
                <a16:creationId xmlns:a16="http://schemas.microsoft.com/office/drawing/2014/main" id="{4C7C2EE3-F1FC-11F6-F9B1-F2E2333411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88455" y="4229301"/>
            <a:ext cx="1552903" cy="1552903"/>
          </a:xfrm>
          <a:prstGeom prst="rect">
            <a:avLst/>
          </a:prstGeom>
        </p:spPr>
      </p:pic>
      <p:pic>
        <p:nvPicPr>
          <p:cNvPr id="11" name="Graphic 10" descr="Map with pin outline">
            <a:extLst>
              <a:ext uri="{FF2B5EF4-FFF2-40B4-BE49-F238E27FC236}">
                <a16:creationId xmlns:a16="http://schemas.microsoft.com/office/drawing/2014/main" id="{D6ED7442-5AE4-A44C-7252-B7BE8CDF59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83662" y="3154366"/>
            <a:ext cx="3636082" cy="3636082"/>
          </a:xfrm>
          <a:prstGeom prst="rect">
            <a:avLst/>
          </a:prstGeom>
        </p:spPr>
      </p:pic>
      <p:pic>
        <p:nvPicPr>
          <p:cNvPr id="5" name="Graphic 4" descr="Man outline">
            <a:extLst>
              <a:ext uri="{FF2B5EF4-FFF2-40B4-BE49-F238E27FC236}">
                <a16:creationId xmlns:a16="http://schemas.microsoft.com/office/drawing/2014/main" id="{AB89D8A4-2EA4-EC63-BC92-2AF266CA50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3795" y="4500081"/>
            <a:ext cx="1480464" cy="1535636"/>
          </a:xfrm>
          <a:prstGeom prst="rect">
            <a:avLst/>
          </a:prstGeom>
        </p:spPr>
      </p:pic>
      <p:pic>
        <p:nvPicPr>
          <p:cNvPr id="6" name="Graphic 5" descr="Man outline">
            <a:extLst>
              <a:ext uri="{FF2B5EF4-FFF2-40B4-BE49-F238E27FC236}">
                <a16:creationId xmlns:a16="http://schemas.microsoft.com/office/drawing/2014/main" id="{084073DD-725E-87E0-C85E-A0CFE7638E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3794" y="5702911"/>
            <a:ext cx="479328" cy="497191"/>
          </a:xfrm>
          <a:prstGeom prst="rect">
            <a:avLst/>
          </a:prstGeom>
        </p:spPr>
      </p:pic>
      <p:pic>
        <p:nvPicPr>
          <p:cNvPr id="7" name="Graphic 6" descr="Man outline">
            <a:extLst>
              <a:ext uri="{FF2B5EF4-FFF2-40B4-BE49-F238E27FC236}">
                <a16:creationId xmlns:a16="http://schemas.microsoft.com/office/drawing/2014/main" id="{EC0FC08E-D820-F3A4-9A1B-5C1F7550F9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13075" y="5533608"/>
            <a:ext cx="479328" cy="497191"/>
          </a:xfrm>
          <a:prstGeom prst="rect">
            <a:avLst/>
          </a:prstGeom>
        </p:spPr>
      </p:pic>
      <p:pic>
        <p:nvPicPr>
          <p:cNvPr id="12" name="Graphic 11" descr="Man outline">
            <a:extLst>
              <a:ext uri="{FF2B5EF4-FFF2-40B4-BE49-F238E27FC236}">
                <a16:creationId xmlns:a16="http://schemas.microsoft.com/office/drawing/2014/main" id="{C84394E0-0DBA-CFDD-72D1-5D7EF3E225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2240" y="5449274"/>
            <a:ext cx="479328" cy="497191"/>
          </a:xfrm>
          <a:prstGeom prst="rect">
            <a:avLst/>
          </a:prstGeom>
        </p:spPr>
      </p:pic>
      <p:sp>
        <p:nvSpPr>
          <p:cNvPr id="14" name="Slide Number Placeholder 13">
            <a:extLst>
              <a:ext uri="{FF2B5EF4-FFF2-40B4-BE49-F238E27FC236}">
                <a16:creationId xmlns:a16="http://schemas.microsoft.com/office/drawing/2014/main" id="{54FB568F-B469-6902-F924-89106E6E5F8D}"/>
              </a:ext>
            </a:extLst>
          </p:cNvPr>
          <p:cNvSpPr>
            <a:spLocks noGrp="1"/>
          </p:cNvSpPr>
          <p:nvPr>
            <p:ph type="sldNum" sz="quarter" idx="13"/>
          </p:nvPr>
        </p:nvSpPr>
        <p:spPr/>
        <p:txBody>
          <a:bodyPr/>
          <a:lstStyle/>
          <a:p>
            <a:fld id="{CC057153-B650-4DEB-B370-79DDCFDCE934}" type="slidenum">
              <a:rPr lang="en-US" smtClean="0"/>
              <a:t>25</a:t>
            </a:fld>
            <a:endParaRPr lang="en-US"/>
          </a:p>
        </p:txBody>
      </p:sp>
    </p:spTree>
    <p:extLst>
      <p:ext uri="{BB962C8B-B14F-4D97-AF65-F5344CB8AC3E}">
        <p14:creationId xmlns:p14="http://schemas.microsoft.com/office/powerpoint/2010/main" val="1495071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path" presetSubtype="0" accel="50000" decel="50000" fill="hold" nodeType="clickEffect">
                                  <p:stCondLst>
                                    <p:cond delay="0"/>
                                  </p:stCondLst>
                                  <p:childTnLst>
                                    <p:animMotion origin="layout" path="M 1.45833E-6 4.44444E-6 L 0.0707 0.06458 C 0.08542 0.07916 0.10755 0.08726 0.13073 0.08726 C 0.15703 0.08726 0.17825 0.07916 0.19297 0.06458 L 0.2638 4.44444E-6 " pathEditMode="relative" rAng="0" ptsTypes="AAAAA">
                                      <p:cBhvr>
                                        <p:cTn id="6" dur="1500" fill="hold"/>
                                        <p:tgtEl>
                                          <p:spTgt spid="5"/>
                                        </p:tgtEl>
                                        <p:attrNameLst>
                                          <p:attrName>ppt_x</p:attrName>
                                          <p:attrName>ppt_y</p:attrName>
                                        </p:attrNameLst>
                                      </p:cBhvr>
                                      <p:rCtr x="13190" y="4352"/>
                                    </p:animMotion>
                                  </p:childTnLst>
                                </p:cTn>
                              </p:par>
                              <p:par>
                                <p:cTn id="7" presetID="37" presetClass="path" presetSubtype="0" accel="50000" decel="50000" fill="hold" nodeType="withEffect">
                                  <p:stCondLst>
                                    <p:cond delay="500"/>
                                  </p:stCondLst>
                                  <p:childTnLst>
                                    <p:animMotion origin="layout" path="M 3.95833E-6 -1.85185E-6 L 0.075 0.07153 C 0.09049 0.08773 0.11393 0.09653 0.13867 0.09653 C 0.16653 0.09653 0.18906 0.08773 0.20455 0.07153 L 0.27968 -1.85185E-6 " pathEditMode="relative" rAng="0" ptsTypes="AAAAA">
                                      <p:cBhvr>
                                        <p:cTn id="8" dur="1000" fill="hold"/>
                                        <p:tgtEl>
                                          <p:spTgt spid="4"/>
                                        </p:tgtEl>
                                        <p:attrNameLst>
                                          <p:attrName>ppt_x</p:attrName>
                                          <p:attrName>ppt_y</p:attrName>
                                        </p:attrNameLst>
                                      </p:cBhvr>
                                      <p:rCtr x="13984" y="4815"/>
                                    </p:animMotion>
                                  </p:childTnLst>
                                </p:cTn>
                              </p:par>
                              <p:par>
                                <p:cTn id="9" presetID="37" presetClass="path" presetSubtype="0" accel="50000" decel="50000" fill="hold" nodeType="withEffect">
                                  <p:stCondLst>
                                    <p:cond delay="500"/>
                                  </p:stCondLst>
                                  <p:childTnLst>
                                    <p:animMotion origin="layout" path="M 2.77556E-17 -0.14653 L 0.04297 0.03981 C 0.05208 0.08194 0.06563 0.10532 0.07982 0.10532 C 0.09583 0.10532 0.10885 0.08194 0.11797 0.03981 L 0.16133 -0.14653 " pathEditMode="relative" rAng="0" ptsTypes="AAAAA">
                                      <p:cBhvr>
                                        <p:cTn id="10" dur="1000" fill="hold"/>
                                        <p:tgtEl>
                                          <p:spTgt spid="7"/>
                                        </p:tgtEl>
                                        <p:attrNameLst>
                                          <p:attrName>ppt_x</p:attrName>
                                          <p:attrName>ppt_y</p:attrName>
                                        </p:attrNameLst>
                                      </p:cBhvr>
                                      <p:rCtr x="8060" y="12593"/>
                                    </p:animMotion>
                                  </p:childTnLst>
                                </p:cTn>
                              </p:par>
                              <p:par>
                                <p:cTn id="11" presetID="37" presetClass="path" presetSubtype="0" accel="50000" decel="50000" fill="hold" nodeType="withEffect">
                                  <p:stCondLst>
                                    <p:cond delay="500"/>
                                  </p:stCondLst>
                                  <p:childTnLst>
                                    <p:animMotion origin="layout" path="M 1.25E-6 2.96296E-6 L 0.04141 0.11805 C 0.05 0.14467 0.06302 0.15926 0.07669 0.15926 C 0.09206 0.15926 0.10456 0.14467 0.11315 0.11805 L 0.15469 2.96296E-6 " pathEditMode="relative" rAng="0" ptsTypes="AAAAA">
                                      <p:cBhvr>
                                        <p:cTn id="12" dur="1000" fill="hold"/>
                                        <p:tgtEl>
                                          <p:spTgt spid="12"/>
                                        </p:tgtEl>
                                        <p:attrNameLst>
                                          <p:attrName>ppt_x</p:attrName>
                                          <p:attrName>ppt_y</p:attrName>
                                        </p:attrNameLst>
                                      </p:cBhvr>
                                      <p:rCtr x="7734" y="7963"/>
                                    </p:animMotion>
                                  </p:childTnLst>
                                </p:cTn>
                              </p:par>
                              <p:par>
                                <p:cTn id="13" presetID="37" presetClass="path" presetSubtype="0" accel="50000" decel="50000" fill="hold" nodeType="withEffect">
                                  <p:stCondLst>
                                    <p:cond delay="500"/>
                                  </p:stCondLst>
                                  <p:childTnLst>
                                    <p:animMotion origin="layout" path="M -2.70833E-6 -0.07314 L 0.06628 0.02107 C 0.07995 0.04237 0.10078 0.05394 0.12253 0.05394 C 0.14714 0.05394 0.16706 0.04237 0.18073 0.02107 L 0.24714 -0.07314 " pathEditMode="relative" rAng="0" ptsTypes="AAAAA">
                                      <p:cBhvr>
                                        <p:cTn id="14" dur="1000" fill="hold"/>
                                        <p:tgtEl>
                                          <p:spTgt spid="6"/>
                                        </p:tgtEl>
                                        <p:attrNameLst>
                                          <p:attrName>ppt_x</p:attrName>
                                          <p:attrName>ppt_y</p:attrName>
                                        </p:attrNameLst>
                                      </p:cBhvr>
                                      <p:rCtr x="12357" y="634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42D0B-1536-6C28-3E30-B0316965E52D}"/>
              </a:ext>
            </a:extLst>
          </p:cNvPr>
          <p:cNvSpPr>
            <a:spLocks noGrp="1"/>
          </p:cNvSpPr>
          <p:nvPr>
            <p:ph type="title"/>
          </p:nvPr>
        </p:nvSpPr>
        <p:spPr/>
        <p:txBody>
          <a:bodyPr/>
          <a:lstStyle/>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0E1B3D3A-4D68-3BC8-D56E-FD9A6AB96714}"/>
              </a:ext>
            </a:extLst>
          </p:cNvPr>
          <p:cNvPicPr>
            <a:picLocks noGrp="1" noChangeAspect="1"/>
          </p:cNvPicPr>
          <p:nvPr>
            <p:ph sz="quarter" idx="10"/>
          </p:nvPr>
        </p:nvPicPr>
        <p:blipFill>
          <a:blip r:embed="rId2"/>
          <a:stretch>
            <a:fillRect/>
          </a:stretch>
        </p:blipFill>
        <p:spPr>
          <a:xfrm>
            <a:off x="5063588" y="2096440"/>
            <a:ext cx="5707099" cy="3752850"/>
          </a:xfrm>
          <a:prstGeom prst="rect">
            <a:avLst/>
          </a:prstGeom>
        </p:spPr>
      </p:pic>
      <p:sp>
        <p:nvSpPr>
          <p:cNvPr id="4" name="Slide Number Placeholder 3">
            <a:extLst>
              <a:ext uri="{FF2B5EF4-FFF2-40B4-BE49-F238E27FC236}">
                <a16:creationId xmlns:a16="http://schemas.microsoft.com/office/drawing/2014/main" id="{980C4B0B-5556-E1FE-28F2-E34661E11721}"/>
              </a:ext>
            </a:extLst>
          </p:cNvPr>
          <p:cNvSpPr>
            <a:spLocks noGrp="1"/>
          </p:cNvSpPr>
          <p:nvPr>
            <p:ph type="sldNum" sz="quarter" idx="13"/>
          </p:nvPr>
        </p:nvSpPr>
        <p:spPr/>
        <p:txBody>
          <a:bodyPr/>
          <a:lstStyle/>
          <a:p>
            <a:fld id="{CC057153-B650-4DEB-B370-79DDCFDCE934}" type="slidenum">
              <a:rPr lang="en-US" smtClean="0"/>
              <a:t>26</a:t>
            </a:fld>
            <a:endParaRPr lang="en-US"/>
          </a:p>
        </p:txBody>
      </p:sp>
    </p:spTree>
    <p:extLst>
      <p:ext uri="{BB962C8B-B14F-4D97-AF65-F5344CB8AC3E}">
        <p14:creationId xmlns:p14="http://schemas.microsoft.com/office/powerpoint/2010/main" val="1670472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A385F5-F931-A474-F584-E01875C46E65}"/>
              </a:ext>
            </a:extLst>
          </p:cNvPr>
          <p:cNvSpPr>
            <a:spLocks noGrp="1"/>
          </p:cNvSpPr>
          <p:nvPr>
            <p:ph type="body" sz="quarter" idx="10"/>
          </p:nvPr>
        </p:nvSpPr>
        <p:spPr>
          <a:xfrm>
            <a:off x="3256223" y="529191"/>
            <a:ext cx="5680075" cy="660400"/>
          </a:xfrm>
        </p:spPr>
        <p:txBody>
          <a:bodyPr lIns="91440" tIns="45720" rIns="91440" bIns="45720" anchor="t">
            <a:normAutofit fontScale="62500" lnSpcReduction="20000"/>
          </a:bodyPr>
          <a:lstStyle/>
          <a:p>
            <a:pPr algn="ctr"/>
            <a:r>
              <a:rPr lang="en-US" sz="5400"/>
              <a:t>Data Overview</a:t>
            </a:r>
          </a:p>
        </p:txBody>
      </p:sp>
      <p:pic>
        <p:nvPicPr>
          <p:cNvPr id="12" name="Graphic 11" descr="Office worker female outline">
            <a:extLst>
              <a:ext uri="{FF2B5EF4-FFF2-40B4-BE49-F238E27FC236}">
                <a16:creationId xmlns:a16="http://schemas.microsoft.com/office/drawing/2014/main" id="{37130F7F-09E3-90AC-6B82-B50678B28C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766" y="2654539"/>
            <a:ext cx="1259958" cy="1268818"/>
          </a:xfrm>
          <a:prstGeom prst="rect">
            <a:avLst/>
          </a:prstGeom>
        </p:spPr>
      </p:pic>
      <p:pic>
        <p:nvPicPr>
          <p:cNvPr id="17" name="Graphic 16" descr="Office worker male outline">
            <a:extLst>
              <a:ext uri="{FF2B5EF4-FFF2-40B4-BE49-F238E27FC236}">
                <a16:creationId xmlns:a16="http://schemas.microsoft.com/office/drawing/2014/main" id="{869A2847-1779-895A-7293-E91BC5455A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0887" y="3940884"/>
            <a:ext cx="1339608" cy="1434783"/>
          </a:xfrm>
          <a:prstGeom prst="rect">
            <a:avLst/>
          </a:prstGeom>
        </p:spPr>
      </p:pic>
      <p:pic>
        <p:nvPicPr>
          <p:cNvPr id="20" name="Graphic 19" descr="Office worker male outline">
            <a:extLst>
              <a:ext uri="{FF2B5EF4-FFF2-40B4-BE49-F238E27FC236}">
                <a16:creationId xmlns:a16="http://schemas.microsoft.com/office/drawing/2014/main" id="{52BAA741-5A80-E967-E239-31C6D7C8FA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3916" y="1430079"/>
            <a:ext cx="1268818" cy="1268818"/>
          </a:xfrm>
          <a:prstGeom prst="rect">
            <a:avLst/>
          </a:prstGeom>
        </p:spPr>
      </p:pic>
      <p:grpSp>
        <p:nvGrpSpPr>
          <p:cNvPr id="23" name="Group 22">
            <a:extLst>
              <a:ext uri="{FF2B5EF4-FFF2-40B4-BE49-F238E27FC236}">
                <a16:creationId xmlns:a16="http://schemas.microsoft.com/office/drawing/2014/main" id="{32ED5A33-3076-E6B8-8347-FEE584B54464}"/>
              </a:ext>
            </a:extLst>
          </p:cNvPr>
          <p:cNvGrpSpPr/>
          <p:nvPr/>
        </p:nvGrpSpPr>
        <p:grpSpPr>
          <a:xfrm>
            <a:off x="1328948" y="1430079"/>
            <a:ext cx="3768270" cy="3945588"/>
            <a:chOff x="1328948" y="1430079"/>
            <a:chExt cx="3768270" cy="3945588"/>
          </a:xfrm>
        </p:grpSpPr>
        <p:pic>
          <p:nvPicPr>
            <p:cNvPr id="5" name="Graphic 4" descr="Office worker male outline">
              <a:extLst>
                <a:ext uri="{FF2B5EF4-FFF2-40B4-BE49-F238E27FC236}">
                  <a16:creationId xmlns:a16="http://schemas.microsoft.com/office/drawing/2014/main" id="{6BB47D64-7C77-5DCA-6361-82B9CC1749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19053" y="1469067"/>
              <a:ext cx="1268818" cy="1268818"/>
            </a:xfrm>
            <a:prstGeom prst="rect">
              <a:avLst/>
            </a:prstGeom>
          </p:spPr>
        </p:pic>
        <p:pic>
          <p:nvPicPr>
            <p:cNvPr id="6" name="Graphic 5" descr="Office worker female outline">
              <a:extLst>
                <a:ext uri="{FF2B5EF4-FFF2-40B4-BE49-F238E27FC236}">
                  <a16:creationId xmlns:a16="http://schemas.microsoft.com/office/drawing/2014/main" id="{B12B76FA-F46B-6FC9-7B26-251400FA20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44332" y="1469067"/>
              <a:ext cx="1259958" cy="1268818"/>
            </a:xfrm>
            <a:prstGeom prst="rect">
              <a:avLst/>
            </a:prstGeom>
          </p:spPr>
        </p:pic>
        <p:pic>
          <p:nvPicPr>
            <p:cNvPr id="11" name="Graphic 10" descr="Office worker male outline">
              <a:extLst>
                <a:ext uri="{FF2B5EF4-FFF2-40B4-BE49-F238E27FC236}">
                  <a16:creationId xmlns:a16="http://schemas.microsoft.com/office/drawing/2014/main" id="{78761440-A436-651E-D5DA-A10D56B645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65655" y="2581665"/>
              <a:ext cx="1268818" cy="1268818"/>
            </a:xfrm>
            <a:prstGeom prst="rect">
              <a:avLst/>
            </a:prstGeom>
          </p:spPr>
        </p:pic>
        <p:pic>
          <p:nvPicPr>
            <p:cNvPr id="14" name="Graphic 13" descr="Office worker male outline">
              <a:extLst>
                <a:ext uri="{FF2B5EF4-FFF2-40B4-BE49-F238E27FC236}">
                  <a16:creationId xmlns:a16="http://schemas.microsoft.com/office/drawing/2014/main" id="{DDB95B2F-AB3C-43AB-3473-07BE59506F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19053" y="2720851"/>
              <a:ext cx="1268818" cy="1268818"/>
            </a:xfrm>
            <a:prstGeom prst="rect">
              <a:avLst/>
            </a:prstGeom>
          </p:spPr>
        </p:pic>
        <p:pic>
          <p:nvPicPr>
            <p:cNvPr id="15" name="Graphic 14" descr="Office worker female outline">
              <a:extLst>
                <a:ext uri="{FF2B5EF4-FFF2-40B4-BE49-F238E27FC236}">
                  <a16:creationId xmlns:a16="http://schemas.microsoft.com/office/drawing/2014/main" id="{3742BD37-8C2A-FDD0-9156-66D2B9265E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44332" y="2720851"/>
              <a:ext cx="1259958" cy="1268818"/>
            </a:xfrm>
            <a:prstGeom prst="rect">
              <a:avLst/>
            </a:prstGeom>
          </p:spPr>
        </p:pic>
        <p:pic>
          <p:nvPicPr>
            <p:cNvPr id="4" name="Graphic 3" descr="Office worker male outline">
              <a:extLst>
                <a:ext uri="{FF2B5EF4-FFF2-40B4-BE49-F238E27FC236}">
                  <a16:creationId xmlns:a16="http://schemas.microsoft.com/office/drawing/2014/main" id="{FA20C8F1-0EB1-3FFE-CEEC-B95C92A011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78903" y="3926412"/>
              <a:ext cx="1339608" cy="1434783"/>
            </a:xfrm>
            <a:prstGeom prst="rect">
              <a:avLst/>
            </a:prstGeom>
          </p:spPr>
        </p:pic>
        <p:pic>
          <p:nvPicPr>
            <p:cNvPr id="9" name="Graphic 8" descr="Office worker female outline">
              <a:extLst>
                <a:ext uri="{FF2B5EF4-FFF2-40B4-BE49-F238E27FC236}">
                  <a16:creationId xmlns:a16="http://schemas.microsoft.com/office/drawing/2014/main" id="{15C41336-80E6-FF74-8B29-956F84EC32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66964" y="3926412"/>
              <a:ext cx="1330254" cy="1434783"/>
            </a:xfrm>
            <a:prstGeom prst="rect">
              <a:avLst/>
            </a:prstGeom>
          </p:spPr>
        </p:pic>
        <p:pic>
          <p:nvPicPr>
            <p:cNvPr id="18" name="Graphic 17" descr="Office worker female outline">
              <a:extLst>
                <a:ext uri="{FF2B5EF4-FFF2-40B4-BE49-F238E27FC236}">
                  <a16:creationId xmlns:a16="http://schemas.microsoft.com/office/drawing/2014/main" id="{40ECF8A8-5DE3-5600-17F4-03A1FB7985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8948" y="3940884"/>
              <a:ext cx="1330254" cy="1434783"/>
            </a:xfrm>
            <a:prstGeom prst="rect">
              <a:avLst/>
            </a:prstGeom>
          </p:spPr>
        </p:pic>
        <p:pic>
          <p:nvPicPr>
            <p:cNvPr id="21" name="Graphic 20" descr="Office worker female outline">
              <a:extLst>
                <a:ext uri="{FF2B5EF4-FFF2-40B4-BE49-F238E27FC236}">
                  <a16:creationId xmlns:a16="http://schemas.microsoft.com/office/drawing/2014/main" id="{06CE9639-CD05-B589-EFB2-4058B5010A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9195" y="1430079"/>
              <a:ext cx="1259958" cy="1268818"/>
            </a:xfrm>
            <a:prstGeom prst="rect">
              <a:avLst/>
            </a:prstGeom>
          </p:spPr>
        </p:pic>
      </p:grpSp>
      <p:pic>
        <p:nvPicPr>
          <p:cNvPr id="24" name="Graphic 23" descr="Document outline">
            <a:extLst>
              <a:ext uri="{FF2B5EF4-FFF2-40B4-BE49-F238E27FC236}">
                <a16:creationId xmlns:a16="http://schemas.microsoft.com/office/drawing/2014/main" id="{906ADED2-1FFC-4E15-9CE7-2D0F548D4C3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01933" y="4461267"/>
            <a:ext cx="914400" cy="914400"/>
          </a:xfrm>
          <a:prstGeom prst="rect">
            <a:avLst/>
          </a:prstGeom>
        </p:spPr>
      </p:pic>
      <p:pic>
        <p:nvPicPr>
          <p:cNvPr id="25" name="Graphic 24" descr="Document outline">
            <a:extLst>
              <a:ext uri="{FF2B5EF4-FFF2-40B4-BE49-F238E27FC236}">
                <a16:creationId xmlns:a16="http://schemas.microsoft.com/office/drawing/2014/main" id="{4BDACF8C-5BC4-344D-19FF-577429E7992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94528" y="4461267"/>
            <a:ext cx="914400" cy="914400"/>
          </a:xfrm>
          <a:prstGeom prst="rect">
            <a:avLst/>
          </a:prstGeom>
        </p:spPr>
      </p:pic>
      <p:pic>
        <p:nvPicPr>
          <p:cNvPr id="26" name="Graphic 25" descr="Document outline">
            <a:extLst>
              <a:ext uri="{FF2B5EF4-FFF2-40B4-BE49-F238E27FC236}">
                <a16:creationId xmlns:a16="http://schemas.microsoft.com/office/drawing/2014/main" id="{0BFCFB9E-22F9-B7ED-E64E-737D9D9C36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87123" y="4461267"/>
            <a:ext cx="914400" cy="914400"/>
          </a:xfrm>
          <a:prstGeom prst="rect">
            <a:avLst/>
          </a:prstGeom>
        </p:spPr>
      </p:pic>
      <p:grpSp>
        <p:nvGrpSpPr>
          <p:cNvPr id="67" name="Group 66">
            <a:extLst>
              <a:ext uri="{FF2B5EF4-FFF2-40B4-BE49-F238E27FC236}">
                <a16:creationId xmlns:a16="http://schemas.microsoft.com/office/drawing/2014/main" id="{82AF67A5-9DAB-5E9A-22EE-2908AE5B9F1B}"/>
              </a:ext>
            </a:extLst>
          </p:cNvPr>
          <p:cNvGrpSpPr/>
          <p:nvPr/>
        </p:nvGrpSpPr>
        <p:grpSpPr>
          <a:xfrm>
            <a:off x="9079718" y="4461267"/>
            <a:ext cx="3030766" cy="914400"/>
            <a:chOff x="9079718" y="4461267"/>
            <a:chExt cx="3030766" cy="914400"/>
          </a:xfrm>
        </p:grpSpPr>
        <p:pic>
          <p:nvPicPr>
            <p:cNvPr id="27" name="Graphic 26" descr="Document outline">
              <a:extLst>
                <a:ext uri="{FF2B5EF4-FFF2-40B4-BE49-F238E27FC236}">
                  <a16:creationId xmlns:a16="http://schemas.microsoft.com/office/drawing/2014/main" id="{0D4B2826-F4B4-E330-4793-52AEFE2AAD9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79718" y="4461267"/>
              <a:ext cx="914400" cy="914400"/>
            </a:xfrm>
            <a:prstGeom prst="rect">
              <a:avLst/>
            </a:prstGeom>
          </p:spPr>
        </p:pic>
        <p:pic>
          <p:nvPicPr>
            <p:cNvPr id="28" name="Graphic 27" descr="Document outline">
              <a:extLst>
                <a:ext uri="{FF2B5EF4-FFF2-40B4-BE49-F238E27FC236}">
                  <a16:creationId xmlns:a16="http://schemas.microsoft.com/office/drawing/2014/main" id="{76A20B07-5204-24AE-0FA7-3983B8A8376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72313" y="4461267"/>
              <a:ext cx="914400" cy="914400"/>
            </a:xfrm>
            <a:prstGeom prst="rect">
              <a:avLst/>
            </a:prstGeom>
          </p:spPr>
        </p:pic>
        <p:pic>
          <p:nvPicPr>
            <p:cNvPr id="29" name="Graphic 28" descr="Document outline">
              <a:extLst>
                <a:ext uri="{FF2B5EF4-FFF2-40B4-BE49-F238E27FC236}">
                  <a16:creationId xmlns:a16="http://schemas.microsoft.com/office/drawing/2014/main" id="{421ECE71-A04E-BC60-2171-62714D1387D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64908" y="4461267"/>
              <a:ext cx="914400" cy="914400"/>
            </a:xfrm>
            <a:prstGeom prst="rect">
              <a:avLst/>
            </a:prstGeom>
          </p:spPr>
        </p:pic>
        <p:pic>
          <p:nvPicPr>
            <p:cNvPr id="30" name="Graphic 29" descr="Document outline">
              <a:extLst>
                <a:ext uri="{FF2B5EF4-FFF2-40B4-BE49-F238E27FC236}">
                  <a16:creationId xmlns:a16="http://schemas.microsoft.com/office/drawing/2014/main" id="{53F9C62F-587F-C94F-1CFE-2A01E1A81CF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96084" y="4461267"/>
              <a:ext cx="914400" cy="914400"/>
            </a:xfrm>
            <a:prstGeom prst="rect">
              <a:avLst/>
            </a:prstGeom>
          </p:spPr>
        </p:pic>
      </p:grpSp>
      <p:pic>
        <p:nvPicPr>
          <p:cNvPr id="31" name="Graphic 30" descr="Document outline">
            <a:extLst>
              <a:ext uri="{FF2B5EF4-FFF2-40B4-BE49-F238E27FC236}">
                <a16:creationId xmlns:a16="http://schemas.microsoft.com/office/drawing/2014/main" id="{8F715F83-E525-9BA7-5D1D-337F15CCBA5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09338" y="4452800"/>
            <a:ext cx="914400" cy="914400"/>
          </a:xfrm>
          <a:prstGeom prst="rect">
            <a:avLst/>
          </a:prstGeom>
        </p:spPr>
      </p:pic>
      <p:grpSp>
        <p:nvGrpSpPr>
          <p:cNvPr id="33" name="Group 32">
            <a:extLst>
              <a:ext uri="{FF2B5EF4-FFF2-40B4-BE49-F238E27FC236}">
                <a16:creationId xmlns:a16="http://schemas.microsoft.com/office/drawing/2014/main" id="{082109DF-27D5-9C61-F988-CAC26D0185B6}"/>
              </a:ext>
            </a:extLst>
          </p:cNvPr>
          <p:cNvGrpSpPr/>
          <p:nvPr/>
        </p:nvGrpSpPr>
        <p:grpSpPr>
          <a:xfrm>
            <a:off x="6309338" y="2581665"/>
            <a:ext cx="5801146" cy="922867"/>
            <a:chOff x="6156938" y="1534891"/>
            <a:chExt cx="5801146" cy="922867"/>
          </a:xfrm>
        </p:grpSpPr>
        <p:pic>
          <p:nvPicPr>
            <p:cNvPr id="34" name="Graphic 33" descr="Document outline">
              <a:extLst>
                <a:ext uri="{FF2B5EF4-FFF2-40B4-BE49-F238E27FC236}">
                  <a16:creationId xmlns:a16="http://schemas.microsoft.com/office/drawing/2014/main" id="{D62A2FF2-8B6D-72E8-FBEB-E610197F54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9533" y="1543358"/>
              <a:ext cx="914400" cy="914400"/>
            </a:xfrm>
            <a:prstGeom prst="rect">
              <a:avLst/>
            </a:prstGeom>
          </p:spPr>
        </p:pic>
        <p:pic>
          <p:nvPicPr>
            <p:cNvPr id="35" name="Graphic 34" descr="Document outline">
              <a:extLst>
                <a:ext uri="{FF2B5EF4-FFF2-40B4-BE49-F238E27FC236}">
                  <a16:creationId xmlns:a16="http://schemas.microsoft.com/office/drawing/2014/main" id="{40D5743C-9515-A422-5263-A6F1DF35DE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42128" y="1543358"/>
              <a:ext cx="914400" cy="914400"/>
            </a:xfrm>
            <a:prstGeom prst="rect">
              <a:avLst/>
            </a:prstGeom>
          </p:spPr>
        </p:pic>
        <p:pic>
          <p:nvPicPr>
            <p:cNvPr id="36" name="Graphic 35" descr="Document outline">
              <a:extLst>
                <a:ext uri="{FF2B5EF4-FFF2-40B4-BE49-F238E27FC236}">
                  <a16:creationId xmlns:a16="http://schemas.microsoft.com/office/drawing/2014/main" id="{B4A0DE1C-CB85-322E-1C9B-E5B145CDDEC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34723" y="1543358"/>
              <a:ext cx="914400" cy="914400"/>
            </a:xfrm>
            <a:prstGeom prst="rect">
              <a:avLst/>
            </a:prstGeom>
          </p:spPr>
        </p:pic>
        <p:pic>
          <p:nvPicPr>
            <p:cNvPr id="37" name="Graphic 36" descr="Document outline">
              <a:extLst>
                <a:ext uri="{FF2B5EF4-FFF2-40B4-BE49-F238E27FC236}">
                  <a16:creationId xmlns:a16="http://schemas.microsoft.com/office/drawing/2014/main" id="{6024425C-00E5-A2B2-7ED7-6BA074D3D2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27318" y="1543358"/>
              <a:ext cx="914400" cy="914400"/>
            </a:xfrm>
            <a:prstGeom prst="rect">
              <a:avLst/>
            </a:prstGeom>
          </p:spPr>
        </p:pic>
        <p:pic>
          <p:nvPicPr>
            <p:cNvPr id="38" name="Graphic 37" descr="Document outline">
              <a:extLst>
                <a:ext uri="{FF2B5EF4-FFF2-40B4-BE49-F238E27FC236}">
                  <a16:creationId xmlns:a16="http://schemas.microsoft.com/office/drawing/2014/main" id="{9524B270-7751-8857-6197-CDC5DBFD4D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19913" y="1543358"/>
              <a:ext cx="914400" cy="914400"/>
            </a:xfrm>
            <a:prstGeom prst="rect">
              <a:avLst/>
            </a:prstGeom>
          </p:spPr>
        </p:pic>
        <p:pic>
          <p:nvPicPr>
            <p:cNvPr id="39" name="Graphic 38" descr="Document outline">
              <a:extLst>
                <a:ext uri="{FF2B5EF4-FFF2-40B4-BE49-F238E27FC236}">
                  <a16:creationId xmlns:a16="http://schemas.microsoft.com/office/drawing/2014/main" id="{CA64E09C-6E16-5E26-0FE0-14A53A4C499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12508" y="1543358"/>
              <a:ext cx="914400" cy="914400"/>
            </a:xfrm>
            <a:prstGeom prst="rect">
              <a:avLst/>
            </a:prstGeom>
          </p:spPr>
        </p:pic>
        <p:pic>
          <p:nvPicPr>
            <p:cNvPr id="40" name="Graphic 39" descr="Document outline">
              <a:extLst>
                <a:ext uri="{FF2B5EF4-FFF2-40B4-BE49-F238E27FC236}">
                  <a16:creationId xmlns:a16="http://schemas.microsoft.com/office/drawing/2014/main" id="{6985D6BD-6ED2-6A40-90C2-502A61941C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43684" y="1543358"/>
              <a:ext cx="914400" cy="914400"/>
            </a:xfrm>
            <a:prstGeom prst="rect">
              <a:avLst/>
            </a:prstGeom>
          </p:spPr>
        </p:pic>
        <p:pic>
          <p:nvPicPr>
            <p:cNvPr id="41" name="Graphic 40" descr="Document outline">
              <a:extLst>
                <a:ext uri="{FF2B5EF4-FFF2-40B4-BE49-F238E27FC236}">
                  <a16:creationId xmlns:a16="http://schemas.microsoft.com/office/drawing/2014/main" id="{C640FFA0-707D-6F1E-F0DA-02B8AA7B900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56938" y="1534891"/>
              <a:ext cx="914400" cy="914400"/>
            </a:xfrm>
            <a:prstGeom prst="rect">
              <a:avLst/>
            </a:prstGeom>
          </p:spPr>
        </p:pic>
      </p:grpSp>
      <p:grpSp>
        <p:nvGrpSpPr>
          <p:cNvPr id="42" name="Group 41">
            <a:extLst>
              <a:ext uri="{FF2B5EF4-FFF2-40B4-BE49-F238E27FC236}">
                <a16:creationId xmlns:a16="http://schemas.microsoft.com/office/drawing/2014/main" id="{F018FA1F-53E7-114B-A4BA-5686E7D26347}"/>
              </a:ext>
            </a:extLst>
          </p:cNvPr>
          <p:cNvGrpSpPr/>
          <p:nvPr/>
        </p:nvGrpSpPr>
        <p:grpSpPr>
          <a:xfrm>
            <a:off x="6309338" y="3512999"/>
            <a:ext cx="5801146" cy="922867"/>
            <a:chOff x="6156938" y="1534891"/>
            <a:chExt cx="5801146" cy="922867"/>
          </a:xfrm>
        </p:grpSpPr>
        <p:pic>
          <p:nvPicPr>
            <p:cNvPr id="43" name="Graphic 42" descr="Document outline">
              <a:extLst>
                <a:ext uri="{FF2B5EF4-FFF2-40B4-BE49-F238E27FC236}">
                  <a16:creationId xmlns:a16="http://schemas.microsoft.com/office/drawing/2014/main" id="{850FF607-285A-648C-AC1C-17519AEB460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9533" y="1543358"/>
              <a:ext cx="914400" cy="914400"/>
            </a:xfrm>
            <a:prstGeom prst="rect">
              <a:avLst/>
            </a:prstGeom>
          </p:spPr>
        </p:pic>
        <p:pic>
          <p:nvPicPr>
            <p:cNvPr id="44" name="Graphic 43" descr="Document outline">
              <a:extLst>
                <a:ext uri="{FF2B5EF4-FFF2-40B4-BE49-F238E27FC236}">
                  <a16:creationId xmlns:a16="http://schemas.microsoft.com/office/drawing/2014/main" id="{A3133B75-3392-09F6-16CC-86BDC6F4297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42128" y="1543358"/>
              <a:ext cx="914400" cy="914400"/>
            </a:xfrm>
            <a:prstGeom prst="rect">
              <a:avLst/>
            </a:prstGeom>
          </p:spPr>
        </p:pic>
        <p:pic>
          <p:nvPicPr>
            <p:cNvPr id="45" name="Graphic 44" descr="Document outline">
              <a:extLst>
                <a:ext uri="{FF2B5EF4-FFF2-40B4-BE49-F238E27FC236}">
                  <a16:creationId xmlns:a16="http://schemas.microsoft.com/office/drawing/2014/main" id="{36C46CBC-0169-1C7D-6EB5-B365105E441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34723" y="1543358"/>
              <a:ext cx="914400" cy="914400"/>
            </a:xfrm>
            <a:prstGeom prst="rect">
              <a:avLst/>
            </a:prstGeom>
          </p:spPr>
        </p:pic>
        <p:pic>
          <p:nvPicPr>
            <p:cNvPr id="46" name="Graphic 45" descr="Document outline">
              <a:extLst>
                <a:ext uri="{FF2B5EF4-FFF2-40B4-BE49-F238E27FC236}">
                  <a16:creationId xmlns:a16="http://schemas.microsoft.com/office/drawing/2014/main" id="{D394DF3F-A34F-7D2F-C578-308BECBD5F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27318" y="1543358"/>
              <a:ext cx="914400" cy="914400"/>
            </a:xfrm>
            <a:prstGeom prst="rect">
              <a:avLst/>
            </a:prstGeom>
          </p:spPr>
        </p:pic>
        <p:pic>
          <p:nvPicPr>
            <p:cNvPr id="47" name="Graphic 46" descr="Document outline">
              <a:extLst>
                <a:ext uri="{FF2B5EF4-FFF2-40B4-BE49-F238E27FC236}">
                  <a16:creationId xmlns:a16="http://schemas.microsoft.com/office/drawing/2014/main" id="{C2840DD4-0359-66F2-C191-397C1C4E256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19913" y="1543358"/>
              <a:ext cx="914400" cy="914400"/>
            </a:xfrm>
            <a:prstGeom prst="rect">
              <a:avLst/>
            </a:prstGeom>
          </p:spPr>
        </p:pic>
        <p:pic>
          <p:nvPicPr>
            <p:cNvPr id="48" name="Graphic 47" descr="Document outline">
              <a:extLst>
                <a:ext uri="{FF2B5EF4-FFF2-40B4-BE49-F238E27FC236}">
                  <a16:creationId xmlns:a16="http://schemas.microsoft.com/office/drawing/2014/main" id="{74B230F6-B5BB-0AAB-7069-222A08C5D6A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12508" y="1543358"/>
              <a:ext cx="914400" cy="914400"/>
            </a:xfrm>
            <a:prstGeom prst="rect">
              <a:avLst/>
            </a:prstGeom>
          </p:spPr>
        </p:pic>
        <p:pic>
          <p:nvPicPr>
            <p:cNvPr id="49" name="Graphic 48" descr="Document outline">
              <a:extLst>
                <a:ext uri="{FF2B5EF4-FFF2-40B4-BE49-F238E27FC236}">
                  <a16:creationId xmlns:a16="http://schemas.microsoft.com/office/drawing/2014/main" id="{DE54F455-2CA5-9562-2A1F-1D46A8B2E61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43684" y="1543358"/>
              <a:ext cx="914400" cy="914400"/>
            </a:xfrm>
            <a:prstGeom prst="rect">
              <a:avLst/>
            </a:prstGeom>
          </p:spPr>
        </p:pic>
        <p:pic>
          <p:nvPicPr>
            <p:cNvPr id="50" name="Graphic 49" descr="Document outline">
              <a:extLst>
                <a:ext uri="{FF2B5EF4-FFF2-40B4-BE49-F238E27FC236}">
                  <a16:creationId xmlns:a16="http://schemas.microsoft.com/office/drawing/2014/main" id="{AFD8E3F2-BB2F-1D14-AD00-EF6A341C0AE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56938" y="1534891"/>
              <a:ext cx="914400" cy="914400"/>
            </a:xfrm>
            <a:prstGeom prst="rect">
              <a:avLst/>
            </a:prstGeom>
          </p:spPr>
        </p:pic>
      </p:grpSp>
      <p:grpSp>
        <p:nvGrpSpPr>
          <p:cNvPr id="51" name="Group 50">
            <a:extLst>
              <a:ext uri="{FF2B5EF4-FFF2-40B4-BE49-F238E27FC236}">
                <a16:creationId xmlns:a16="http://schemas.microsoft.com/office/drawing/2014/main" id="{0DEA529C-1964-7731-73D2-9F24D5ABEB34}"/>
              </a:ext>
            </a:extLst>
          </p:cNvPr>
          <p:cNvGrpSpPr/>
          <p:nvPr/>
        </p:nvGrpSpPr>
        <p:grpSpPr>
          <a:xfrm>
            <a:off x="6309338" y="1687291"/>
            <a:ext cx="5801146" cy="922867"/>
            <a:chOff x="6156938" y="1534891"/>
            <a:chExt cx="5801146" cy="922867"/>
          </a:xfrm>
        </p:grpSpPr>
        <p:pic>
          <p:nvPicPr>
            <p:cNvPr id="52" name="Graphic 51" descr="Document outline">
              <a:extLst>
                <a:ext uri="{FF2B5EF4-FFF2-40B4-BE49-F238E27FC236}">
                  <a16:creationId xmlns:a16="http://schemas.microsoft.com/office/drawing/2014/main" id="{999708A5-D03E-1CD5-FA0A-4D108C06169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49533" y="1543358"/>
              <a:ext cx="914400" cy="914400"/>
            </a:xfrm>
            <a:prstGeom prst="rect">
              <a:avLst/>
            </a:prstGeom>
          </p:spPr>
        </p:pic>
        <p:pic>
          <p:nvPicPr>
            <p:cNvPr id="53" name="Graphic 52" descr="Document outline">
              <a:extLst>
                <a:ext uri="{FF2B5EF4-FFF2-40B4-BE49-F238E27FC236}">
                  <a16:creationId xmlns:a16="http://schemas.microsoft.com/office/drawing/2014/main" id="{0D9652D7-551A-47A9-C760-5429038452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42128" y="1543358"/>
              <a:ext cx="914400" cy="914400"/>
            </a:xfrm>
            <a:prstGeom prst="rect">
              <a:avLst/>
            </a:prstGeom>
          </p:spPr>
        </p:pic>
        <p:pic>
          <p:nvPicPr>
            <p:cNvPr id="54" name="Graphic 53" descr="Document outline">
              <a:extLst>
                <a:ext uri="{FF2B5EF4-FFF2-40B4-BE49-F238E27FC236}">
                  <a16:creationId xmlns:a16="http://schemas.microsoft.com/office/drawing/2014/main" id="{920CD12C-9B06-7992-9844-BE108BA9CFB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34723" y="1543358"/>
              <a:ext cx="914400" cy="914400"/>
            </a:xfrm>
            <a:prstGeom prst="rect">
              <a:avLst/>
            </a:prstGeom>
          </p:spPr>
        </p:pic>
        <p:pic>
          <p:nvPicPr>
            <p:cNvPr id="55" name="Graphic 54" descr="Document outline">
              <a:extLst>
                <a:ext uri="{FF2B5EF4-FFF2-40B4-BE49-F238E27FC236}">
                  <a16:creationId xmlns:a16="http://schemas.microsoft.com/office/drawing/2014/main" id="{966683FA-9D1A-9C4D-55E0-7ECF8EE9B74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27318" y="1543358"/>
              <a:ext cx="914400" cy="914400"/>
            </a:xfrm>
            <a:prstGeom prst="rect">
              <a:avLst/>
            </a:prstGeom>
          </p:spPr>
        </p:pic>
        <p:pic>
          <p:nvPicPr>
            <p:cNvPr id="56" name="Graphic 55" descr="Document outline">
              <a:extLst>
                <a:ext uri="{FF2B5EF4-FFF2-40B4-BE49-F238E27FC236}">
                  <a16:creationId xmlns:a16="http://schemas.microsoft.com/office/drawing/2014/main" id="{C0D4E772-2EB3-4BD4-94A8-DA40BC792A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19913" y="1543358"/>
              <a:ext cx="914400" cy="914400"/>
            </a:xfrm>
            <a:prstGeom prst="rect">
              <a:avLst/>
            </a:prstGeom>
          </p:spPr>
        </p:pic>
        <p:pic>
          <p:nvPicPr>
            <p:cNvPr id="57" name="Graphic 56" descr="Document outline">
              <a:extLst>
                <a:ext uri="{FF2B5EF4-FFF2-40B4-BE49-F238E27FC236}">
                  <a16:creationId xmlns:a16="http://schemas.microsoft.com/office/drawing/2014/main" id="{B35184B6-AA35-595F-35FA-5FA941C3D30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12508" y="1543358"/>
              <a:ext cx="914400" cy="914400"/>
            </a:xfrm>
            <a:prstGeom prst="rect">
              <a:avLst/>
            </a:prstGeom>
          </p:spPr>
        </p:pic>
        <p:pic>
          <p:nvPicPr>
            <p:cNvPr id="58" name="Graphic 57" descr="Document outline">
              <a:extLst>
                <a:ext uri="{FF2B5EF4-FFF2-40B4-BE49-F238E27FC236}">
                  <a16:creationId xmlns:a16="http://schemas.microsoft.com/office/drawing/2014/main" id="{E838C014-4970-1C33-7926-DB1390AAA2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43684" y="1543358"/>
              <a:ext cx="914400" cy="914400"/>
            </a:xfrm>
            <a:prstGeom prst="rect">
              <a:avLst/>
            </a:prstGeom>
          </p:spPr>
        </p:pic>
        <p:pic>
          <p:nvPicPr>
            <p:cNvPr id="59" name="Graphic 58" descr="Document outline">
              <a:extLst>
                <a:ext uri="{FF2B5EF4-FFF2-40B4-BE49-F238E27FC236}">
                  <a16:creationId xmlns:a16="http://schemas.microsoft.com/office/drawing/2014/main" id="{4CD3953E-8CF1-0AF4-9C03-04A5EE98D74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56938" y="1534891"/>
              <a:ext cx="914400" cy="914400"/>
            </a:xfrm>
            <a:prstGeom prst="rect">
              <a:avLst/>
            </a:prstGeom>
          </p:spPr>
        </p:pic>
      </p:grpSp>
      <p:sp>
        <p:nvSpPr>
          <p:cNvPr id="32" name="TextBox 31">
            <a:extLst>
              <a:ext uri="{FF2B5EF4-FFF2-40B4-BE49-F238E27FC236}">
                <a16:creationId xmlns:a16="http://schemas.microsoft.com/office/drawing/2014/main" id="{B83CEC2B-757A-6B28-A88C-F9013479326C}"/>
              </a:ext>
            </a:extLst>
          </p:cNvPr>
          <p:cNvSpPr txBox="1"/>
          <p:nvPr/>
        </p:nvSpPr>
        <p:spPr>
          <a:xfrm>
            <a:off x="1199535" y="5555226"/>
            <a:ext cx="934065" cy="523220"/>
          </a:xfrm>
          <a:prstGeom prst="rect">
            <a:avLst/>
          </a:prstGeom>
          <a:noFill/>
        </p:spPr>
        <p:txBody>
          <a:bodyPr wrap="square" rtlCol="0">
            <a:spAutoFit/>
          </a:bodyPr>
          <a:lstStyle/>
          <a:p>
            <a:r>
              <a:rPr lang="en-US" sz="2800"/>
              <a:t>700</a:t>
            </a:r>
            <a:r>
              <a:rPr lang="en-US"/>
              <a:t>+</a:t>
            </a:r>
          </a:p>
        </p:txBody>
      </p:sp>
      <p:sp>
        <p:nvSpPr>
          <p:cNvPr id="60" name="TextBox 59">
            <a:extLst>
              <a:ext uri="{FF2B5EF4-FFF2-40B4-BE49-F238E27FC236}">
                <a16:creationId xmlns:a16="http://schemas.microsoft.com/office/drawing/2014/main" id="{BBE084AC-2930-08FD-A726-110898BC2049}"/>
              </a:ext>
            </a:extLst>
          </p:cNvPr>
          <p:cNvSpPr txBox="1"/>
          <p:nvPr/>
        </p:nvSpPr>
        <p:spPr>
          <a:xfrm>
            <a:off x="8445538" y="5522960"/>
            <a:ext cx="1052424" cy="523220"/>
          </a:xfrm>
          <a:prstGeom prst="rect">
            <a:avLst/>
          </a:prstGeom>
          <a:noFill/>
        </p:spPr>
        <p:txBody>
          <a:bodyPr wrap="square" rtlCol="0">
            <a:spAutoFit/>
          </a:bodyPr>
          <a:lstStyle/>
          <a:p>
            <a:r>
              <a:rPr lang="en-US" sz="2800"/>
              <a:t>1000</a:t>
            </a:r>
            <a:r>
              <a:rPr lang="en-US"/>
              <a:t>+</a:t>
            </a:r>
          </a:p>
        </p:txBody>
      </p:sp>
      <p:sp>
        <p:nvSpPr>
          <p:cNvPr id="61" name="TextBox 60">
            <a:extLst>
              <a:ext uri="{FF2B5EF4-FFF2-40B4-BE49-F238E27FC236}">
                <a16:creationId xmlns:a16="http://schemas.microsoft.com/office/drawing/2014/main" id="{C203DC4C-E2EC-1157-212B-9BBD80C34C05}"/>
              </a:ext>
            </a:extLst>
          </p:cNvPr>
          <p:cNvSpPr txBox="1"/>
          <p:nvPr/>
        </p:nvSpPr>
        <p:spPr>
          <a:xfrm>
            <a:off x="1328948" y="5555226"/>
            <a:ext cx="580103" cy="523220"/>
          </a:xfrm>
          <a:prstGeom prst="rect">
            <a:avLst/>
          </a:prstGeom>
          <a:noFill/>
        </p:spPr>
        <p:txBody>
          <a:bodyPr wrap="square" rtlCol="0">
            <a:spAutoFit/>
          </a:bodyPr>
          <a:lstStyle/>
          <a:p>
            <a:r>
              <a:rPr lang="en-US" sz="2800"/>
              <a:t>83</a:t>
            </a:r>
          </a:p>
        </p:txBody>
      </p:sp>
      <p:sp>
        <p:nvSpPr>
          <p:cNvPr id="62" name="TextBox 61">
            <a:extLst>
              <a:ext uri="{FF2B5EF4-FFF2-40B4-BE49-F238E27FC236}">
                <a16:creationId xmlns:a16="http://schemas.microsoft.com/office/drawing/2014/main" id="{1E07FF2B-33ED-C1EA-937C-5E01EE29C098}"/>
              </a:ext>
            </a:extLst>
          </p:cNvPr>
          <p:cNvSpPr txBox="1"/>
          <p:nvPr/>
        </p:nvSpPr>
        <p:spPr>
          <a:xfrm>
            <a:off x="8508594" y="5522960"/>
            <a:ext cx="855407" cy="523220"/>
          </a:xfrm>
          <a:prstGeom prst="rect">
            <a:avLst/>
          </a:prstGeom>
          <a:noFill/>
        </p:spPr>
        <p:txBody>
          <a:bodyPr wrap="square" rtlCol="0">
            <a:spAutoFit/>
          </a:bodyPr>
          <a:lstStyle/>
          <a:p>
            <a:r>
              <a:rPr lang="en-US" sz="2800"/>
              <a:t>904</a:t>
            </a:r>
          </a:p>
        </p:txBody>
      </p:sp>
      <p:sp>
        <p:nvSpPr>
          <p:cNvPr id="7" name="Slide Number Placeholder 6">
            <a:extLst>
              <a:ext uri="{FF2B5EF4-FFF2-40B4-BE49-F238E27FC236}">
                <a16:creationId xmlns:a16="http://schemas.microsoft.com/office/drawing/2014/main" id="{0EAD7BDA-7305-D1B3-7CA2-A93DE886D48C}"/>
              </a:ext>
            </a:extLst>
          </p:cNvPr>
          <p:cNvSpPr>
            <a:spLocks noGrp="1"/>
          </p:cNvSpPr>
          <p:nvPr>
            <p:ph type="sldNum" sz="quarter" idx="15"/>
          </p:nvPr>
        </p:nvSpPr>
        <p:spPr/>
        <p:txBody>
          <a:bodyPr/>
          <a:lstStyle/>
          <a:p>
            <a:fld id="{CC057153-B650-4DEB-B370-79DDCFDCE934}" type="slidenum">
              <a:rPr lang="en-US" smtClean="0"/>
              <a:t>27</a:t>
            </a:fld>
            <a:endParaRPr lang="en-US"/>
          </a:p>
        </p:txBody>
      </p:sp>
    </p:spTree>
    <p:extLst>
      <p:ext uri="{BB962C8B-B14F-4D97-AF65-F5344CB8AC3E}">
        <p14:creationId xmlns:p14="http://schemas.microsoft.com/office/powerpoint/2010/main" val="1954579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3"/>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7"/>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60" grpId="0"/>
      <p:bldP spid="61" grpId="0"/>
      <p:bldP spid="62"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Printable Blank Us State Map">
            <a:extLst>
              <a:ext uri="{FF2B5EF4-FFF2-40B4-BE49-F238E27FC236}">
                <a16:creationId xmlns:a16="http://schemas.microsoft.com/office/drawing/2014/main" id="{52D3997A-3CE7-7E7E-5486-0F6426D6667C}"/>
              </a:ext>
            </a:extLst>
          </p:cNvPr>
          <p:cNvPicPr>
            <a:picLocks noChangeAspect="1"/>
          </p:cNvPicPr>
          <p:nvPr/>
        </p:nvPicPr>
        <p:blipFill>
          <a:blip r:embed="rId3">
            <a:alphaModFix amt="50000"/>
          </a:blip>
          <a:srcRect l="55040" t="8147" r="803" b="3429"/>
          <a:stretch>
            <a:fillRect/>
          </a:stretch>
        </p:blipFill>
        <p:spPr>
          <a:xfrm>
            <a:off x="5919184" y="0"/>
            <a:ext cx="5142424" cy="6694637"/>
          </a:xfrm>
          <a:prstGeom prst="rect">
            <a:avLst/>
          </a:prstGeom>
        </p:spPr>
      </p:pic>
      <p:sp>
        <p:nvSpPr>
          <p:cNvPr id="3" name="Oval 2">
            <a:extLst>
              <a:ext uri="{FF2B5EF4-FFF2-40B4-BE49-F238E27FC236}">
                <a16:creationId xmlns:a16="http://schemas.microsoft.com/office/drawing/2014/main" id="{684C4274-7A66-B623-5726-352169DABF10}"/>
              </a:ext>
            </a:extLst>
          </p:cNvPr>
          <p:cNvSpPr/>
          <p:nvPr/>
        </p:nvSpPr>
        <p:spPr>
          <a:xfrm>
            <a:off x="9418743" y="2594943"/>
            <a:ext cx="501872" cy="482768"/>
          </a:xfrm>
          <a:prstGeom prst="ellipse">
            <a:avLst/>
          </a:prstGeom>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2098E815-6E47-6B2D-6034-38CCBC91EA42}"/>
              </a:ext>
            </a:extLst>
          </p:cNvPr>
          <p:cNvSpPr/>
          <p:nvPr/>
        </p:nvSpPr>
        <p:spPr>
          <a:xfrm>
            <a:off x="7090560" y="3655782"/>
            <a:ext cx="900938" cy="664542"/>
          </a:xfrm>
          <a:prstGeom prst="ellipse">
            <a:avLst/>
          </a:prstGeom>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6B07F6F-9218-2046-2AB9-46FAEBDCED9E}"/>
              </a:ext>
            </a:extLst>
          </p:cNvPr>
          <p:cNvSpPr/>
          <p:nvPr/>
        </p:nvSpPr>
        <p:spPr>
          <a:xfrm>
            <a:off x="6308401" y="4725684"/>
            <a:ext cx="559131" cy="540741"/>
          </a:xfrm>
          <a:prstGeom prst="ellipse">
            <a:avLst/>
          </a:prstGeom>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5842527-E79B-18D8-83A8-4498BE3659F7}"/>
              </a:ext>
            </a:extLst>
          </p:cNvPr>
          <p:cNvSpPr/>
          <p:nvPr/>
        </p:nvSpPr>
        <p:spPr>
          <a:xfrm>
            <a:off x="9867127" y="1711915"/>
            <a:ext cx="501872" cy="490571"/>
          </a:xfrm>
          <a:prstGeom prst="ellipse">
            <a:avLst/>
          </a:prstGeom>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F0864DA-0403-439C-6A8A-551E6F7B48AC}"/>
              </a:ext>
            </a:extLst>
          </p:cNvPr>
          <p:cNvSpPr/>
          <p:nvPr/>
        </p:nvSpPr>
        <p:spPr>
          <a:xfrm>
            <a:off x="8621806" y="3940373"/>
            <a:ext cx="615074" cy="565265"/>
          </a:xfrm>
          <a:prstGeom prst="ellipse">
            <a:avLst/>
          </a:prstGeom>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Office worker male outline">
            <a:extLst>
              <a:ext uri="{FF2B5EF4-FFF2-40B4-BE49-F238E27FC236}">
                <a16:creationId xmlns:a16="http://schemas.microsoft.com/office/drawing/2014/main" id="{CA3070C8-7725-F0DD-C81E-186F6870CB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87635" y="2652623"/>
            <a:ext cx="482767" cy="482767"/>
          </a:xfrm>
          <a:prstGeom prst="rect">
            <a:avLst/>
          </a:prstGeom>
        </p:spPr>
      </p:pic>
      <p:pic>
        <p:nvPicPr>
          <p:cNvPr id="12" name="Graphic 11" descr="Office worker female outline">
            <a:extLst>
              <a:ext uri="{FF2B5EF4-FFF2-40B4-BE49-F238E27FC236}">
                <a16:creationId xmlns:a16="http://schemas.microsoft.com/office/drawing/2014/main" id="{6228A644-3E65-B6CF-4A00-E49418842D9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19184" y="3940373"/>
            <a:ext cx="549191" cy="549191"/>
          </a:xfrm>
          <a:prstGeom prst="rect">
            <a:avLst/>
          </a:prstGeom>
        </p:spPr>
      </p:pic>
      <p:pic>
        <p:nvPicPr>
          <p:cNvPr id="13" name="Graphic 12" descr="Office worker male outline">
            <a:extLst>
              <a:ext uri="{FF2B5EF4-FFF2-40B4-BE49-F238E27FC236}">
                <a16:creationId xmlns:a16="http://schemas.microsoft.com/office/drawing/2014/main" id="{EF47916F-C29B-D9BE-4089-059D2DF483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54113" y="2009626"/>
            <a:ext cx="482767" cy="482767"/>
          </a:xfrm>
          <a:prstGeom prst="rect">
            <a:avLst/>
          </a:prstGeom>
        </p:spPr>
      </p:pic>
      <p:pic>
        <p:nvPicPr>
          <p:cNvPr id="14" name="Graphic 13" descr="Office worker female outline">
            <a:extLst>
              <a:ext uri="{FF2B5EF4-FFF2-40B4-BE49-F238E27FC236}">
                <a16:creationId xmlns:a16="http://schemas.microsoft.com/office/drawing/2014/main" id="{8E135AA4-BEAE-E20D-A3F3-9D931E1B5C3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71161" y="3429000"/>
            <a:ext cx="482768" cy="482768"/>
          </a:xfrm>
          <a:prstGeom prst="rect">
            <a:avLst/>
          </a:prstGeom>
        </p:spPr>
      </p:pic>
      <p:sp>
        <p:nvSpPr>
          <p:cNvPr id="9" name="Title 1">
            <a:extLst>
              <a:ext uri="{FF2B5EF4-FFF2-40B4-BE49-F238E27FC236}">
                <a16:creationId xmlns:a16="http://schemas.microsoft.com/office/drawing/2014/main" id="{FEDAAE40-3CE5-81AF-5D94-7C1B77AD4155}"/>
              </a:ext>
            </a:extLst>
          </p:cNvPr>
          <p:cNvSpPr txBox="1">
            <a:spLocks/>
          </p:cNvSpPr>
          <p:nvPr/>
        </p:nvSpPr>
        <p:spPr>
          <a:xfrm>
            <a:off x="733096" y="354615"/>
            <a:ext cx="10515600" cy="7184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a:latin typeface="Arial" panose="020B0604020202020204" pitchFamily="34" charset="0"/>
                <a:cs typeface="Arial" panose="020B0604020202020204" pitchFamily="34" charset="0"/>
              </a:rPr>
              <a:t>EDA</a:t>
            </a:r>
          </a:p>
        </p:txBody>
      </p:sp>
      <p:sp>
        <p:nvSpPr>
          <p:cNvPr id="8" name="Content Placeholder 2">
            <a:extLst>
              <a:ext uri="{FF2B5EF4-FFF2-40B4-BE49-F238E27FC236}">
                <a16:creationId xmlns:a16="http://schemas.microsoft.com/office/drawing/2014/main" id="{A10340BB-1728-5DF1-FB26-AB82C2A59960}"/>
              </a:ext>
            </a:extLst>
          </p:cNvPr>
          <p:cNvSpPr txBox="1">
            <a:spLocks/>
          </p:cNvSpPr>
          <p:nvPr/>
        </p:nvSpPr>
        <p:spPr>
          <a:xfrm>
            <a:off x="733425" y="1334278"/>
            <a:ext cx="4566363" cy="46363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High-level adjuster shortages</a:t>
            </a:r>
          </a:p>
          <a:p>
            <a:endParaRPr lang="en-US"/>
          </a:p>
        </p:txBody>
      </p:sp>
      <p:pic>
        <p:nvPicPr>
          <p:cNvPr id="11" name="Graphic 10" descr="Office worker female outline">
            <a:extLst>
              <a:ext uri="{FF2B5EF4-FFF2-40B4-BE49-F238E27FC236}">
                <a16:creationId xmlns:a16="http://schemas.microsoft.com/office/drawing/2014/main" id="{AFEA1BCB-B111-DA83-6AD6-71F9951A9C7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71161" y="2602298"/>
            <a:ext cx="482768" cy="482768"/>
          </a:xfrm>
          <a:prstGeom prst="rect">
            <a:avLst/>
          </a:prstGeom>
        </p:spPr>
      </p:pic>
      <p:sp>
        <p:nvSpPr>
          <p:cNvPr id="16" name="Slide Number Placeholder 15">
            <a:extLst>
              <a:ext uri="{FF2B5EF4-FFF2-40B4-BE49-F238E27FC236}">
                <a16:creationId xmlns:a16="http://schemas.microsoft.com/office/drawing/2014/main" id="{E3FA4AD0-B078-03E0-4EC3-78C5774CCD2F}"/>
              </a:ext>
            </a:extLst>
          </p:cNvPr>
          <p:cNvSpPr>
            <a:spLocks noGrp="1"/>
          </p:cNvSpPr>
          <p:nvPr>
            <p:ph type="sldNum" sz="quarter" idx="12"/>
          </p:nvPr>
        </p:nvSpPr>
        <p:spPr/>
        <p:txBody>
          <a:bodyPr/>
          <a:lstStyle/>
          <a:p>
            <a:fld id="{CC057153-B650-4DEB-B370-79DDCFDCE934}" type="slidenum">
              <a:rPr lang="en-US" smtClean="0"/>
              <a:t>28</a:t>
            </a:fld>
            <a:endParaRPr lang="en-US"/>
          </a:p>
        </p:txBody>
      </p:sp>
    </p:spTree>
    <p:extLst>
      <p:ext uri="{BB962C8B-B14F-4D97-AF65-F5344CB8AC3E}">
        <p14:creationId xmlns:p14="http://schemas.microsoft.com/office/powerpoint/2010/main" val="3764751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2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ppt_w</p:attrName>
                                        </p:attrNameLst>
                                      </p:cBhvr>
                                      <p:tavLst>
                                        <p:tav tm="0">
                                          <p:val>
                                            <p:fltVal val="0"/>
                                          </p:val>
                                        </p:tav>
                                        <p:tav tm="100000">
                                          <p:val>
                                            <p:strVal val="#ppt_w"/>
                                          </p:val>
                                        </p:tav>
                                      </p:tavLst>
                                    </p:anim>
                                    <p:anim calcmode="lin" valueType="num">
                                      <p:cBhvr>
                                        <p:cTn id="30" dur="500" fill="hold"/>
                                        <p:tgtEl>
                                          <p:spTgt spid="4"/>
                                        </p:tgtEl>
                                        <p:attrNameLst>
                                          <p:attrName>ppt_h</p:attrName>
                                        </p:attrNameLst>
                                      </p:cBhvr>
                                      <p:tavLst>
                                        <p:tav tm="0">
                                          <p:val>
                                            <p:fltVal val="0"/>
                                          </p:val>
                                        </p:tav>
                                        <p:tav tm="100000">
                                          <p:val>
                                            <p:strVal val="#ppt_h"/>
                                          </p:val>
                                        </p:tav>
                                      </p:tavLst>
                                    </p:anim>
                                  </p:childTnLst>
                                </p:cTn>
                              </p:par>
                              <p:par>
                                <p:cTn id="31" presetID="23" presetClass="entr" presetSubtype="16"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p:cTn id="33" dur="500" fill="hold"/>
                                        <p:tgtEl>
                                          <p:spTgt spid="5"/>
                                        </p:tgtEl>
                                        <p:attrNameLst>
                                          <p:attrName>ppt_w</p:attrName>
                                        </p:attrNameLst>
                                      </p:cBhvr>
                                      <p:tavLst>
                                        <p:tav tm="0">
                                          <p:val>
                                            <p:fltVal val="0"/>
                                          </p:val>
                                        </p:tav>
                                        <p:tav tm="100000">
                                          <p:val>
                                            <p:strVal val="#ppt_w"/>
                                          </p:val>
                                        </p:tav>
                                      </p:tavLst>
                                    </p:anim>
                                    <p:anim calcmode="lin" valueType="num">
                                      <p:cBhvr>
                                        <p:cTn id="34"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nodeType="clickEffect">
                                  <p:stCondLst>
                                    <p:cond delay="0"/>
                                  </p:stCondLst>
                                  <p:childTnLst>
                                    <p:animMotion origin="layout" path="M 3.75E-6 -7.40741E-7 L 0.05937 0.1581 " pathEditMode="relative" rAng="0" ptsTypes="AA">
                                      <p:cBhvr>
                                        <p:cTn id="38" dur="2000" fill="hold"/>
                                        <p:tgtEl>
                                          <p:spTgt spid="10"/>
                                        </p:tgtEl>
                                        <p:attrNameLst>
                                          <p:attrName>ppt_x</p:attrName>
                                          <p:attrName>ppt_y</p:attrName>
                                        </p:attrNameLst>
                                      </p:cBhvr>
                                      <p:rCtr x="2969" y="7894"/>
                                    </p:animMotion>
                                  </p:childTnLst>
                                </p:cTn>
                              </p:par>
                              <p:par>
                                <p:cTn id="39" presetID="42" presetClass="path" presetSubtype="0" accel="50000" decel="50000" fill="hold" nodeType="withEffect">
                                  <p:stCondLst>
                                    <p:cond delay="0"/>
                                  </p:stCondLst>
                                  <p:childTnLst>
                                    <p:animMotion origin="layout" path="M -2.08333E-6 4.81481E-6 L -0.02799 0.0824 " pathEditMode="relative" rAng="0" ptsTypes="AA">
                                      <p:cBhvr>
                                        <p:cTn id="40" dur="2000" fill="hold"/>
                                        <p:tgtEl>
                                          <p:spTgt spid="14"/>
                                        </p:tgtEl>
                                        <p:attrNameLst>
                                          <p:attrName>ppt_x</p:attrName>
                                          <p:attrName>ppt_y</p:attrName>
                                        </p:attrNameLst>
                                      </p:cBhvr>
                                      <p:rCtr x="-1406" y="4120"/>
                                    </p:animMotion>
                                  </p:childTnLst>
                                </p:cTn>
                              </p:par>
                              <p:par>
                                <p:cTn id="41" presetID="42" presetClass="path" presetSubtype="0" accel="50000" decel="50000" fill="hold" nodeType="withEffect">
                                  <p:stCondLst>
                                    <p:cond delay="0"/>
                                  </p:stCondLst>
                                  <p:childTnLst>
                                    <p:animMotion origin="layout" path="M -4.16667E-7 -7.40741E-7 L 0.09323 -0.03935 " pathEditMode="relative" rAng="0" ptsTypes="AA">
                                      <p:cBhvr>
                                        <p:cTn id="42" dur="2000" fill="hold"/>
                                        <p:tgtEl>
                                          <p:spTgt spid="13"/>
                                        </p:tgtEl>
                                        <p:attrNameLst>
                                          <p:attrName>ppt_x</p:attrName>
                                          <p:attrName>ppt_y</p:attrName>
                                        </p:attrNameLst>
                                      </p:cBhvr>
                                      <p:rCtr x="4661" y="-1968"/>
                                    </p:animMotion>
                                  </p:childTnLst>
                                </p:cTn>
                              </p:par>
                              <p:par>
                                <p:cTn id="43" presetID="42" presetClass="path" presetSubtype="0" accel="50000" decel="50000" fill="hold" nodeType="withEffect">
                                  <p:stCondLst>
                                    <p:cond delay="0"/>
                                  </p:stCondLst>
                                  <p:childTnLst>
                                    <p:animMotion origin="layout" path="M -2.91667E-6 -3.33333E-6 L 0.03229 0.10486 " pathEditMode="relative" rAng="0" ptsTypes="AA">
                                      <p:cBhvr>
                                        <p:cTn id="44" dur="2000" fill="hold"/>
                                        <p:tgtEl>
                                          <p:spTgt spid="12"/>
                                        </p:tgtEl>
                                        <p:attrNameLst>
                                          <p:attrName>ppt_x</p:attrName>
                                          <p:attrName>ppt_y</p:attrName>
                                        </p:attrNameLst>
                                      </p:cBhvr>
                                      <p:rCtr x="1615" y="5231"/>
                                    </p:animMotion>
                                  </p:childTnLst>
                                </p:cTn>
                              </p:par>
                              <p:par>
                                <p:cTn id="45" presetID="42" presetClass="path" presetSubtype="0" accel="50000" decel="50000" fill="hold" nodeType="withEffect">
                                  <p:stCondLst>
                                    <p:cond delay="0"/>
                                  </p:stCondLst>
                                  <p:childTnLst>
                                    <p:animMotion origin="layout" path="M -2.08333E-6 -3.33333E-6 L 0.03125 -3.33333E-6 " pathEditMode="relative" rAng="0" ptsTypes="AA">
                                      <p:cBhvr>
                                        <p:cTn id="46" dur="2000" fill="hold"/>
                                        <p:tgtEl>
                                          <p:spTgt spid="11"/>
                                        </p:tgtEl>
                                        <p:attrNameLst>
                                          <p:attrName>ppt_x</p:attrName>
                                          <p:attrName>ppt_y</p:attrName>
                                        </p:attrNameLst>
                                      </p:cBhvr>
                                      <p:rCtr x="1563" y="0"/>
                                    </p:animMotion>
                                  </p:childTnLst>
                                </p:cTn>
                              </p:par>
                            </p:childTnLst>
                          </p:cTn>
                        </p:par>
                      </p:childTnLst>
                    </p:cTn>
                  </p:par>
                  <p:par>
                    <p:cTn id="47" fill="hold">
                      <p:stCondLst>
                        <p:cond delay="indefinite"/>
                      </p:stCondLst>
                      <p:childTnLst>
                        <p:par>
                          <p:cTn id="48" fill="hold">
                            <p:stCondLst>
                              <p:cond delay="0"/>
                            </p:stCondLst>
                            <p:childTnLst>
                              <p:par>
                                <p:cTn id="49" presetID="42" presetClass="path" presetSubtype="0" accel="50000" decel="50000" fill="hold" nodeType="clickEffect">
                                  <p:stCondLst>
                                    <p:cond delay="0"/>
                                  </p:stCondLst>
                                  <p:childTnLst>
                                    <p:animMotion origin="layout" path="M 0.09323 -0.03935 L -0.12057 0.2463 " pathEditMode="relative" rAng="0" ptsTypes="AA">
                                      <p:cBhvr>
                                        <p:cTn id="50" dur="2000" fill="hold"/>
                                        <p:tgtEl>
                                          <p:spTgt spid="13"/>
                                        </p:tgtEl>
                                        <p:attrNameLst>
                                          <p:attrName>ppt_x</p:attrName>
                                          <p:attrName>ppt_y</p:attrName>
                                        </p:attrNameLst>
                                      </p:cBhvr>
                                      <p:rCtr x="-10690" y="14282"/>
                                    </p:animMotion>
                                  </p:childTnLst>
                                </p:cTn>
                              </p:par>
                              <p:par>
                                <p:cTn id="51" presetID="42" presetClass="path" presetSubtype="0" accel="50000" decel="50000" fill="hold" nodeType="withEffect">
                                  <p:stCondLst>
                                    <p:cond delay="0"/>
                                  </p:stCondLst>
                                  <p:childTnLst>
                                    <p:animMotion origin="layout" path="M -0.02799 0.0824 L -0.14427 0.03935 " pathEditMode="relative" rAng="0" ptsTypes="AA">
                                      <p:cBhvr>
                                        <p:cTn id="52" dur="2000" fill="hold"/>
                                        <p:tgtEl>
                                          <p:spTgt spid="14"/>
                                        </p:tgtEl>
                                        <p:attrNameLst>
                                          <p:attrName>ppt_x</p:attrName>
                                          <p:attrName>ppt_y</p:attrName>
                                        </p:attrNameLst>
                                      </p:cBhvr>
                                      <p:rCtr x="-5820" y="-2153"/>
                                    </p:animMotion>
                                  </p:childTnLst>
                                </p:cTn>
                              </p:par>
                              <p:par>
                                <p:cTn id="53" presetID="42" presetClass="path" presetSubtype="0" accel="50000" decel="50000" fill="hold" nodeType="withEffect">
                                  <p:stCondLst>
                                    <p:cond delay="0"/>
                                  </p:stCondLst>
                                  <p:childTnLst>
                                    <p:animMotion origin="layout" path="M 0.03229 0.10486 L 0.11224 -0.04004 " pathEditMode="relative" rAng="0" ptsTypes="AA">
                                      <p:cBhvr>
                                        <p:cTn id="54" dur="2000" fill="hold"/>
                                        <p:tgtEl>
                                          <p:spTgt spid="12"/>
                                        </p:tgtEl>
                                        <p:attrNameLst>
                                          <p:attrName>ppt_x</p:attrName>
                                          <p:attrName>ppt_y</p:attrName>
                                        </p:attrNameLst>
                                      </p:cBhvr>
                                      <p:rCtr x="3997" y="-7870"/>
                                    </p:animMotion>
                                  </p:childTnLst>
                                </p:cTn>
                              </p:par>
                              <p:par>
                                <p:cTn id="55" presetID="42" presetClass="path" presetSubtype="0" accel="50000" decel="50000" fill="hold" nodeType="withEffect">
                                  <p:stCondLst>
                                    <p:cond delay="0"/>
                                  </p:stCondLst>
                                  <p:childTnLst>
                                    <p:animMotion origin="layout" path="M 0.03125 -3.33333E-6 L -0.14232 0.15996 " pathEditMode="relative" rAng="0" ptsTypes="AA">
                                      <p:cBhvr>
                                        <p:cTn id="56" dur="2000" fill="hold"/>
                                        <p:tgtEl>
                                          <p:spTgt spid="11"/>
                                        </p:tgtEl>
                                        <p:attrNameLst>
                                          <p:attrName>ppt_x</p:attrName>
                                          <p:attrName>ppt_y</p:attrName>
                                        </p:attrNameLst>
                                      </p:cBhvr>
                                      <p:rCtr x="-8685" y="798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1CEA0C-1299-5506-F24F-FC91D02F43B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529CCEF-8CAB-826A-76E9-49B29C5EE939}"/>
              </a:ext>
            </a:extLst>
          </p:cNvPr>
          <p:cNvSpPr>
            <a:spLocks noGrp="1"/>
          </p:cNvSpPr>
          <p:nvPr>
            <p:ph type="title"/>
          </p:nvPr>
        </p:nvSpPr>
        <p:spPr>
          <a:xfrm>
            <a:off x="733096" y="354615"/>
            <a:ext cx="10515600" cy="858365"/>
          </a:xfrm>
        </p:spPr>
        <p:txBody>
          <a:bodyPr/>
          <a:lstStyle/>
          <a:p>
            <a:r>
              <a:rPr lang="en-US" sz="5400"/>
              <a:t>Assumptions</a:t>
            </a:r>
          </a:p>
        </p:txBody>
      </p:sp>
      <p:sp>
        <p:nvSpPr>
          <p:cNvPr id="3" name="Content Placeholder 2">
            <a:extLst>
              <a:ext uri="{FF2B5EF4-FFF2-40B4-BE49-F238E27FC236}">
                <a16:creationId xmlns:a16="http://schemas.microsoft.com/office/drawing/2014/main" id="{4B9D66C6-B91D-8201-BFF5-4C772D8AC8BB}"/>
              </a:ext>
            </a:extLst>
          </p:cNvPr>
          <p:cNvSpPr>
            <a:spLocks noGrp="1"/>
          </p:cNvSpPr>
          <p:nvPr>
            <p:ph sz="quarter" idx="10"/>
          </p:nvPr>
        </p:nvSpPr>
        <p:spPr>
          <a:xfrm>
            <a:off x="733425" y="1334278"/>
            <a:ext cx="4566363" cy="4636310"/>
          </a:xfrm>
        </p:spPr>
        <p:txBody>
          <a:bodyPr/>
          <a:lstStyle/>
          <a:p>
            <a:r>
              <a:rPr lang="en-US"/>
              <a:t>Skill-based match</a:t>
            </a:r>
          </a:p>
          <a:p>
            <a:r>
              <a:rPr lang="en-US"/>
              <a:t>Travel Distance Minimization</a:t>
            </a:r>
          </a:p>
          <a:p>
            <a:r>
              <a:rPr lang="en-US"/>
              <a:t>SLA Deadline Prioritization</a:t>
            </a:r>
          </a:p>
          <a:p>
            <a:r>
              <a:rPr lang="en-US"/>
              <a:t>Employee Retention</a:t>
            </a:r>
          </a:p>
        </p:txBody>
      </p:sp>
      <p:pic>
        <p:nvPicPr>
          <p:cNvPr id="6" name="Picture 5" descr="A white background with grey lines&#10;&#10;AI-generated content may be incorrect.">
            <a:extLst>
              <a:ext uri="{FF2B5EF4-FFF2-40B4-BE49-F238E27FC236}">
                <a16:creationId xmlns:a16="http://schemas.microsoft.com/office/drawing/2014/main" id="{CE3D0B91-E6B6-F269-D46F-E339D2C2E56D}"/>
              </a:ext>
            </a:extLst>
          </p:cNvPr>
          <p:cNvPicPr>
            <a:picLocks noChangeAspect="1"/>
          </p:cNvPicPr>
          <p:nvPr/>
        </p:nvPicPr>
        <p:blipFill>
          <a:blip r:embed="rId2"/>
          <a:stretch>
            <a:fillRect/>
          </a:stretch>
        </p:blipFill>
        <p:spPr>
          <a:xfrm>
            <a:off x="5425864" y="1334278"/>
            <a:ext cx="6354067" cy="3890865"/>
          </a:xfrm>
          <a:prstGeom prst="rect">
            <a:avLst/>
          </a:prstGeom>
        </p:spPr>
      </p:pic>
      <p:sp>
        <p:nvSpPr>
          <p:cNvPr id="4" name="Slide Number Placeholder 3">
            <a:extLst>
              <a:ext uri="{FF2B5EF4-FFF2-40B4-BE49-F238E27FC236}">
                <a16:creationId xmlns:a16="http://schemas.microsoft.com/office/drawing/2014/main" id="{AC00C9E8-B4C9-44B0-2955-61081D123C2C}"/>
              </a:ext>
            </a:extLst>
          </p:cNvPr>
          <p:cNvSpPr>
            <a:spLocks noGrp="1"/>
          </p:cNvSpPr>
          <p:nvPr>
            <p:ph type="sldNum" sz="quarter" idx="13"/>
          </p:nvPr>
        </p:nvSpPr>
        <p:spPr/>
        <p:txBody>
          <a:bodyPr/>
          <a:lstStyle/>
          <a:p>
            <a:fld id="{CC057153-B650-4DEB-B370-79DDCFDCE934}" type="slidenum">
              <a:rPr lang="en-US" smtClean="0"/>
              <a:t>29</a:t>
            </a:fld>
            <a:endParaRPr lang="en-US"/>
          </a:p>
        </p:txBody>
      </p:sp>
    </p:spTree>
    <p:extLst>
      <p:ext uri="{BB962C8B-B14F-4D97-AF65-F5344CB8AC3E}">
        <p14:creationId xmlns:p14="http://schemas.microsoft.com/office/powerpoint/2010/main" val="411834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00FE14-F964-AA63-D33D-AD36DFF5142A}"/>
              </a:ext>
            </a:extLst>
          </p:cNvPr>
          <p:cNvSpPr txBox="1"/>
          <p:nvPr/>
        </p:nvSpPr>
        <p:spPr>
          <a:xfrm>
            <a:off x="791033" y="261731"/>
            <a:ext cx="106099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5400" b="1">
                <a:latin typeface="Arial"/>
                <a:ea typeface="Calibri" panose="020F0502020204030204"/>
                <a:cs typeface="Arial"/>
              </a:rPr>
              <a:t>Model Results</a:t>
            </a:r>
          </a:p>
        </p:txBody>
      </p:sp>
      <p:graphicFrame>
        <p:nvGraphicFramePr>
          <p:cNvPr id="5" name="Table 4">
            <a:extLst>
              <a:ext uri="{FF2B5EF4-FFF2-40B4-BE49-F238E27FC236}">
                <a16:creationId xmlns:a16="http://schemas.microsoft.com/office/drawing/2014/main" id="{B4644926-8062-CA19-7734-8C17A1D29434}"/>
              </a:ext>
            </a:extLst>
          </p:cNvPr>
          <p:cNvGraphicFramePr>
            <a:graphicFrameLocks noGrp="1"/>
          </p:cNvGraphicFramePr>
          <p:nvPr>
            <p:extLst>
              <p:ext uri="{D42A27DB-BD31-4B8C-83A1-F6EECF244321}">
                <p14:modId xmlns:p14="http://schemas.microsoft.com/office/powerpoint/2010/main" val="294708904"/>
              </p:ext>
            </p:extLst>
          </p:nvPr>
        </p:nvGraphicFramePr>
        <p:xfrm>
          <a:off x="838862" y="1975235"/>
          <a:ext cx="10514276" cy="2904816"/>
        </p:xfrm>
        <a:graphic>
          <a:graphicData uri="http://schemas.openxmlformats.org/drawingml/2006/table">
            <a:tbl>
              <a:tblPr bandRow="1">
                <a:tableStyleId>{5C22544A-7EE6-4342-B048-85BDC9FD1C3A}</a:tableStyleId>
              </a:tblPr>
              <a:tblGrid>
                <a:gridCol w="4163171">
                  <a:extLst>
                    <a:ext uri="{9D8B030D-6E8A-4147-A177-3AD203B41FA5}">
                      <a16:colId xmlns:a16="http://schemas.microsoft.com/office/drawing/2014/main" val="1460893386"/>
                    </a:ext>
                  </a:extLst>
                </a:gridCol>
                <a:gridCol w="6351105">
                  <a:extLst>
                    <a:ext uri="{9D8B030D-6E8A-4147-A177-3AD203B41FA5}">
                      <a16:colId xmlns:a16="http://schemas.microsoft.com/office/drawing/2014/main" val="730475045"/>
                    </a:ext>
                  </a:extLst>
                </a:gridCol>
              </a:tblGrid>
              <a:tr h="968272">
                <a:tc>
                  <a:txBody>
                    <a:bodyPr/>
                    <a:lstStyle/>
                    <a:p>
                      <a:pPr algn="ctr" fontAlgn="base">
                        <a:lnSpc>
                          <a:spcPts val="2175"/>
                        </a:lnSpc>
                        <a:buNone/>
                      </a:pPr>
                      <a:r>
                        <a:rPr lang="en-US" sz="2800" b="0">
                          <a:effectLst/>
                          <a:latin typeface="Avenir Medium" panose="02000503020000020003"/>
                          <a:cs typeface="Arial"/>
                        </a:rPr>
                        <a:t>Regulation Compliance</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tc>
                  <a:txBody>
                    <a:bodyPr/>
                    <a:lstStyle/>
                    <a:p>
                      <a:pPr algn="ctr" fontAlgn="base">
                        <a:lnSpc>
                          <a:spcPts val="2175"/>
                        </a:lnSpc>
                        <a:buNone/>
                      </a:pPr>
                      <a:r>
                        <a:rPr lang="en-US" sz="2800" b="0">
                          <a:effectLst/>
                          <a:latin typeface="Avenir Medium" panose="02000503020000020003"/>
                          <a:cs typeface="Arial"/>
                        </a:rPr>
                        <a:t>100% claims solved within compliance threshold (28 days)</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2511000522"/>
                  </a:ext>
                </a:extLst>
              </a:tr>
              <a:tr h="968272">
                <a:tc>
                  <a:txBody>
                    <a:bodyPr/>
                    <a:lstStyle/>
                    <a:p>
                      <a:pPr algn="ctr" fontAlgn="base">
                        <a:lnSpc>
                          <a:spcPts val="2175"/>
                        </a:lnSpc>
                        <a:buNone/>
                      </a:pPr>
                      <a:r>
                        <a:rPr lang="en-US" sz="2800" b="0">
                          <a:effectLst/>
                          <a:latin typeface="Avenir Medium" panose="02000503020000020003"/>
                          <a:cs typeface="Arial"/>
                        </a:rPr>
                        <a:t>Delayed Count </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tc>
                  <a:txBody>
                    <a:bodyPr/>
                    <a:lstStyle/>
                    <a:p>
                      <a:pPr algn="ctr" fontAlgn="base">
                        <a:lnSpc>
                          <a:spcPts val="2175"/>
                        </a:lnSpc>
                        <a:buNone/>
                      </a:pPr>
                      <a:r>
                        <a:rPr lang="en-US" sz="2800" b="0">
                          <a:effectLst/>
                          <a:latin typeface="Avenir Medium" panose="02000503020000020003"/>
                          <a:cs typeface="Arial"/>
                        </a:rPr>
                        <a:t>87% CAT-5 claims solved before the deadline</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188190828"/>
                  </a:ext>
                </a:extLst>
              </a:tr>
              <a:tr h="968272">
                <a:tc>
                  <a:txBody>
                    <a:bodyPr/>
                    <a:lstStyle/>
                    <a:p>
                      <a:pPr lvl="0" algn="ctr">
                        <a:lnSpc>
                          <a:spcPts val="2175"/>
                        </a:lnSpc>
                        <a:buNone/>
                      </a:pPr>
                      <a:r>
                        <a:rPr lang="en-US" sz="2800" b="0">
                          <a:effectLst/>
                          <a:latin typeface="Avenir Medium" panose="02000503020000020003"/>
                          <a:cs typeface="Arial"/>
                        </a:rPr>
                        <a:t>Delayed Time</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tc>
                  <a:txBody>
                    <a:bodyPr/>
                    <a:lstStyle/>
                    <a:p>
                      <a:pPr algn="ctr" fontAlgn="base">
                        <a:lnSpc>
                          <a:spcPts val="2175"/>
                        </a:lnSpc>
                        <a:buNone/>
                      </a:pPr>
                      <a:r>
                        <a:rPr lang="en-US" sz="2800" b="0">
                          <a:effectLst/>
                          <a:latin typeface="Avenir Medium" panose="02000503020000020003"/>
                          <a:cs typeface="Arial"/>
                        </a:rPr>
                        <a:t>1.5 days (by SLA threshold)</a:t>
                      </a:r>
                    </a:p>
                  </a:txBody>
                  <a:tcPr anchor="ctr">
                    <a:lnL w="35243" cap="flat" cmpd="sng" algn="ctr">
                      <a:solidFill>
                        <a:srgbClr val="000000"/>
                      </a:solidFill>
                      <a:prstDash val="solid"/>
                      <a:round/>
                      <a:headEnd type="none" w="med" len="med"/>
                      <a:tailEnd type="none" w="med" len="med"/>
                    </a:lnL>
                    <a:lnR w="35243" cap="flat" cmpd="sng" algn="ctr">
                      <a:solidFill>
                        <a:srgbClr val="000000"/>
                      </a:solidFill>
                      <a:prstDash val="solid"/>
                      <a:round/>
                      <a:headEnd type="none" w="med" len="med"/>
                      <a:tailEnd type="none" w="med" len="med"/>
                    </a:lnR>
                    <a:lnT w="35243" cap="flat" cmpd="sng" algn="ctr">
                      <a:solidFill>
                        <a:srgbClr val="000000"/>
                      </a:solidFill>
                      <a:prstDash val="solid"/>
                      <a:round/>
                      <a:headEnd type="none" w="med" len="med"/>
                      <a:tailEnd type="none" w="med" len="med"/>
                    </a:lnT>
                    <a:lnB w="35243"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829764098"/>
                  </a:ext>
                </a:extLst>
              </a:tr>
            </a:tbl>
          </a:graphicData>
        </a:graphic>
      </p:graphicFrame>
      <p:sp>
        <p:nvSpPr>
          <p:cNvPr id="4" name="Slide Number Placeholder 3">
            <a:extLst>
              <a:ext uri="{FF2B5EF4-FFF2-40B4-BE49-F238E27FC236}">
                <a16:creationId xmlns:a16="http://schemas.microsoft.com/office/drawing/2014/main" id="{0296391D-3897-071B-6F40-686EEF5183FD}"/>
              </a:ext>
            </a:extLst>
          </p:cNvPr>
          <p:cNvSpPr>
            <a:spLocks noGrp="1"/>
          </p:cNvSpPr>
          <p:nvPr>
            <p:ph type="sldNum" sz="quarter" idx="12"/>
          </p:nvPr>
        </p:nvSpPr>
        <p:spPr/>
        <p:txBody>
          <a:bodyPr/>
          <a:lstStyle/>
          <a:p>
            <a:fld id="{CC057153-B650-4DEB-B370-79DDCFDCE934}" type="slidenum">
              <a:rPr lang="en-US" sz="1600" smtClean="0">
                <a:latin typeface="Avenir Medium"/>
              </a:rPr>
              <a:t>30</a:t>
            </a:fld>
            <a:endParaRPr lang="en-US" sz="1600">
              <a:latin typeface="Avenir Medium"/>
            </a:endParaRPr>
          </a:p>
        </p:txBody>
      </p:sp>
    </p:spTree>
    <p:extLst>
      <p:ext uri="{BB962C8B-B14F-4D97-AF65-F5344CB8AC3E}">
        <p14:creationId xmlns:p14="http://schemas.microsoft.com/office/powerpoint/2010/main" val="2795679720"/>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DF2FE6-6E83-99BE-B135-D9229AF50BEC}"/>
              </a:ext>
            </a:extLst>
          </p:cNvPr>
          <p:cNvSpPr>
            <a:spLocks noGrp="1"/>
          </p:cNvSpPr>
          <p:nvPr>
            <p:ph type="body" sz="quarter" idx="11"/>
          </p:nvPr>
        </p:nvSpPr>
        <p:spPr>
          <a:xfrm>
            <a:off x="509667" y="3033866"/>
            <a:ext cx="11452484" cy="553998"/>
          </a:xfrm>
        </p:spPr>
        <p:txBody>
          <a:bodyPr lIns="91440" tIns="45720" rIns="91440" bIns="45720" anchor="t">
            <a:normAutofit fontScale="55000" lnSpcReduction="20000"/>
          </a:bodyPr>
          <a:lstStyle/>
          <a:p>
            <a:r>
              <a:rPr lang="en-US" sz="5400">
                <a:latin typeface="Arial"/>
                <a:cs typeface="Arial"/>
              </a:rPr>
              <a:t>Findings and Recommendations</a:t>
            </a:r>
          </a:p>
        </p:txBody>
      </p:sp>
    </p:spTree>
    <p:extLst>
      <p:ext uri="{BB962C8B-B14F-4D97-AF65-F5344CB8AC3E}">
        <p14:creationId xmlns:p14="http://schemas.microsoft.com/office/powerpoint/2010/main" val="3996604259"/>
      </p:ext>
    </p:extLst>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67f84f8-30f3-4756-95ce-8501dd123950">
      <Terms xmlns="http://schemas.microsoft.com/office/infopath/2007/PartnerControls"/>
    </lcf76f155ced4ddcb4097134ff3c332f>
    <TaxCatchAll xmlns="0636c1f8-d3e6-42ac-85ea-bab4e68efe8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E9561EC43546745A13D062A6DD50340" ma:contentTypeVersion="12" ma:contentTypeDescription="Create a new document." ma:contentTypeScope="" ma:versionID="015ea1d24fbe75e1d0dc25f2b9bde066">
  <xsd:schema xmlns:xsd="http://www.w3.org/2001/XMLSchema" xmlns:xs="http://www.w3.org/2001/XMLSchema" xmlns:p="http://schemas.microsoft.com/office/2006/metadata/properties" xmlns:ns2="367f84f8-30f3-4756-95ce-8501dd123950" xmlns:ns3="0636c1f8-d3e6-42ac-85ea-bab4e68efe88" targetNamespace="http://schemas.microsoft.com/office/2006/metadata/properties" ma:root="true" ma:fieldsID="d7e4ced7e14bf694dce9527797969512" ns2:_="" ns3:_="">
    <xsd:import namespace="367f84f8-30f3-4756-95ce-8501dd123950"/>
    <xsd:import namespace="0636c1f8-d3e6-42ac-85ea-bab4e68efe8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7f84f8-30f3-4756-95ce-8501dd1239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16867a8-d3dd-450c-8722-94d742a2adf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36c1f8-d3e6-42ac-85ea-bab4e68efe8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7a7a352-9688-48e0-9ad2-5d3c12db1748}" ma:internalName="TaxCatchAll" ma:showField="CatchAllData" ma:web="0636c1f8-d3e6-42ac-85ea-bab4e68efe8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CA4CA-9AB4-4BBE-9D0E-F1A8871B34E7}">
  <ds:schemaRefs>
    <ds:schemaRef ds:uri="0636c1f8-d3e6-42ac-85ea-bab4e68efe88"/>
    <ds:schemaRef ds:uri="367f84f8-30f3-4756-95ce-8501dd12395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FE78C9E-261D-4CFF-B22C-7C010E23E74F}">
  <ds:schemaRefs>
    <ds:schemaRef ds:uri="http://schemas.microsoft.com/sharepoint/v3/contenttype/forms"/>
  </ds:schemaRefs>
</ds:datastoreItem>
</file>

<file path=customXml/itemProps3.xml><?xml version="1.0" encoding="utf-8"?>
<ds:datastoreItem xmlns:ds="http://schemas.openxmlformats.org/officeDocument/2006/customXml" ds:itemID="{70EA2DE9-F6CD-4783-9540-394E7E1E4251}">
  <ds:schemaRefs>
    <ds:schemaRef ds:uri="0636c1f8-d3e6-42ac-85ea-bab4e68efe88"/>
    <ds:schemaRef ds:uri="367f84f8-30f3-4756-95ce-8501dd12395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31</Slides>
  <Notes>19</Notes>
  <HiddenSlides>14</HiddenSlide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VanillaVTI</vt:lpstr>
      <vt:lpstr>PowerPoint Presentation</vt:lpstr>
      <vt:lpstr>Storm Troopers</vt:lpstr>
      <vt:lpstr>Current Challenge</vt:lpstr>
      <vt:lpstr>Executive Summary</vt:lpstr>
      <vt:lpstr>Application</vt:lpstr>
      <vt:lpstr>What powers the solution?</vt:lpstr>
      <vt:lpstr>Optimized Travel Routes</vt:lpstr>
      <vt:lpstr>Claim Re-assignments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Web App</vt:lpstr>
      <vt:lpstr>Application</vt:lpstr>
      <vt:lpstr>Objective</vt:lpstr>
      <vt:lpstr>PowerPoint Presentation</vt:lpstr>
      <vt:lpstr>PowerPoint Presentation</vt:lpstr>
      <vt:lpstr>PowerPoint Presentation</vt:lpstr>
      <vt:lpstr>Assumptions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Lindy Taylor</dc:creator>
  <cp:revision>24</cp:revision>
  <dcterms:created xsi:type="dcterms:W3CDTF">2019-08-07T15:31:06Z</dcterms:created>
  <dcterms:modified xsi:type="dcterms:W3CDTF">2026-10-17T18:36:22Z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0x010100DE9561EC43546745A13D062A6DD50340</vt:lpwstr>
  </property>
  <property fmtid="{D5CDD505-2E9C-101B-9397-08002B2CF9AE}" pid="3" name="MediaServiceImageTags">
    <vt:lpwstr/>
  </property>
</Properties>
</file>